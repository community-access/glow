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support@community-access.or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463040"/>
            <a:ext cx="10698480" cy="2011680"/>
          </a:xfrm>
        </p:spPr>
        <p:txBody>
          <a:bodyPr wrap="square"/>
          <a:lstStyle/>
          <a:p>
            <a:r>
              <a:rPr sz="4000" b="1" lang="en-US">
                <a:latin typeface="Arial"/>
              </a:rPr>
              <a:t>Accessibility Agents, after today</a:t>
            </a:r>
          </a:p>
        </p:txBody>
      </p:sp>
      <p:sp>
        <p:nvSpPr>
          <p:cNvPr id="3" name="Subtitle 2"/>
          <p:cNvSpPr>
            <a:spLocks noGrp="1"/>
          </p:cNvSpPr>
          <p:nvPr>
            <p:ph type="subTitle" idx="1"/>
          </p:nvPr>
        </p:nvSpPr>
        <p:spPr>
          <a:xfrm>
            <a:off x="731520" y="3657600"/>
            <a:ext cx="10698480" cy="2194560"/>
          </a:xfrm>
        </p:spPr>
        <p:txBody>
          <a:bodyPr wrap="square"/>
          <a:lstStyle/>
          <a:p>
            <a:r>
              <a:rPr sz="2400" b="0" lang="en-US">
                <a:latin typeface="Arial"/>
              </a:rPr>
              <a:t>What Accessibility Agents is, how to get it, and how to use it with your own agent after the AHG 2026 workshop.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About this document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Accessibility Agents is the open-source project your agent joins at the end of the day. It is a team of 113 accessibility skills, written in the same format as yours, from Community Access: github.com/Community-Access/accessibility-agents.</a:t>
            </a:r>
          </a:p>
          <a:p>
            <a:pPr marL="0" indent="0">
              <a:spcAft>
                <a:spcPts val="600"/>
              </a:spcAft>
              <a:buNone/>
            </a:pPr>
            <a:r>
              <a:rPr sz="2000" b="0" lang="en-US">
                <a:latin typeface="Arial"/>
              </a:rPr>
              <a:t>The office team you ran this afternoon is a small version of it. The full project reviews web pages, Word, Excel, PowerPoint, PDF and ePub files, Markdown, Python and desktop apps, NVDA add-ons and GitHub work, and it cites WCAG 2.2 for every finding.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How it is organized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You talk to six entry points. Each one calls the specialists it needs, so you never have to know all 113.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How it is organized (2 of 2)</a:t>
            </a:r>
          </a:p>
        </p:txBody>
      </p:sp>
      <p:graphicFrame>
        <p:nvGraphicFramePr>
          <p:cNvPr id="3" name="Table 2" descr="Table: How it is organized. Columns: You are working on, Ask for."/>
          <p:cNvGraphicFramePr>
            <a:graphicFrameLocks noGrp="1"/>
          </p:cNvGraphicFramePr>
          <p:nvPr/>
        </p:nvGraphicFramePr>
        <p:xfrm>
          <a:off x="548640" y="1554480"/>
          <a:ext cx="11064240" cy="32004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You are working on</a:t>
                      </a:r>
                    </a:p>
                  </a:txBody>
                  <a:tcPr/>
                </a:tc>
                <a:tc>
                  <a:txBody>
                    <a:bodyPr/>
                    <a:lstStyle/>
                    <a:p>
                      <a:r>
                        <a:rPr sz="1800" b="1" lang="en-US">
                          <a:latin typeface="Arial"/>
                        </a:rPr>
                        <a:t>Ask for</a:t>
                      </a:r>
                    </a:p>
                  </a:txBody>
                  <a:tcPr/>
                </a:tc>
              </a:tr>
              <a:tr h="457200">
                <a:tc>
                  <a:txBody>
                    <a:bodyPr wrap="square"/>
                    <a:lstStyle/>
                    <a:p>
                      <a:r>
                        <a:rPr sz="1800" b="0" lang="en-US">
                          <a:latin typeface="Arial"/>
                        </a:rPr>
                        <a:t>A web page, a form, a template or a component</a:t>
                      </a:r>
                    </a:p>
                  </a:txBody>
                  <a:tcPr/>
                </a:tc>
                <a:tc>
                  <a:txBody>
                    <a:bodyPr wrap="square"/>
                    <a:lstStyle/>
                    <a:p>
                      <a:r>
                        <a:rPr sz="1800" b="0" lang="en-US">
                          <a:latin typeface="Consolas"/>
                        </a:rPr>
                        <a:t>accessibility-lead</a:t>
                      </a:r>
                    </a:p>
                  </a:txBody>
                  <a:tcPr/>
                </a:tc>
              </a:tr>
              <a:tr h="457200">
                <a:tc>
                  <a:txBody>
                    <a:bodyPr wrap="square"/>
                    <a:lstStyle/>
                    <a:p>
                      <a:r>
                        <a:rPr sz="1800" b="0" lang="en-US">
                          <a:latin typeface="Arial"/>
                        </a:rPr>
                        <a:t>A whole site or app, not one change</a:t>
                      </a:r>
                    </a:p>
                  </a:txBody>
                  <a:tcPr/>
                </a:tc>
                <a:tc>
                  <a:txBody>
                    <a:bodyPr wrap="square"/>
                    <a:lstStyle/>
                    <a:p>
                      <a:r>
                        <a:rPr sz="1800" b="0" lang="en-US">
                          <a:latin typeface="Consolas"/>
                        </a:rPr>
                        <a:t>web-accessibility-wizard</a:t>
                      </a:r>
                    </a:p>
                  </a:txBody>
                  <a:tcPr/>
                </a:tc>
              </a:tr>
              <a:tr h="457200">
                <a:tc>
                  <a:txBody>
                    <a:bodyPr wrap="square"/>
                    <a:lstStyle/>
                    <a:p>
                      <a:r>
                        <a:rPr sz="1800" b="0" lang="en-US">
                          <a:latin typeface="Arial"/>
                        </a:rPr>
                        <a:t>Word, Excel, PowerPoint, PDF or ePub files</a:t>
                      </a:r>
                    </a:p>
                  </a:txBody>
                  <a:tcPr/>
                </a:tc>
                <a:tc>
                  <a:txBody>
                    <a:bodyPr wrap="square"/>
                    <a:lstStyle/>
                    <a:p>
                      <a:r>
                        <a:rPr sz="1800" b="0" lang="en-US">
                          <a:latin typeface="Consolas"/>
                        </a:rPr>
                        <a:t>document-accessibility-wizard</a:t>
                      </a:r>
                    </a:p>
                  </a:txBody>
                  <a:tcPr/>
                </a:tc>
              </a:tr>
              <a:tr h="457200">
                <a:tc>
                  <a:txBody>
                    <a:bodyPr wrap="square"/>
                    <a:lstStyle/>
                    <a:p>
                      <a:r>
                        <a:rPr sz="1800" b="0" lang="en-US">
                          <a:latin typeface="Arial"/>
                        </a:rPr>
                        <a:t>Markdown documentation</a:t>
                      </a:r>
                    </a:p>
                  </a:txBody>
                  <a:tcPr/>
                </a:tc>
                <a:tc>
                  <a:txBody>
                    <a:bodyPr wrap="square"/>
                    <a:lstStyle/>
                    <a:p>
                      <a:r>
                        <a:rPr sz="1800" b="0" lang="en-US">
                          <a:latin typeface="Consolas"/>
                        </a:rPr>
                        <a:t>markdown-a11y-assistant</a:t>
                      </a:r>
                    </a:p>
                  </a:txBody>
                  <a:tcPr/>
                </a:tc>
              </a:tr>
              <a:tr h="457200">
                <a:tc>
                  <a:txBody>
                    <a:bodyPr wrap="square"/>
                    <a:lstStyle/>
                    <a:p>
                      <a:r>
                        <a:rPr sz="1800" b="0" lang="en-US">
                          <a:latin typeface="Arial"/>
                        </a:rPr>
                        <a:t>Python, desktop apps, NVDA add-ons, accessibility tools</a:t>
                      </a:r>
                    </a:p>
                  </a:txBody>
                  <a:tcPr/>
                </a:tc>
                <a:tc>
                  <a:txBody>
                    <a:bodyPr wrap="square"/>
                    <a:lstStyle/>
                    <a:p>
                      <a:r>
                        <a:rPr sz="1800" b="0" lang="en-US">
                          <a:latin typeface="Consolas"/>
                        </a:rPr>
                        <a:t>developer-hub</a:t>
                      </a:r>
                    </a:p>
                  </a:txBody>
                  <a:tcPr/>
                </a:tc>
              </a:tr>
              <a:tr h="457200">
                <a:tc>
                  <a:txBody>
                    <a:bodyPr wrap="square"/>
                    <a:lstStyle/>
                    <a:p>
                      <a:r>
                        <a:rPr sz="1800" b="0" lang="en-US">
                          <a:latin typeface="Arial"/>
                        </a:rPr>
                        <a:t>GitHub issues, pull requests, releases and projects</a:t>
                      </a:r>
                    </a:p>
                  </a:txBody>
                  <a:tcPr/>
                </a:tc>
                <a:tc>
                  <a:txBody>
                    <a:bodyPr wrap="square"/>
                    <a:lstStyle/>
                    <a:p>
                      <a:r>
                        <a:rPr sz="1800" b="0" lang="en-US">
                          <a:latin typeface="Consolas"/>
                        </a:rPr>
                        <a:t>github-hub</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it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There are three ways, from no effort to the full version.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it: Already in this kit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This kit carries all 113 Accessibility Agents skills, in </a:t>
            </a:r>
            <a:r>
              <a:rPr sz="2000" b="0" lang="en-US">
                <a:latin typeface="Consolas"/>
              </a:rPr>
              <a:t>.github/skills</a:t>
            </a:r>
            <a:r>
              <a:rPr sz="2000" b="0" lang="en-US">
                <a:latin typeface="Arial"/>
              </a:rPr>
              <a:t>, with the project's MIT licence in </a:t>
            </a:r>
            <a:r>
              <a:rPr sz="2000" b="0" lang="en-US">
                <a:latin typeface="Consolas"/>
              </a:rPr>
              <a:t>accessibility-agents-LICENSE.txt</a:t>
            </a:r>
            <a:r>
              <a:rPr sz="2000" b="0" lang="en-US">
                <a:latin typeface="Arial"/>
              </a:rPr>
              <a:t>. Open the kit in VS Code, on a computer or at vscode.dev, start a new chat, and ask for one of the six entry points by name, for example: use document-accessibility-wizard to review psy101-syllabus.docx, using sample-course/evidence/psy101-syllabus.txt.</a:t>
            </a:r>
          </a:p>
          <a:p>
            <a:pPr marL="0" indent="0">
              <a:spcAft>
                <a:spcPts val="600"/>
              </a:spcAft>
              <a:buNone/>
            </a:pPr>
            <a:r>
              <a:rPr sz="2000" b="0" lang="en-US">
                <a:latin typeface="Arial"/>
              </a:rPr>
              <a:t>The kit cannot carry the project's scanner tools, scripts or hooks, so a few skills work differently here: </a:t>
            </a:r>
            <a:r>
              <a:rPr sz="2000" b="0" lang="en-US">
                <a:latin typeface="Consolas"/>
              </a:rPr>
              <a:t>accessibility-agents-in-the-kit.md</a:t>
            </a:r>
            <a:r>
              <a:rPr sz="2000" b="0" lang="en-US">
                <a:latin typeface="Arial"/>
              </a:rPr>
              <a:t> lists every one and what it does instead. In short, give them your checker's results, the way you gave your own agent evidence today.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it: The full version, in your browser, with one click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GitHub Codespaces opens the whole project, scanners included, in VS Code in your browser, using the GitHub account you made for today.</a:t>
            </a:r>
          </a:p>
          <a:p>
            <a:pPr lvl="1">
              <a:spcAft>
                <a:spcPts val="600"/>
              </a:spcAft>
              <a:buNone/>
            </a:pPr>
            <a:r>
              <a:rPr sz="2000" b="0" lang="en-US">
                <a:latin typeface="Arial"/>
              </a:rPr>
              <a:t>1. </a:t>
            </a:r>
            <a:r>
              <a:rPr sz="2000" b="0" lang="en-US">
                <a:latin typeface="Arial"/>
              </a:rPr>
              <a:t>Go to codespaces.new/Community-Access/accessibility-agents and sign in.</a:t>
            </a:r>
          </a:p>
          <a:p>
            <a:pPr lvl="1">
              <a:spcAft>
                <a:spcPts val="600"/>
              </a:spcAft>
              <a:buNone/>
            </a:pPr>
            <a:r>
              <a:rPr sz="2000" b="0" lang="en-US">
                <a:latin typeface="Arial"/>
              </a:rPr>
              <a:t>2. </a:t>
            </a:r>
            <a:r>
              <a:rPr sz="2000" b="0" lang="en-US">
                <a:latin typeface="Arial"/>
              </a:rPr>
              <a:t>Choose Create codespace. The first start takes a few minutes; later starts are quicker.</a:t>
            </a:r>
          </a:p>
          <a:p>
            <a:pPr lvl="1">
              <a:spcAft>
                <a:spcPts val="600"/>
              </a:spcAft>
              <a:buNone/>
            </a:pPr>
            <a:r>
              <a:rPr sz="2000" b="0" lang="en-US">
                <a:latin typeface="Arial"/>
              </a:rPr>
              <a:t>3. </a:t>
            </a:r>
            <a:r>
              <a:rPr sz="2000" b="0" lang="en-US">
                <a:latin typeface="Arial"/>
              </a:rPr>
              <a:t>Wait for the setup to finish: it installs the project, its scanners and a browser for the web scans, then copies the skills to where Copilot reads them. If VS Code asks whether to start the MCP server named accessibility-agents, choose to start it: that is the scanners.</a:t>
            </a:r>
          </a:p>
          <a:p>
            <a:pPr lvl="1">
              <a:spcAft>
                <a:spcPts val="600"/>
              </a:spcAft>
              <a:buNone/>
            </a:pPr>
            <a:r>
              <a:rPr sz="2000" b="0" lang="en-US">
                <a:latin typeface="Arial"/>
              </a:rPr>
              <a:t>4. </a:t>
            </a:r>
            <a:r>
              <a:rPr sz="2000" b="0" lang="en-US">
                <a:latin typeface="Arial"/>
              </a:rPr>
              <a:t>Open Copilot Chat with Control+Alt+I and ask for an entry point by name, as above. The scanners run for you.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it: The full version, in your browser, with one click (2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Personal GitHub accounts include a monthly allowance of free Codespaces time. Stop the codespace when you finish, from github.com/codespaces, so it does not use your allowance while idle.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it: In your own projects in VS Code, with nothing to install</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VS Code uses any skill in the </a:t>
            </a:r>
            <a:r>
              <a:rPr sz="2000" b="0" lang="en-US">
                <a:latin typeface="Consolas"/>
              </a:rPr>
              <a:t>.github/skills</a:t>
            </a:r>
            <a:r>
              <a:rPr sz="2000" b="0" lang="en-US">
                <a:latin typeface="Arial"/>
              </a:rPr>
              <a:t> folder of the folder you have open. This is how your own agent became </a:t>
            </a:r>
            <a:r>
              <a:rPr sz="2000" b="0" lang="en-US">
                <a:latin typeface="Consolas"/>
              </a:rPr>
              <a:t>/&lt;name&gt;</a:t>
            </a:r>
            <a:r>
              <a:rPr sz="2000" b="0" lang="en-US">
                <a:latin typeface="Arial"/>
              </a:rPr>
              <a:t> today, with </a:t>
            </a:r>
            <a:r>
              <a:rPr sz="2000" b="0" lang="en-US">
                <a:latin typeface="Consolas"/>
              </a:rPr>
              <a:t>/install-my-agent</a:t>
            </a:r>
            <a:r>
              <a:rPr sz="2000" b="0" lang="en-US">
                <a:latin typeface="Arial"/>
              </a:rPr>
              <a:t>.</a:t>
            </a:r>
          </a:p>
          <a:p>
            <a:pPr lvl="1">
              <a:spcAft>
                <a:spcPts val="600"/>
              </a:spcAft>
              <a:buNone/>
            </a:pPr>
            <a:r>
              <a:rPr sz="2000" b="0" lang="en-US">
                <a:latin typeface="Arial"/>
              </a:rPr>
              <a:t>1. </a:t>
            </a:r>
            <a:r>
              <a:rPr sz="2000" b="0" lang="en-US">
                <a:latin typeface="Arial"/>
              </a:rPr>
              <a:t>On github.com/Community-Access/accessibility-agents, choose Code, then Download ZIP, and unzip it.</a:t>
            </a:r>
          </a:p>
          <a:p>
            <a:pPr lvl="1">
              <a:spcAft>
                <a:spcPts val="600"/>
              </a:spcAft>
              <a:buNone/>
            </a:pPr>
            <a:r>
              <a:rPr sz="2000" b="0" lang="en-US">
                <a:latin typeface="Arial"/>
              </a:rPr>
              <a:t>2. </a:t>
            </a:r>
            <a:r>
              <a:rPr sz="2000" b="0" lang="en-US">
                <a:latin typeface="Arial"/>
              </a:rPr>
              <a:t>In the project folder you work in, make a </a:t>
            </a:r>
            <a:r>
              <a:rPr sz="2000" b="0" lang="en-US">
                <a:latin typeface="Consolas"/>
              </a:rPr>
              <a:t>.github/skills</a:t>
            </a:r>
            <a:r>
              <a:rPr sz="2000" b="0" lang="en-US">
                <a:latin typeface="Arial"/>
              </a:rPr>
              <a:t> folder if it does not have one.</a:t>
            </a:r>
          </a:p>
          <a:p>
            <a:pPr lvl="1">
              <a:spcAft>
                <a:spcPts val="600"/>
              </a:spcAft>
              <a:buNone/>
            </a:pPr>
            <a:r>
              <a:rPr sz="2000" b="0" lang="en-US">
                <a:latin typeface="Arial"/>
              </a:rPr>
              <a:t>3. </a:t>
            </a:r>
            <a:r>
              <a:rPr sz="2000" b="0" lang="en-US">
                <a:latin typeface="Arial"/>
              </a:rPr>
              <a:t>Copy every folder from the unzipped </a:t>
            </a:r>
            <a:r>
              <a:rPr sz="2000" b="0" lang="en-US">
                <a:latin typeface="Consolas"/>
              </a:rPr>
              <a:t>skills</a:t>
            </a:r>
            <a:r>
              <a:rPr sz="2000" b="0" lang="en-US">
                <a:latin typeface="Arial"/>
              </a:rPr>
              <a:t> folder into </a:t>
            </a:r>
            <a:r>
              <a:rPr sz="2000" b="0" lang="en-US">
                <a:latin typeface="Consolas"/>
              </a:rPr>
              <a:t>.github/skills</a:t>
            </a:r>
            <a:r>
              <a:rPr sz="2000" b="0" lang="en-US">
                <a:latin typeface="Arial"/>
              </a:rPr>
              <a:t>. Copy all of them: the six entry points call the others by name.</a:t>
            </a:r>
          </a:p>
          <a:p>
            <a:pPr lvl="1">
              <a:spcAft>
                <a:spcPts val="600"/>
              </a:spcAft>
              <a:buNone/>
            </a:pPr>
            <a:r>
              <a:rPr sz="2000" b="0" lang="en-US">
                <a:latin typeface="Arial"/>
              </a:rPr>
              <a:t>4. </a:t>
            </a:r>
            <a:r>
              <a:rPr sz="2000" b="0" lang="en-US">
                <a:latin typeface="Arial"/>
              </a:rPr>
              <a:t>Start a new chat in Copilot Chat and ask for one of the six entry points.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it: With your IT team, on a laptop (1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full install adds the scanners and the review hooks on your own laptop. Each line is one way to install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it: With your IT team, on a laptop (2 of 5)</a:t>
            </a:r>
          </a:p>
        </p:txBody>
      </p:sp>
      <p:graphicFrame>
        <p:nvGraphicFramePr>
          <p:cNvPr id="3" name="Table 2" descr="Table: Getting it: With your IT team, on a laptop. Columns: For, Run."/>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For</a:t>
                      </a:r>
                    </a:p>
                  </a:txBody>
                  <a:tcPr/>
                </a:tc>
                <a:tc>
                  <a:txBody>
                    <a:bodyPr/>
                    <a:lstStyle/>
                    <a:p>
                      <a:r>
                        <a:rPr sz="1800" b="1" lang="en-US">
                          <a:latin typeface="Arial"/>
                        </a:rPr>
                        <a:t>Run</a:t>
                      </a:r>
                    </a:p>
                  </a:txBody>
                  <a:tcPr/>
                </a:tc>
              </a:tr>
              <a:tr h="457200">
                <a:tc>
                  <a:txBody>
                    <a:bodyPr wrap="square"/>
                    <a:lstStyle/>
                    <a:p>
                      <a:r>
                        <a:rPr sz="1800" b="0" lang="en-US">
                          <a:latin typeface="Arial"/>
                        </a:rPr>
                        <a:t>VS Code with Copilot</a:t>
                      </a:r>
                    </a:p>
                  </a:txBody>
                  <a:tcPr/>
                </a:tc>
                <a:tc>
                  <a:txBody>
                    <a:bodyPr wrap="square"/>
                    <a:lstStyle/>
                    <a:p>
                      <a:r>
                        <a:rPr sz="1800" b="0" lang="en-US">
                          <a:latin typeface="Arial"/>
                        </a:rPr>
                        <a:t>Turn on the </a:t>
                      </a:r>
                      <a:r>
                        <a:rPr sz="1800" b="0" lang="en-US">
                          <a:latin typeface="Consolas"/>
                        </a:rPr>
                        <a:t>chat.plugins.enabled</a:t>
                      </a:r>
                      <a:r>
                        <a:rPr sz="1800" b="0" lang="en-US">
                          <a:latin typeface="Arial"/>
                        </a:rPr>
                        <a:t> setting, then run Chat: Install Plugin From Source with </a:t>
                      </a:r>
                      <a:r>
                        <a:rPr sz="1800" b="0" lang="en-US">
                          <a:latin typeface="Consolas"/>
                        </a:rPr>
                        <a:t>https://github.com/Community-Access/accessibility-agents</a:t>
                      </a:r>
                    </a:p>
                  </a:txBody>
                  <a:tcPr/>
                </a:tc>
              </a:tr>
              <a:tr h="457200">
                <a:tc>
                  <a:txBody>
                    <a:bodyPr wrap="square"/>
                    <a:lstStyle/>
                    <a:p>
                      <a:r>
                        <a:rPr sz="1800" b="0" lang="en-US">
                          <a:latin typeface="Arial"/>
                        </a:rPr>
                        <a:t>GitHub Copilot on the command line</a:t>
                      </a:r>
                    </a:p>
                  </a:txBody>
                  <a:tcPr/>
                </a:tc>
                <a:tc>
                  <a:txBody>
                    <a:bodyPr wrap="square"/>
                    <a:lstStyle/>
                    <a:p>
                      <a:r>
                        <a:rPr sz="1800" b="0" lang="en-US">
                          <a:latin typeface="Consolas"/>
                        </a:rPr>
                        <a:t>copilot plugin marketplace add Community-Access/accessibility-agents</a:t>
                      </a:r>
                      <a:r>
                        <a:rPr sz="1800" b="0" lang="en-US">
                          <a:latin typeface="Arial"/>
                        </a:rPr>
                        <a:t>, then </a:t>
                      </a:r>
                      <a:r>
                        <a:rPr sz="1800" b="0" lang="en-US">
                          <a:latin typeface="Consolas"/>
                        </a:rPr>
                        <a:t>copilot plugin install accessibility-agents@community-access</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it: With your IT team, on a laptop (3 of 5)</a:t>
            </a:r>
          </a:p>
        </p:txBody>
      </p:sp>
      <p:graphicFrame>
        <p:nvGraphicFramePr>
          <p:cNvPr id="3" name="Table 2" descr="Table: Getting it: With your IT team, on a laptop. Columns: For, Run."/>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For</a:t>
                      </a:r>
                    </a:p>
                  </a:txBody>
                  <a:tcPr/>
                </a:tc>
                <a:tc>
                  <a:txBody>
                    <a:bodyPr/>
                    <a:lstStyle/>
                    <a:p>
                      <a:r>
                        <a:rPr sz="1800" b="1" lang="en-US">
                          <a:latin typeface="Arial"/>
                        </a:rPr>
                        <a:t>Run</a:t>
                      </a:r>
                    </a:p>
                  </a:txBody>
                  <a:tcPr/>
                </a:tc>
              </a:tr>
              <a:tr h="457200">
                <a:tc>
                  <a:txBody>
                    <a:bodyPr wrap="square"/>
                    <a:lstStyle/>
                    <a:p>
                      <a:r>
                        <a:rPr sz="1800" b="0" lang="en-US">
                          <a:latin typeface="Arial"/>
                        </a:rPr>
                        <a:t>Claude Code</a:t>
                      </a:r>
                    </a:p>
                  </a:txBody>
                  <a:tcPr/>
                </a:tc>
                <a:tc>
                  <a:txBody>
                    <a:bodyPr wrap="square"/>
                    <a:lstStyle/>
                    <a:p>
                      <a:r>
                        <a:rPr sz="1800" b="0" lang="en-US">
                          <a:latin typeface="Consolas"/>
                        </a:rPr>
                        <a:t>/plugin marketplace add Community-Access/accessibility-agents</a:t>
                      </a:r>
                      <a:r>
                        <a:rPr sz="1800" b="0" lang="en-US">
                          <a:latin typeface="Arial"/>
                        </a:rPr>
                        <a:t>, then </a:t>
                      </a:r>
                      <a:r>
                        <a:rPr sz="1800" b="0" lang="en-US">
                          <a:latin typeface="Consolas"/>
                        </a:rPr>
                        <a:t>/plugin install accessibility-agents@community-access</a:t>
                      </a:r>
                    </a:p>
                  </a:txBody>
                  <a:tcPr/>
                </a:tc>
              </a:tr>
              <a:tr h="457200">
                <a:tc>
                  <a:txBody>
                    <a:bodyPr wrap="square"/>
                    <a:lstStyle/>
                    <a:p>
                      <a:r>
                        <a:rPr sz="1800" b="0" lang="en-US">
                          <a:latin typeface="Arial"/>
                        </a:rPr>
                        <a:t>Codex</a:t>
                      </a:r>
                    </a:p>
                  </a:txBody>
                  <a:tcPr/>
                </a:tc>
                <a:tc>
                  <a:txBody>
                    <a:bodyPr wrap="square"/>
                    <a:lstStyle/>
                    <a:p>
                      <a:r>
                        <a:rPr sz="1800" b="0" lang="en-US">
                          <a:latin typeface="Consolas"/>
                        </a:rPr>
                        <a:t>codex plugin marketplace add Community-Access/accessibility-agents</a:t>
                      </a:r>
                      <a:r>
                        <a:rPr sz="1800" b="0" lang="en-US">
                          <a:latin typeface="Arial"/>
                        </a:rPr>
                        <a:t>, then </a:t>
                      </a:r>
                      <a:r>
                        <a:rPr sz="1800" b="0" lang="en-US">
                          <a:latin typeface="Consolas"/>
                        </a:rPr>
                        <a:t>codex plugin add accessibility-agents@community-access</a:t>
                      </a:r>
                    </a:p>
                  </a:txBody>
                  <a:tcPr/>
                </a:tc>
              </a:tr>
              <a:tr h="457200">
                <a:tc>
                  <a:txBody>
                    <a:bodyPr wrap="square"/>
                    <a:lstStyle/>
                    <a:p>
                      <a:r>
                        <a:rPr sz="1800" b="0" lang="en-US">
                          <a:latin typeface="Arial"/>
                        </a:rPr>
                        <a:t>Gemini CLI</a:t>
                      </a:r>
                    </a:p>
                  </a:txBody>
                  <a:tcPr/>
                </a:tc>
                <a:tc>
                  <a:txBody>
                    <a:bodyPr wrap="square"/>
                    <a:lstStyle/>
                    <a:p>
                      <a:r>
                        <a:rPr sz="1800" b="0" lang="en-US">
                          <a:latin typeface="Consolas"/>
                        </a:rPr>
                        <a:t>gemini extensions install https://github.com/Community-Access/accessibility-agents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it: With your IT team, on a laptop (4 of 5)</a:t>
            </a:r>
          </a:p>
        </p:txBody>
      </p:sp>
      <p:graphicFrame>
        <p:nvGraphicFramePr>
          <p:cNvPr id="3" name="Table 2" descr="Table: Getting it: With your IT team, on a laptop. Columns: For, Run."/>
          <p:cNvGraphicFramePr>
            <a:graphicFrameLocks noGrp="1"/>
          </p:cNvGraphicFramePr>
          <p:nvPr/>
        </p:nvGraphicFramePr>
        <p:xfrm>
          <a:off x="548640" y="1554480"/>
          <a:ext cx="11064240" cy="9144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For</a:t>
                      </a:r>
                    </a:p>
                  </a:txBody>
                  <a:tcPr/>
                </a:tc>
                <a:tc>
                  <a:txBody>
                    <a:bodyPr/>
                    <a:lstStyle/>
                    <a:p>
                      <a:r>
                        <a:rPr sz="1800" b="1" lang="en-US">
                          <a:latin typeface="Arial"/>
                        </a:rPr>
                        <a:t>Run</a:t>
                      </a:r>
                    </a:p>
                  </a:txBody>
                  <a:tcPr/>
                </a:tc>
              </a:tr>
              <a:tr h="457200">
                <a:tc>
                  <a:txBody>
                    <a:bodyPr wrap="square"/>
                    <a:lstStyle/>
                    <a:p>
                      <a:r>
                        <a:rPr sz="1800" b="0" lang="en-US">
                          <a:latin typeface="Arial"/>
                        </a:rPr>
                        <a:t>Every AI tool on the laptop</a:t>
                      </a:r>
                    </a:p>
                  </a:txBody>
                  <a:tcPr/>
                </a:tc>
                <a:tc>
                  <a:txBody>
                    <a:bodyPr wrap="square"/>
                    <a:lstStyle/>
                    <a:p>
                      <a:r>
                        <a:rPr sz="1800" b="0" lang="en-US">
                          <a:latin typeface="Arial"/>
                        </a:rPr>
                        <a:t>In a copy of the repository: </a:t>
                      </a:r>
                      <a:r>
                        <a:rPr sz="1800" b="0" lang="en-US">
                          <a:latin typeface="Consolas"/>
                        </a:rPr>
                        <a:t>npm install</a:t>
                      </a:r>
                      <a:r>
                        <a:rPr sz="1800" b="0" lang="en-US">
                          <a:latin typeface="Arial"/>
                        </a:rPr>
                        <a:t>, then </a:t>
                      </a:r>
                      <a:r>
                        <a:rPr sz="1800" b="0" lang="en-US">
                          <a:latin typeface="Consolas"/>
                        </a:rPr>
                        <a:t>npm run setup</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it: With your IT team, on a laptop (5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Step-by-step setup for each app, written for people new to all of this, is at community-access.org/start.html. The VS Code extension in the repository is retired; use one of the ways above instead.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it: In ChatGPT, Claude or another assistant in a browser</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On letitglow.app/ahg/assistant, under "Accessibility Agents in any assistant", copy the text for the entry point you want and paste it as your first message. Each text carries the entry point and the specialists it calls. Then give it your checker's results.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Using it with your own agent</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rPr>
              <a:t>Keep your agent beside the others: put it in </a:t>
            </a:r>
            <a:r>
              <a:rPr sz="2000" b="0" lang="en-US">
                <a:latin typeface="Consolas"/>
              </a:rPr>
              <a:t>.github/skills/&lt;name&gt;/</a:t>
            </a:r>
            <a:r>
              <a:rPr sz="2000" b="0" lang="en-US">
                <a:latin typeface="Arial"/>
              </a:rPr>
              <a:t>, next to the Accessibility Agents folders. It is the same format, so it works the same way.</a:t>
            </a:r>
          </a:p>
          <a:p>
            <a:pPr lvl="1">
              <a:spcAft>
                <a:spcPts val="600"/>
              </a:spcAft>
            </a:pPr>
            <a:r>
              <a:rPr sz="2000" b="0" lang="en-US">
                <a:latin typeface="Arial"/>
              </a:rPr>
              <a:t>Revise it the way you did today: try it, read where it guessed, change one thing. The principles are in </a:t>
            </a:r>
            <a:r>
              <a:rPr sz="2000" b="0" lang="en-US">
                <a:latin typeface="Consolas"/>
              </a:rPr>
              <a:t>agent-file-principles.md</a:t>
            </a:r>
            <a:r>
              <a:rPr sz="2000" b="0" lang="en-US">
                <a:latin typeface="Arial"/>
              </a:rPr>
              <a:t> in this kit.</a:t>
            </a:r>
          </a:p>
          <a:p>
            <a:pPr lvl="1">
              <a:spcAft>
                <a:spcPts val="600"/>
              </a:spcAft>
            </a:pPr>
            <a:r>
              <a:rPr sz="2000" b="0" lang="en-US">
                <a:latin typeface="Arial"/>
              </a:rPr>
              <a:t>Your shared agent is in the AHG 2026 collection, and goes into Accessibility Agents in </a:t>
            </a:r>
            <a:r>
              <a:rPr sz="2000" b="0" lang="en-US">
                <a:latin typeface="Consolas"/>
              </a:rPr>
              <a:t>community/ahg-2026/</a:t>
            </a:r>
            <a:r>
              <a:rPr sz="2000" b="0" lang="en-US">
                <a:latin typeface="Arial"/>
              </a:rPr>
              <a:t> with your name on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Getting help, and helping</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rPr>
              <a:t>Questions about the workshop: </a:t>
            </a:r>
            <a:r>
              <a:rPr sz="2000" b="0" lang="en-US">
                <a:latin typeface="Arial"/>
                <a:hlinkClick r:id="rId2"/>
              </a:rPr>
              <a:t>support@community-access.org</a:t>
            </a:r>
            <a:r>
              <a:rPr sz="2000" b="0" lang="en-US">
                <a:latin typeface="Arial"/>
              </a:rPr>
              <a:t>.</a:t>
            </a:r>
          </a:p>
          <a:p>
            <a:pPr lvl="1">
              <a:spcAft>
                <a:spcPts val="600"/>
              </a:spcAft>
            </a:pPr>
            <a:r>
              <a:rPr sz="2000" b="0" lang="en-US">
                <a:latin typeface="Arial"/>
              </a:rPr>
              <a:t>A rule an agent gets wrong, or a pattern it should catch: open an issue on github.com/Community-Access/accessibility-agents.</a:t>
            </a:r>
          </a:p>
          <a:p>
            <a:pPr lvl="1">
              <a:spcAft>
                <a:spcPts val="600"/>
              </a:spcAft>
            </a:pPr>
            <a:r>
              <a:rPr sz="2000" b="0" lang="en-US">
                <a:latin typeface="Arial"/>
              </a:rPr>
              <a:t>The two rules still apply: nothing private goes into any AI, and a person reviews everything an agent writes.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Accessibility Agents, after today</dc:title>
  <dc:subject>What Accessibility Agents is, how to get it, and how to use it with your own agent after the AHG 2026 workshop.</dc:subject>
  <dc:creator>Jeff Bishop, BITS</dc:creator>
  <cp:keywords/>
  <dc:description>generated using python-pptx</dc:description>
  <cp:lastModifiedBy>Jeff Bishop, BITS</cp:lastModifiedBy>
  <cp:revision>1</cp:revision>
  <dcterms:created xsi:type="dcterms:W3CDTF">2026-10-01T12:00:00Z</dcterms:created>
  <dcterms:modified xsi:type="dcterms:W3CDTF">2026-10-01T12:00:00Z</dcterms:modified>
  <cp:category/>
  <dc:language>en-US</dc:language>
</cp:coreProperties>
</file>