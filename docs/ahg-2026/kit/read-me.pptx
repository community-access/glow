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support@community-access.or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ode.visualstudio.com/docs/configure/accessibility/accessibility" TargetMode="External"/><Relationship Id="rId3" Type="http://schemas.openxmlformats.org/officeDocument/2006/relationships/hyperlink" Target="https://code.visualstudio.com/docs/copilot/reference/copilot-vscode-features" TargetMode="External"/><Relationship Id="rId4" Type="http://schemas.openxmlformats.org/officeDocument/2006/relationships/hyperlink" Target="https://code.visualstudio.com/docs/copilot/reference/copilot-settings" TargetMode="External"/><Relationship Id="rId5" Type="http://schemas.openxmlformats.org/officeDocument/2006/relationships/hyperlink" Target="https://code.visualstudio.com/docs/setup/vscode-web" TargetMode="External"/><Relationship Id="rId6" Type="http://schemas.openxmlformats.org/officeDocument/2006/relationships/hyperlink" Target="https://code.visualstudio.com/docs/copilot/customization/agent-skill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463040"/>
            <a:ext cx="10698480" cy="2011680"/>
          </a:xfrm>
        </p:spPr>
        <p:txBody>
          <a:bodyPr wrap="square"/>
          <a:lstStyle/>
          <a:p>
            <a:r>
              <a:rPr sz="4000" b="1" lang="en-US">
                <a:latin typeface="Arial"/>
              </a:rPr>
              <a:t>Welcome to the AHG 2026 agent kit</a:t>
            </a:r>
          </a:p>
        </p:txBody>
      </p:sp>
      <p:sp>
        <p:nvSpPr>
          <p:cNvPr id="3" name="Subtitle 2"/>
          <p:cNvSpPr>
            <a:spLocks noGrp="1"/>
          </p:cNvSpPr>
          <p:nvPr>
            <p:ph type="subTitle" idx="1"/>
          </p:nvPr>
        </p:nvSpPr>
        <p:spPr>
          <a:xfrm>
            <a:off x="731520" y="3657600"/>
            <a:ext cx="10698480" cy="2194560"/>
          </a:xfrm>
        </p:spPr>
        <p:txBody>
          <a:bodyPr wrap="square"/>
          <a:lstStyle/>
          <a:p>
            <a:r>
              <a:rPr sz="2400" b="0" lang="en-US">
                <a:latin typeface="Arial"/>
              </a:rPr>
              <a:t>Welcome page for the AHG 2026 agent kit.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About this document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You are in the right place. This page opens by itself when you open the kit in VS Code. Nothing here needs code, and nothing here can break.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Three paths into the same day</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Every path gives you the same agent, the same team report and the same share on GitHub. letitglow.app/ahg/paths compares them.</a:t>
            </a:r>
          </a:p>
          <a:p>
            <a:pPr lvl="1">
              <a:spcAft>
                <a:spcPts val="600"/>
              </a:spcAft>
            </a:pPr>
            <a:r>
              <a:rPr sz="2000" b="0" lang="en-US">
                <a:latin typeface="Arial"/>
              </a:rPr>
              <a:t>In a browser: no kit needed. Open letitglow.app/ahg/assistant, copy each block's text, and paste it into ChatGPT, Copilot on github.com, Claude, Gemini or your campus assistant. The same texts are in this kit, in </a:t>
            </a:r>
            <a:r>
              <a:rPr sz="2000" b="0" lang="en-US">
                <a:latin typeface="Consolas"/>
              </a:rPr>
              <a:t>any-assistant/</a:t>
            </a:r>
            <a:r>
              <a:rPr sz="2000" b="0" lang="en-US">
                <a:latin typeface="Arial"/>
              </a:rPr>
              <a:t>.</a:t>
            </a:r>
          </a:p>
          <a:p>
            <a:pPr lvl="1">
              <a:spcAft>
                <a:spcPts val="600"/>
              </a:spcAft>
            </a:pPr>
            <a:r>
              <a:rPr sz="2000" b="0" lang="en-US">
                <a:latin typeface="Arial"/>
              </a:rPr>
              <a:t>In VS Code on your computer: you are probably reading this there. Each block is one command in Copilot Chat.</a:t>
            </a:r>
          </a:p>
          <a:p>
            <a:pPr lvl="1">
              <a:spcAft>
                <a:spcPts val="600"/>
              </a:spcAft>
            </a:pPr>
            <a:r>
              <a:rPr sz="2000" b="0" lang="en-US">
                <a:latin typeface="Arial"/>
              </a:rPr>
              <a:t>In VS Code for the Web: the same, at vscode.dev in Chrome or Edge, with this folder opened from your laptop.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Start here, in VS Code</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1. </a:t>
            </a:r>
            <a:r>
              <a:rPr sz="2000" b="0" lang="en-US">
                <a:latin typeface="Arial"/>
              </a:rPr>
              <a:t>Open Copilot Chat: Control+Alt+I on Windows, or Control+Command+I on a Mac.</a:t>
            </a:r>
          </a:p>
          <a:p>
            <a:pPr lvl="1">
              <a:spcAft>
                <a:spcPts val="600"/>
              </a:spcAft>
              <a:buNone/>
            </a:pPr>
            <a:r>
              <a:rPr sz="2000" b="0" lang="en-US">
                <a:latin typeface="Arial"/>
              </a:rPr>
              <a:t>2. </a:t>
            </a:r>
            <a:r>
              <a:rPr sz="2000" b="0" lang="en-US">
                <a:latin typeface="Arial"/>
              </a:rPr>
              <a:t>Type /ready-check and press Enter. Copilot checks six things and tells you that you are ready.</a:t>
            </a:r>
          </a:p>
          <a:p>
            <a:pPr marL="0" indent="0">
              <a:spcAft>
                <a:spcPts val="600"/>
              </a:spcAft>
              <a:buNone/>
            </a:pPr>
            <a:r>
              <a:rPr sz="2000" b="0" lang="en-US">
                <a:latin typeface="Arial"/>
              </a:rPr>
              <a:t>If a banner says Restricted Mode, choose Manage, then Trust first. It is the workshop kit, and Copilot cannot work on its files until you trust it.</a:t>
            </a:r>
          </a:p>
          <a:p>
            <a:pPr marL="0" indent="0">
              <a:spcAft>
                <a:spcPts val="600"/>
              </a:spcAft>
              <a:buNone/>
            </a:pPr>
            <a:r>
              <a:rPr sz="2000" b="0" lang="en-US">
                <a:latin typeface="Arial"/>
              </a:rPr>
              <a:t>Every block of the day has its own command, listed below, and its own step card in the step-cards folder.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day, one command per block (1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Each command is typed into Copilot Chat. On the browser path, the same block is one text on letitglow.app/ahg/assistant. The step card for each block has every key and every expected result in words.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day, one command per block (2 of 4)</a:t>
            </a:r>
          </a:p>
        </p:txBody>
      </p:sp>
      <p:graphicFrame>
        <p:nvGraphicFramePr>
          <p:cNvPr id="3" name="Table 2" descr="Table: The day, one command per block. Columns: Block, Time, Command, What you get."/>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457200">
                <a:tc>
                  <a:txBody>
                    <a:bodyPr/>
                    <a:lstStyle/>
                    <a:p>
                      <a:r>
                        <a:rPr sz="1800" b="1" lang="en-US">
                          <a:latin typeface="Arial"/>
                        </a:rPr>
                        <a:t>Block</a:t>
                      </a:r>
                    </a:p>
                  </a:txBody>
                  <a:tcPr/>
                </a:tc>
                <a:tc>
                  <a:txBody>
                    <a:bodyPr/>
                    <a:lstStyle/>
                    <a:p>
                      <a:r>
                        <a:rPr sz="1800" b="1" lang="en-US">
                          <a:latin typeface="Arial"/>
                        </a:rPr>
                        <a:t>Time</a:t>
                      </a:r>
                    </a:p>
                  </a:txBody>
                  <a:tcPr/>
                </a:tc>
                <a:tc>
                  <a:txBody>
                    <a:bodyPr/>
                    <a:lstStyle/>
                    <a:p>
                      <a:r>
                        <a:rPr sz="1800" b="1" lang="en-US">
                          <a:latin typeface="Arial"/>
                        </a:rPr>
                        <a:t>Command</a:t>
                      </a:r>
                    </a:p>
                  </a:txBody>
                  <a:tcPr/>
                </a:tc>
                <a:tc>
                  <a:txBody>
                    <a:bodyPr/>
                    <a:lstStyle/>
                    <a:p>
                      <a:r>
                        <a:rPr sz="1800" b="1" lang="en-US">
                          <a:latin typeface="Arial"/>
                        </a:rPr>
                        <a:t>What you get</a:t>
                      </a:r>
                    </a:p>
                  </a:txBody>
                  <a:tcPr/>
                </a:tc>
              </a:tr>
              <a:tr h="457200">
                <a:tc>
                  <a:txBody>
                    <a:bodyPr wrap="square"/>
                    <a:lstStyle/>
                    <a:p>
                      <a:r>
                        <a:rPr sz="1800" b="0" lang="en-US">
                          <a:latin typeface="Arial"/>
                        </a:rPr>
                        <a:t>1. Why we are here</a:t>
                      </a:r>
                    </a:p>
                  </a:txBody>
                  <a:tcPr/>
                </a:tc>
                <a:tc>
                  <a:txBody>
                    <a:bodyPr wrap="square"/>
                    <a:lstStyle/>
                    <a:p>
                      <a:r>
                        <a:rPr sz="1800" b="0" lang="en-US">
                          <a:latin typeface="Arial"/>
                        </a:rPr>
                        <a:t>10:30</a:t>
                      </a:r>
                    </a:p>
                  </a:txBody>
                  <a:tcPr/>
                </a:tc>
                <a:tc>
                  <a:txBody>
                    <a:bodyPr wrap="square"/>
                    <a:lstStyle/>
                    <a:p>
                      <a:r>
                        <a:rPr sz="1800" b="0" lang="en-US">
                          <a:latin typeface="Arial"/>
                        </a:rPr>
                        <a:t>/ready-check</a:t>
                      </a:r>
                    </a:p>
                  </a:txBody>
                  <a:tcPr/>
                </a:tc>
                <a:tc>
                  <a:txBody>
                    <a:bodyPr wrap="square"/>
                    <a:lstStyle/>
                    <a:p>
                      <a:r>
                        <a:rPr sz="1800" b="0" lang="en-US">
                          <a:latin typeface="Arial"/>
                        </a:rPr>
                        <a:t>A ready laptop</a:t>
                      </a:r>
                    </a:p>
                  </a:txBody>
                  <a:tcPr/>
                </a:tc>
              </a:tr>
              <a:tr h="457200">
                <a:tc>
                  <a:txBody>
                    <a:bodyPr wrap="square"/>
                    <a:lstStyle/>
                    <a:p>
                      <a:r>
                        <a:rPr sz="1800" b="0" lang="en-US">
                          <a:latin typeface="Arial"/>
                        </a:rPr>
                        <a:t>2. Design your agent</a:t>
                      </a:r>
                    </a:p>
                  </a:txBody>
                  <a:tcPr/>
                </a:tc>
                <a:tc>
                  <a:txBody>
                    <a:bodyPr wrap="square"/>
                    <a:lstStyle/>
                    <a:p>
                      <a:r>
                        <a:rPr sz="1800" b="0" lang="en-US">
                          <a:latin typeface="Arial"/>
                        </a:rPr>
                        <a:t>10:50</a:t>
                      </a:r>
                    </a:p>
                  </a:txBody>
                  <a:tcPr/>
                </a:tc>
                <a:tc>
                  <a:txBody>
                    <a:bodyPr wrap="square"/>
                    <a:lstStyle/>
                    <a:p>
                      <a:r>
                        <a:rPr sz="1800" b="0" lang="en-US">
                          <a:latin typeface="Arial"/>
                        </a:rPr>
                        <a:t>/design-my-agent</a:t>
                      </a:r>
                    </a:p>
                  </a:txBody>
                  <a:tcPr/>
                </a:tc>
                <a:tc>
                  <a:txBody>
                    <a:bodyPr wrap="square"/>
                    <a:lstStyle/>
                    <a:p>
                      <a:r>
                        <a:rPr sz="1800" b="0" lang="en-US">
                          <a:latin typeface="Arial"/>
                        </a:rPr>
                        <a:t>Your own agent, in </a:t>
                      </a:r>
                      <a:r>
                        <a:rPr sz="1800" b="0" lang="en-US">
                          <a:latin typeface="Consolas"/>
                        </a:rPr>
                        <a:t>my-agent/SKILL.md</a:t>
                      </a:r>
                      <a:r>
                        <a:rPr sz="1800" b="0" lang="en-US">
                          <a:latin typeface="Arial"/>
                        </a:rPr>
                        <a:t>: version 1</a:t>
                      </a:r>
                    </a:p>
                  </a:txBody>
                  <a:tcPr/>
                </a:tc>
              </a:tr>
              <a:tr h="457200">
                <a:tc>
                  <a:txBody>
                    <a:bodyPr wrap="square"/>
                    <a:lstStyle/>
                    <a:p>
                      <a:r>
                        <a:rPr sz="1800" b="0" lang="en-US">
                          <a:latin typeface="Arial"/>
                        </a:rPr>
                        <a:t>3. Your agent at work</a:t>
                      </a:r>
                    </a:p>
                  </a:txBody>
                  <a:tcPr/>
                </a:tc>
                <a:tc>
                  <a:txBody>
                    <a:bodyPr wrap="square"/>
                    <a:lstStyle/>
                    <a:p>
                      <a:r>
                        <a:rPr sz="1800" b="0" lang="en-US">
                          <a:latin typeface="Arial"/>
                        </a:rPr>
                        <a:t>11:40</a:t>
                      </a:r>
                    </a:p>
                  </a:txBody>
                  <a:tcPr/>
                </a:tc>
                <a:tc>
                  <a:txBody>
                    <a:bodyPr wrap="square"/>
                    <a:lstStyle/>
                    <a:p>
                      <a:r>
                        <a:rPr sz="1800" b="0" lang="en-US">
                          <a:latin typeface="Arial"/>
                        </a:rPr>
                        <a:t>/try-my-agent, then /review-my-agent</a:t>
                      </a:r>
                    </a:p>
                  </a:txBody>
                  <a:tcPr/>
                </a:tc>
                <a:tc>
                  <a:txBody>
                    <a:bodyPr wrap="square"/>
                    <a:lstStyle/>
                    <a:p>
                      <a:r>
                        <a:rPr sz="1800" b="0" lang="en-US">
                          <a:latin typeface="Arial"/>
                        </a:rPr>
                        <a:t>Its first answer on a course document, and version 2</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day, one command per block (3 of 4)</a:t>
            </a:r>
          </a:p>
        </p:txBody>
      </p:sp>
      <p:graphicFrame>
        <p:nvGraphicFramePr>
          <p:cNvPr id="3" name="Table 2" descr="Table: The day, one command per block. Columns: Block, Time, Command, What you get."/>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457200">
                <a:tc>
                  <a:txBody>
                    <a:bodyPr/>
                    <a:lstStyle/>
                    <a:p>
                      <a:r>
                        <a:rPr sz="1800" b="1" lang="en-US">
                          <a:latin typeface="Arial"/>
                        </a:rPr>
                        <a:t>Block</a:t>
                      </a:r>
                    </a:p>
                  </a:txBody>
                  <a:tcPr/>
                </a:tc>
                <a:tc>
                  <a:txBody>
                    <a:bodyPr/>
                    <a:lstStyle/>
                    <a:p>
                      <a:r>
                        <a:rPr sz="1800" b="1" lang="en-US">
                          <a:latin typeface="Arial"/>
                        </a:rPr>
                        <a:t>Time</a:t>
                      </a:r>
                    </a:p>
                  </a:txBody>
                  <a:tcPr/>
                </a:tc>
                <a:tc>
                  <a:txBody>
                    <a:bodyPr/>
                    <a:lstStyle/>
                    <a:p>
                      <a:r>
                        <a:rPr sz="1800" b="1" lang="en-US">
                          <a:latin typeface="Arial"/>
                        </a:rPr>
                        <a:t>Command</a:t>
                      </a:r>
                    </a:p>
                  </a:txBody>
                  <a:tcPr/>
                </a:tc>
                <a:tc>
                  <a:txBody>
                    <a:bodyPr/>
                    <a:lstStyle/>
                    <a:p>
                      <a:r>
                        <a:rPr sz="1800" b="1" lang="en-US">
                          <a:latin typeface="Arial"/>
                        </a:rPr>
                        <a:t>What you get</a:t>
                      </a:r>
                    </a:p>
                  </a:txBody>
                  <a:tcPr/>
                </a:tc>
              </a:tr>
              <a:tr h="457200">
                <a:tc>
                  <a:txBody>
                    <a:bodyPr wrap="square"/>
                    <a:lstStyle/>
                    <a:p>
                      <a:r>
                        <a:rPr sz="1800" b="0" lang="en-US">
                          <a:latin typeface="Arial"/>
                        </a:rPr>
                        <a:t>4. Ground it</a:t>
                      </a:r>
                    </a:p>
                  </a:txBody>
                  <a:tcPr/>
                </a:tc>
                <a:tc>
                  <a:txBody>
                    <a:bodyPr wrap="square"/>
                    <a:lstStyle/>
                    <a:p>
                      <a:r>
                        <a:rPr sz="1800" b="0" lang="en-US">
                          <a:latin typeface="Arial"/>
                        </a:rPr>
                        <a:t>1:15</a:t>
                      </a:r>
                    </a:p>
                  </a:txBody>
                  <a:tcPr/>
                </a:tc>
                <a:tc>
                  <a:txBody>
                    <a:bodyPr wrap="square"/>
                    <a:lstStyle/>
                    <a:p>
                      <a:r>
                        <a:rPr sz="1800" b="0" lang="en-US">
                          <a:latin typeface="Arial"/>
                        </a:rPr>
                        <a:t>/ground-my-agent, then /review-my-agent</a:t>
                      </a:r>
                    </a:p>
                  </a:txBody>
                  <a:tcPr/>
                </a:tc>
                <a:tc>
                  <a:txBody>
                    <a:bodyPr wrap="square"/>
                    <a:lstStyle/>
                    <a:p>
                      <a:r>
                        <a:rPr sz="1800" b="0" lang="en-US">
                          <a:latin typeface="Arial"/>
                        </a:rPr>
                        <a:t>Cited answers from real evidence, and version 3</a:t>
                      </a:r>
                    </a:p>
                  </a:txBody>
                  <a:tcPr/>
                </a:tc>
              </a:tr>
              <a:tr h="457200">
                <a:tc>
                  <a:txBody>
                    <a:bodyPr wrap="square"/>
                    <a:lstStyle/>
                    <a:p>
                      <a:r>
                        <a:rPr sz="1800" b="0" lang="en-US">
                          <a:latin typeface="Arial"/>
                        </a:rPr>
                        <a:t>5. Build the office</a:t>
                      </a:r>
                    </a:p>
                  </a:txBody>
                  <a:tcPr/>
                </a:tc>
                <a:tc>
                  <a:txBody>
                    <a:bodyPr wrap="square"/>
                    <a:lstStyle/>
                    <a:p>
                      <a:r>
                        <a:rPr sz="1800" b="0" lang="en-US">
                          <a:latin typeface="Arial"/>
                        </a:rPr>
                        <a:t>2:15</a:t>
                      </a:r>
                    </a:p>
                  </a:txBody>
                  <a:tcPr/>
                </a:tc>
                <a:tc>
                  <a:txBody>
                    <a:bodyPr wrap="square"/>
                    <a:lstStyle/>
                    <a:p>
                      <a:r>
                        <a:rPr sz="1800" b="0" lang="en-US">
                          <a:latin typeface="Arial"/>
                        </a:rPr>
                        <a:t>/run-the-office, then /review-my-agent</a:t>
                      </a:r>
                    </a:p>
                  </a:txBody>
                  <a:tcPr/>
                </a:tc>
                <a:tc>
                  <a:txBody>
                    <a:bodyPr wrap="square"/>
                    <a:lstStyle/>
                    <a:p>
                      <a:r>
                        <a:rPr sz="1800" b="0" lang="en-US">
                          <a:latin typeface="Arial"/>
                        </a:rPr>
                        <a:t>Your agent in a team, across the whole course, and version 4</a:t>
                      </a:r>
                    </a:p>
                  </a:txBody>
                  <a:tcPr/>
                </a:tc>
              </a:tr>
              <a:tr h="457200">
                <a:tc>
                  <a:txBody>
                    <a:bodyPr wrap="square"/>
                    <a:lstStyle/>
                    <a:p>
                      <a:r>
                        <a:rPr sz="1800" b="0" lang="en-US">
                          <a:latin typeface="Arial"/>
                        </a:rPr>
                        <a:t>6. Share it</a:t>
                      </a:r>
                    </a:p>
                  </a:txBody>
                  <a:tcPr/>
                </a:tc>
                <a:tc>
                  <a:txBody>
                    <a:bodyPr wrap="square"/>
                    <a:lstStyle/>
                    <a:p>
                      <a:r>
                        <a:rPr sz="1800" b="0" lang="en-US">
                          <a:latin typeface="Arial"/>
                        </a:rPr>
                        <a:t>3:05</a:t>
                      </a:r>
                    </a:p>
                  </a:txBody>
                  <a:tcPr/>
                </a:tc>
                <a:tc>
                  <a:txBody>
                    <a:bodyPr wrap="square"/>
                    <a:lstStyle/>
                    <a:p>
                      <a:r>
                        <a:rPr sz="1800" b="0" lang="en-US">
                          <a:latin typeface="Arial"/>
                        </a:rPr>
                        <a:t>letitglow.app/ahg/share</a:t>
                      </a:r>
                    </a:p>
                  </a:txBody>
                  <a:tcPr/>
                </a:tc>
                <a:tc>
                  <a:txBody>
                    <a:bodyPr wrap="square"/>
                    <a:lstStyle/>
                    <a:p>
                      <a:r>
                        <a:rPr sz="1800" b="0" lang="en-US">
                          <a:latin typeface="Arial"/>
                        </a:rPr>
                        <a:t>Your best version in the collection, in your name</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day, one command per block (4 of 4)</a:t>
            </a:r>
          </a:p>
        </p:txBody>
      </p:sp>
      <p:graphicFrame>
        <p:nvGraphicFramePr>
          <p:cNvPr id="3" name="Table 2" descr="Table: The day, one command per block. Columns: Block, Time, Command, What you get."/>
          <p:cNvGraphicFramePr>
            <a:graphicFrameLocks noGrp="1"/>
          </p:cNvGraphicFramePr>
          <p:nvPr/>
        </p:nvGraphicFramePr>
        <p:xfrm>
          <a:off x="548640" y="1554480"/>
          <a:ext cx="11064240" cy="914400"/>
        </p:xfrm>
        <a:graphic>
          <a:graphicData uri="http://schemas.openxmlformats.org/drawingml/2006/table">
            <a:tbl>
              <a:tblPr firstRow="1" bandRow="1">
                <a:tableStyleId>{5C22544A-7EE6-4342-B048-85BDC9FD1C3A}</a:tableStyleId>
              </a:tblPr>
              <a:tblGrid>
                <a:gridCol w="2766060"/>
                <a:gridCol w="2766060"/>
                <a:gridCol w="2766060"/>
                <a:gridCol w="2766060"/>
              </a:tblGrid>
              <a:tr h="457200">
                <a:tc>
                  <a:txBody>
                    <a:bodyPr/>
                    <a:lstStyle/>
                    <a:p>
                      <a:r>
                        <a:rPr sz="1800" b="1" lang="en-US">
                          <a:latin typeface="Arial"/>
                        </a:rPr>
                        <a:t>Block</a:t>
                      </a:r>
                    </a:p>
                  </a:txBody>
                  <a:tcPr/>
                </a:tc>
                <a:tc>
                  <a:txBody>
                    <a:bodyPr/>
                    <a:lstStyle/>
                    <a:p>
                      <a:r>
                        <a:rPr sz="1800" b="1" lang="en-US">
                          <a:latin typeface="Arial"/>
                        </a:rPr>
                        <a:t>Time</a:t>
                      </a:r>
                    </a:p>
                  </a:txBody>
                  <a:tcPr/>
                </a:tc>
                <a:tc>
                  <a:txBody>
                    <a:bodyPr/>
                    <a:lstStyle/>
                    <a:p>
                      <a:r>
                        <a:rPr sz="1800" b="1" lang="en-US">
                          <a:latin typeface="Arial"/>
                        </a:rPr>
                        <a:t>Command</a:t>
                      </a:r>
                    </a:p>
                  </a:txBody>
                  <a:tcPr/>
                </a:tc>
                <a:tc>
                  <a:txBody>
                    <a:bodyPr/>
                    <a:lstStyle/>
                    <a:p>
                      <a:r>
                        <a:rPr sz="1800" b="1" lang="en-US">
                          <a:latin typeface="Arial"/>
                        </a:rPr>
                        <a:t>What you get</a:t>
                      </a:r>
                    </a:p>
                  </a:txBody>
                  <a:tcPr/>
                </a:tc>
              </a:tr>
              <a:tr h="457200">
                <a:tc>
                  <a:txBody>
                    <a:bodyPr wrap="square"/>
                    <a:lstStyle/>
                    <a:p>
                      <a:r>
                        <a:rPr sz="1800" b="0" lang="en-US">
                          <a:latin typeface="Arial"/>
                        </a:rPr>
                        <a:t>7. Take it home</a:t>
                      </a:r>
                    </a:p>
                  </a:txBody>
                  <a:tcPr/>
                </a:tc>
                <a:tc>
                  <a:txBody>
                    <a:bodyPr wrap="square"/>
                    <a:lstStyle/>
                    <a:p>
                      <a:r>
                        <a:rPr sz="1800" b="0" lang="en-US">
                          <a:latin typeface="Arial"/>
                        </a:rPr>
                        <a:t>3:40</a:t>
                      </a:r>
                    </a:p>
                  </a:txBody>
                  <a:tcPr/>
                </a:tc>
                <a:tc>
                  <a:txBody>
                    <a:bodyPr wrap="square"/>
                    <a:lstStyle/>
                    <a:p>
                      <a:r>
                        <a:rPr sz="1800" b="0" lang="en-US">
                          <a:latin typeface="Arial"/>
                        </a:rPr>
                        <a:t>/my-30-day-plan</a:t>
                      </a:r>
                    </a:p>
                  </a:txBody>
                  <a:tcPr/>
                </a:tc>
                <a:tc>
                  <a:txBody>
                    <a:bodyPr wrap="square"/>
                    <a:lstStyle/>
                    <a:p>
                      <a:r>
                        <a:rPr sz="1800" b="0" lang="en-US">
                          <a:latin typeface="Arial"/>
                        </a:rPr>
                        <a:t>A 30-day plan for your campus</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is in this folder (1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This list follows the folders in the Explorer, top to bottom.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is in this folder (2 of 6)</a:t>
            </a:r>
          </a:p>
        </p:txBody>
      </p:sp>
      <p:graphicFrame>
        <p:nvGraphicFramePr>
          <p:cNvPr id="3" name="Table 2" descr="Table: What is in this folder. Columns: Folder or file, What it is."/>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Folder or file</a:t>
                      </a:r>
                    </a:p>
                  </a:txBody>
                  <a:tcPr/>
                </a:tc>
                <a:tc>
                  <a:txBody>
                    <a:bodyPr/>
                    <a:lstStyle/>
                    <a:p>
                      <a:r>
                        <a:rPr sz="1800" b="1" lang="en-US">
                          <a:latin typeface="Arial"/>
                        </a:rPr>
                        <a:t>What it is</a:t>
                      </a:r>
                    </a:p>
                  </a:txBody>
                  <a:tcPr/>
                </a:tc>
              </a:tr>
              <a:tr h="457200">
                <a:tc>
                  <a:txBody>
                    <a:bodyPr wrap="square"/>
                    <a:lstStyle/>
                    <a:p>
                      <a:r>
                        <a:rPr sz="1800" b="0" lang="en-US">
                          <a:latin typeface="Consolas"/>
                        </a:rPr>
                        <a:t>.github/</a:t>
                      </a:r>
                    </a:p>
                  </a:txBody>
                  <a:tcPr/>
                </a:tc>
                <a:tc>
                  <a:txBody>
                    <a:bodyPr wrap="square"/>
                    <a:lstStyle/>
                    <a:p>
                      <a:r>
                        <a:rPr sz="1800" b="0" lang="en-US">
                          <a:latin typeface="Arial"/>
                        </a:rPr>
                        <a:t>The commands above, as agent skills in </a:t>
                      </a:r>
                      <a:r>
                        <a:rPr sz="1800" b="0" lang="en-US">
                          <a:latin typeface="Consolas"/>
                        </a:rPr>
                        <a:t>skills/</a:t>
                      </a:r>
                      <a:r>
                        <a:rPr sz="1800" b="0" lang="en-US">
                          <a:latin typeface="Arial"/>
                        </a:rPr>
                        <a:t>, beside all 113 Accessibility Agents skills; the office coordinator in </a:t>
                      </a:r>
                      <a:r>
                        <a:rPr sz="1800" b="0" lang="en-US">
                          <a:latin typeface="Consolas"/>
                        </a:rPr>
                        <a:t>agents/</a:t>
                      </a:r>
                      <a:r>
                        <a:rPr sz="1800" b="0" lang="en-US">
                          <a:latin typeface="Arial"/>
                        </a:rPr>
                        <a:t>; and the workshop's rules for Copilot. You do not need to open it</a:t>
                      </a:r>
                    </a:p>
                  </a:txBody>
                  <a:tcPr/>
                </a:tc>
              </a:tr>
              <a:tr h="457200">
                <a:tc>
                  <a:txBody>
                    <a:bodyPr wrap="square"/>
                    <a:lstStyle/>
                    <a:p>
                      <a:r>
                        <a:rPr sz="1800" b="0" lang="en-US">
                          <a:latin typeface="Consolas"/>
                        </a:rPr>
                        <a:t>.vscode/</a:t>
                      </a:r>
                    </a:p>
                  </a:txBody>
                  <a:tcPr/>
                </a:tc>
                <a:tc>
                  <a:txBody>
                    <a:bodyPr wrap="square"/>
                    <a:lstStyle/>
                    <a:p>
                      <a:r>
                        <a:rPr sz="1800" b="0" lang="en-US">
                          <a:latin typeface="Arial"/>
                        </a:rPr>
                        <a:t>Settings for larger text and screen readers. You do not need to open it</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is in this folder (3 of 6)</a:t>
            </a:r>
          </a:p>
        </p:txBody>
      </p:sp>
      <p:graphicFrame>
        <p:nvGraphicFramePr>
          <p:cNvPr id="3" name="Table 2" descr="Table: What is in this folder. Columns: Folder or file, What it is."/>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Folder or file</a:t>
                      </a:r>
                    </a:p>
                  </a:txBody>
                  <a:tcPr/>
                </a:tc>
                <a:tc>
                  <a:txBody>
                    <a:bodyPr/>
                    <a:lstStyle/>
                    <a:p>
                      <a:r>
                        <a:rPr sz="1800" b="1" lang="en-US">
                          <a:latin typeface="Arial"/>
                        </a:rPr>
                        <a:t>What it is</a:t>
                      </a:r>
                    </a:p>
                  </a:txBody>
                  <a:tcPr/>
                </a:tc>
              </a:tr>
              <a:tr h="457200">
                <a:tc>
                  <a:txBody>
                    <a:bodyPr wrap="square"/>
                    <a:lstStyle/>
                    <a:p>
                      <a:r>
                        <a:rPr sz="1800" b="0" lang="en-US">
                          <a:latin typeface="Consolas"/>
                        </a:rPr>
                        <a:t>any-assistant/</a:t>
                      </a:r>
                    </a:p>
                  </a:txBody>
                  <a:tcPr/>
                </a:tc>
                <a:tc>
                  <a:txBody>
                    <a:bodyPr wrap="square"/>
                    <a:lstStyle/>
                    <a:p>
                      <a:r>
                        <a:rPr sz="1800" b="0" lang="en-US">
                          <a:latin typeface="Arial"/>
                        </a:rPr>
                        <a:t>One text per block for the browser path, to paste into any AI assistant; the review text; and four Accessibility Agents texts, </a:t>
                      </a:r>
                      <a:r>
                        <a:rPr sz="1800" b="0" lang="en-US">
                          <a:latin typeface="Consolas"/>
                        </a:rPr>
                        <a:t>aa-*.txt</a:t>
                      </a:r>
                    </a:p>
                  </a:txBody>
                  <a:tcPr/>
                </a:tc>
              </a:tr>
              <a:tr h="457200">
                <a:tc>
                  <a:txBody>
                    <a:bodyPr wrap="square"/>
                    <a:lstStyle/>
                    <a:p>
                      <a:r>
                        <a:rPr sz="1800" b="0" lang="en-US">
                          <a:latin typeface="Consolas"/>
                        </a:rPr>
                        <a:t>examples/</a:t>
                      </a:r>
                    </a:p>
                  </a:txBody>
                  <a:tcPr/>
                </a:tc>
                <a:tc>
                  <a:txBody>
                    <a:bodyPr wrap="square"/>
                    <a:lstStyle/>
                    <a:p>
                      <a:r>
                        <a:rPr sz="1800" b="0" lang="en-US">
                          <a:latin typeface="Arial"/>
                        </a:rPr>
                        <a:t>Finished work for every step. Maria, Jordan and Sam's stories, and six ready-made agents in </a:t>
                      </a:r>
                      <a:r>
                        <a:rPr sz="1800" b="0" lang="en-US">
                          <a:latin typeface="Consolas"/>
                        </a:rPr>
                        <a:t>examples/agents/</a:t>
                      </a:r>
                    </a:p>
                  </a:txBody>
                  <a:tcPr/>
                </a:tc>
              </a:tr>
              <a:tr h="457200">
                <a:tc>
                  <a:txBody>
                    <a:bodyPr wrap="square"/>
                    <a:lstStyle/>
                    <a:p>
                      <a:r>
                        <a:rPr sz="1800" b="0" lang="en-US">
                          <a:latin typeface="Consolas"/>
                        </a:rPr>
                        <a:t>my-agent/SKILL.md</a:t>
                      </a:r>
                    </a:p>
                  </a:txBody>
                  <a:tcPr/>
                </a:tc>
                <a:tc>
                  <a:txBody>
                    <a:bodyPr wrap="square"/>
                    <a:lstStyle/>
                    <a:p>
                      <a:r>
                        <a:rPr sz="1800" b="0" lang="en-US">
                          <a:latin typeface="Arial"/>
                        </a:rPr>
                        <a:t>Your agent. Seven headings: Role, Task, Trusted guidance, Output format, Example, Human review, Never</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is in this folder (4 of 6)</a:t>
            </a:r>
          </a:p>
        </p:txBody>
      </p:sp>
      <p:graphicFrame>
        <p:nvGraphicFramePr>
          <p:cNvPr id="3" name="Table 2" descr="Table: What is in this folder. Columns: Folder or file, What it i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Folder or file</a:t>
                      </a:r>
                    </a:p>
                  </a:txBody>
                  <a:tcPr/>
                </a:tc>
                <a:tc>
                  <a:txBody>
                    <a:bodyPr/>
                    <a:lstStyle/>
                    <a:p>
                      <a:r>
                        <a:rPr sz="1800" b="1" lang="en-US">
                          <a:latin typeface="Arial"/>
                        </a:rPr>
                        <a:t>What it is</a:t>
                      </a:r>
                    </a:p>
                  </a:txBody>
                  <a:tcPr/>
                </a:tc>
              </a:tr>
              <a:tr h="457200">
                <a:tc>
                  <a:txBody>
                    <a:bodyPr wrap="square"/>
                    <a:lstStyle/>
                    <a:p>
                      <a:r>
                        <a:rPr sz="1800" b="0" lang="en-US">
                          <a:latin typeface="Consolas"/>
                        </a:rPr>
                        <a:t>office-team/</a:t>
                      </a:r>
                    </a:p>
                  </a:txBody>
                  <a:tcPr/>
                </a:tc>
                <a:tc>
                  <a:txBody>
                    <a:bodyPr wrap="square"/>
                    <a:lstStyle/>
                    <a:p>
                      <a:r>
                        <a:rPr sz="1800" b="0" lang="en-US">
                          <a:latin typeface="Arial"/>
                        </a:rPr>
                        <a:t>The accessibility office: eight specialists your agent joins this afternoon</a:t>
                      </a:r>
                    </a:p>
                  </a:txBody>
                  <a:tcPr/>
                </a:tc>
              </a:tr>
              <a:tr h="457200">
                <a:tc>
                  <a:txBody>
                    <a:bodyPr wrap="square"/>
                    <a:lstStyle/>
                    <a:p>
                      <a:r>
                        <a:rPr sz="1800" b="0" lang="en-US">
                          <a:latin typeface="Consolas"/>
                        </a:rPr>
                        <a:t>sample-course/</a:t>
                      </a:r>
                    </a:p>
                  </a:txBody>
                  <a:tcPr/>
                </a:tc>
                <a:tc>
                  <a:txBody>
                    <a:bodyPr wrap="square"/>
                    <a:lstStyle/>
                    <a:p>
                      <a:r>
                        <a:rPr sz="1800" b="0" lang="en-US">
                          <a:latin typeface="Arial"/>
                        </a:rPr>
                        <a:t>PSY 101, the course everyone works on, with barriers planted on purpose, and </a:t>
                      </a:r>
                      <a:r>
                        <a:rPr sz="1800" b="0" lang="en-US">
                          <a:latin typeface="Consolas"/>
                        </a:rPr>
                        <a:t>evidence/</a:t>
                      </a:r>
                      <a:r>
                        <a:rPr sz="1800" b="0" lang="en-US">
                          <a:latin typeface="Arial"/>
                        </a:rPr>
                        <a:t> with each file's checker report</a:t>
                      </a:r>
                    </a:p>
                  </a:txBody>
                  <a:tcPr/>
                </a:tc>
              </a:tr>
              <a:tr h="457200">
                <a:tc>
                  <a:txBody>
                    <a:bodyPr wrap="square"/>
                    <a:lstStyle/>
                    <a:p>
                      <a:r>
                        <a:rPr sz="1800" b="0" lang="en-US">
                          <a:latin typeface="Consolas"/>
                        </a:rPr>
                        <a:t>step-cards/</a:t>
                      </a:r>
                    </a:p>
                  </a:txBody>
                  <a:tcPr/>
                </a:tc>
                <a:tc>
                  <a:txBody>
                    <a:bodyPr wrap="square"/>
                    <a:lstStyle/>
                    <a:p>
                      <a:r>
                        <a:rPr sz="1800" b="0" lang="en-US">
                          <a:latin typeface="Arial"/>
                        </a:rPr>
                        <a:t>One card per block, each as Markdown, HTML, a large print Word file and a reading deck</a:t>
                      </a:r>
                    </a:p>
                  </a:txBody>
                  <a:tcPr/>
                </a:tc>
              </a:tr>
              <a:tr h="457200">
                <a:tc>
                  <a:txBody>
                    <a:bodyPr wrap="square"/>
                    <a:lstStyle/>
                    <a:p>
                      <a:r>
                        <a:rPr sz="1800" b="0" lang="en-US">
                          <a:latin typeface="Consolas"/>
                        </a:rPr>
                        <a:t>share-my-agent.html</a:t>
                      </a:r>
                    </a:p>
                  </a:txBody>
                  <a:tcPr/>
                </a:tc>
                <a:tc>
                  <a:txBody>
                    <a:bodyPr wrap="square"/>
                    <a:lstStyle/>
                    <a:p>
                      <a:r>
                        <a:rPr sz="1800" b="0" lang="en-US">
                          <a:latin typeface="Arial"/>
                        </a:rPr>
                        <a:t>The offline copy of the share page</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is in this folder (5 of 6)</a:t>
            </a:r>
          </a:p>
        </p:txBody>
      </p:sp>
      <p:graphicFrame>
        <p:nvGraphicFramePr>
          <p:cNvPr id="3" name="Table 2" descr="Table: What is in this folder. Columns: Folder or file, What it i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Folder or file</a:t>
                      </a:r>
                    </a:p>
                  </a:txBody>
                  <a:tcPr/>
                </a:tc>
                <a:tc>
                  <a:txBody>
                    <a:bodyPr/>
                    <a:lstStyle/>
                    <a:p>
                      <a:r>
                        <a:rPr sz="1800" b="1" lang="en-US">
                          <a:latin typeface="Arial"/>
                        </a:rPr>
                        <a:t>What it is</a:t>
                      </a:r>
                    </a:p>
                  </a:txBody>
                  <a:tcPr/>
                </a:tc>
              </a:tr>
              <a:tr h="457200">
                <a:tc>
                  <a:txBody>
                    <a:bodyPr wrap="square"/>
                    <a:lstStyle/>
                    <a:p>
                      <a:r>
                        <a:rPr sz="1800" b="0" lang="en-US">
                          <a:latin typeface="Consolas"/>
                        </a:rPr>
                        <a:t>ahg-2026.code-profile</a:t>
                      </a:r>
                    </a:p>
                  </a:txBody>
                  <a:tcPr/>
                </a:tc>
                <a:tc>
                  <a:txBody>
                    <a:bodyPr wrap="square"/>
                    <a:lstStyle/>
                    <a:p>
                      <a:r>
                        <a:rPr sz="1800" b="0" lang="en-US">
                          <a:latin typeface="Arial"/>
                        </a:rPr>
                        <a:t>The AHG 2026 VS Code profile, if you need to import it again</a:t>
                      </a:r>
                    </a:p>
                  </a:txBody>
                  <a:tcPr/>
                </a:tc>
              </a:tr>
              <a:tr h="457200">
                <a:tc>
                  <a:txBody>
                    <a:bodyPr wrap="square"/>
                    <a:lstStyle/>
                    <a:p>
                      <a:r>
                        <a:rPr sz="1800" b="0" lang="en-US">
                          <a:latin typeface="Consolas"/>
                        </a:rPr>
                        <a:t>accessibility-agents.md</a:t>
                      </a:r>
                    </a:p>
                  </a:txBody>
                  <a:tcPr/>
                </a:tc>
                <a:tc>
                  <a:txBody>
                    <a:bodyPr wrap="square"/>
                    <a:lstStyle/>
                    <a:p>
                      <a:r>
                        <a:rPr sz="1800" b="0" lang="en-US">
                          <a:latin typeface="Arial"/>
                        </a:rPr>
                        <a:t>Accessibility Agents after today: the six entry points, and how to keep using it</a:t>
                      </a:r>
                    </a:p>
                  </a:txBody>
                  <a:tcPr/>
                </a:tc>
              </a:tr>
              <a:tr h="457200">
                <a:tc>
                  <a:txBody>
                    <a:bodyPr wrap="square"/>
                    <a:lstStyle/>
                    <a:p>
                      <a:r>
                        <a:rPr sz="1800" b="0" lang="en-US">
                          <a:latin typeface="Consolas"/>
                        </a:rPr>
                        <a:t>accessibility-agents-in-the-kit.md</a:t>
                      </a:r>
                    </a:p>
                  </a:txBody>
                  <a:tcPr/>
                </a:tc>
                <a:tc>
                  <a:txBody>
                    <a:bodyPr wrap="square"/>
                    <a:lstStyle/>
                    <a:p>
                      <a:r>
                        <a:rPr sz="1800" b="0" lang="en-US">
                          <a:latin typeface="Arial"/>
                        </a:rPr>
                        <a:t>Which Accessibility Agents skills work fully in this kit, and what the rest do instead</a:t>
                      </a:r>
                    </a:p>
                  </a:txBody>
                  <a:tcPr/>
                </a:tc>
              </a:tr>
              <a:tr h="457200">
                <a:tc>
                  <a:txBody>
                    <a:bodyPr wrap="square"/>
                    <a:lstStyle/>
                    <a:p>
                      <a:r>
                        <a:rPr sz="1800" b="0" lang="en-US">
                          <a:latin typeface="Consolas"/>
                        </a:rPr>
                        <a:t>accessibility-agents-LICENSE.txt</a:t>
                      </a:r>
                    </a:p>
                  </a:txBody>
                  <a:tcPr/>
                </a:tc>
                <a:tc>
                  <a:txBody>
                    <a:bodyPr wrap="square"/>
                    <a:lstStyle/>
                    <a:p>
                      <a:r>
                        <a:rPr sz="1800" b="0" lang="en-US">
                          <a:latin typeface="Arial"/>
                        </a:rPr>
                        <a:t>Accessibility Agents' MIT licence, which travels with its skills</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is in this folder (6 of 6)</a:t>
            </a:r>
          </a:p>
        </p:txBody>
      </p:sp>
      <p:graphicFrame>
        <p:nvGraphicFramePr>
          <p:cNvPr id="3" name="Table 2" descr="Table: What is in this folder. Columns: Folder or file, What it is."/>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Folder or file</a:t>
                      </a:r>
                    </a:p>
                  </a:txBody>
                  <a:tcPr/>
                </a:tc>
                <a:tc>
                  <a:txBody>
                    <a:bodyPr/>
                    <a:lstStyle/>
                    <a:p>
                      <a:r>
                        <a:rPr sz="1800" b="1" lang="en-US">
                          <a:latin typeface="Arial"/>
                        </a:rPr>
                        <a:t>What it is</a:t>
                      </a:r>
                    </a:p>
                  </a:txBody>
                  <a:tcPr/>
                </a:tc>
              </a:tr>
              <a:tr h="457200">
                <a:tc>
                  <a:txBody>
                    <a:bodyPr wrap="square"/>
                    <a:lstStyle/>
                    <a:p>
                      <a:r>
                        <a:rPr sz="1800" b="0" lang="en-US">
                          <a:latin typeface="Consolas"/>
                        </a:rPr>
                        <a:t>agent-file-principles.md</a:t>
                      </a:r>
                    </a:p>
                  </a:txBody>
                  <a:tcPr/>
                </a:tc>
                <a:tc>
                  <a:txBody>
                    <a:bodyPr wrap="square"/>
                    <a:lstStyle/>
                    <a:p>
                      <a:r>
                        <a:rPr sz="1800" b="0" lang="en-US">
                          <a:latin typeface="Arial"/>
                        </a:rPr>
                        <a:t>What makes a good agent file, and the twelve review questions /review-my-agent uses</a:t>
                      </a:r>
                    </a:p>
                  </a:txBody>
                  <a:tcPr/>
                </a:tc>
              </a:tr>
              <a:tr h="457200">
                <a:tc>
                  <a:txBody>
                    <a:bodyPr wrap="square"/>
                    <a:lstStyle/>
                    <a:p>
                      <a:r>
                        <a:rPr sz="1800" b="0" lang="en-US">
                          <a:latin typeface="Consolas"/>
                        </a:rPr>
                        <a:t>glossary.md</a:t>
                      </a:r>
                    </a:p>
                  </a:txBody>
                  <a:tcPr/>
                </a:tc>
                <a:tc>
                  <a:txBody>
                    <a:bodyPr wrap="square"/>
                    <a:lstStyle/>
                    <a:p>
                      <a:r>
                        <a:rPr sz="1800" b="0" lang="en-US">
                          <a:latin typeface="Arial"/>
                        </a:rPr>
                        <a:t>The words used today, one line each</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You cannot fall behind</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Every step has a finished version in </a:t>
            </a:r>
            <a:r>
              <a:rPr sz="2000" b="0" lang="en-US">
                <a:latin typeface="Consolas"/>
              </a:rPr>
              <a:t>examples/</a:t>
            </a:r>
            <a:r>
              <a:rPr sz="2000" b="0" lang="en-US">
                <a:latin typeface="Arial"/>
              </a:rPr>
              <a:t>. If anything goes wrong, start from one of the six ready-made agents in </a:t>
            </a:r>
            <a:r>
              <a:rPr sz="2000" b="0" lang="en-US">
                <a:latin typeface="Consolas"/>
              </a:rPr>
              <a:t>examples/agents/</a:t>
            </a:r>
            <a:r>
              <a:rPr sz="2000" b="0" lang="en-US">
                <a:latin typeface="Arial"/>
              </a:rPr>
              <a:t>, put your name on it, and carry on. That is still your agent, and it still goes into the open-source project with your name on it. If VS Code gives you trouble, switch to the browser path and carry on from the same block.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If you use a screen reader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Everything today works with NVDA, JAWS and VoiceOver, on every path.</a:t>
            </a:r>
          </a:p>
          <a:p>
            <a:pPr lvl="1">
              <a:spcAft>
                <a:spcPts val="600"/>
              </a:spcAft>
            </a:pPr>
            <a:r>
              <a:rPr sz="2000" b="0" lang="en-US">
                <a:latin typeface="Arial"/>
              </a:rPr>
              <a:t>In VS Code, Copilot's answers are long. Move to the answer and press Alt+F2 (Option+F2 on a Mac) to read it as plain text in the Accessible View. Inside it, Control+Alt+Page Down and Control+Alt+Page Up move between code blocks.</a:t>
            </a:r>
          </a:p>
          <a:p>
            <a:pPr lvl="1">
              <a:spcAft>
                <a:spcPts val="600"/>
              </a:spcAft>
            </a:pPr>
            <a:r>
              <a:rPr sz="2000" b="0" lang="en-US">
                <a:latin typeface="Arial"/>
              </a:rPr>
              <a:t>VS Code plays a sound when an answer arrives, and another when Copilot needs you to approve something, such as saving your agent file. Help: List Signal Sounds turns them on or off.</a:t>
            </a:r>
          </a:p>
          <a:p>
            <a:pPr lvl="1">
              <a:spcAft>
                <a:spcPts val="600"/>
              </a:spcAft>
            </a:pPr>
            <a:r>
              <a:rPr sz="2000" b="0" lang="en-US">
                <a:latin typeface="Arial"/>
              </a:rPr>
              <a:t>Alt+F1 (Option+F1) in the chat box opens accessibility help for chat. F6 moves between the parts of the window.</a:t>
            </a:r>
          </a:p>
          <a:p>
            <a:pPr lvl="1">
              <a:spcAft>
                <a:spcPts val="600"/>
              </a:spcAft>
            </a:pPr>
            <a:r>
              <a:rPr sz="2000" b="0" lang="en-US">
                <a:latin typeface="Arial"/>
              </a:rPr>
              <a:t>On the browser path, every block's text at letitglow.app/ahg/assistant has a Copy button. A message under the button says it is copied.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If you use a screen reader (2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rPr>
              <a:t>On GitHub's share form, everything is filled in for you. Move to the end of the form, select the check box that says your agent contains nothing private, then press Submit new issue. The reply appears on the same page in about a minute; press F5 if your screen reader does not announce it.</a:t>
            </a:r>
          </a:p>
          <a:p>
            <a:pPr lvl="1">
              <a:spcAft>
                <a:spcPts val="600"/>
              </a:spcAft>
            </a:pPr>
            <a:r>
              <a:rPr sz="2000" b="0" lang="en-US">
                <a:latin typeface="Arial"/>
              </a:rPr>
              <a:t>Step cards 3 and 5 say where the long answers are and how to read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Keys worth knowing (1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These work in every part of VS Code, on a computer and at vscode.dev.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Keys worth knowing (2 of 4)</a:t>
            </a:r>
          </a:p>
        </p:txBody>
      </p:sp>
      <p:graphicFrame>
        <p:nvGraphicFramePr>
          <p:cNvPr id="3" name="Table 2" descr="Table: Keys worth knowing. Columns: To, Windows, Mac."/>
          <p:cNvGraphicFramePr>
            <a:graphicFrameLocks noGrp="1"/>
          </p:cNvGraphicFramePr>
          <p:nvPr/>
        </p:nvGraphicFramePr>
        <p:xfrm>
          <a:off x="548640" y="1554480"/>
          <a:ext cx="11064240" cy="27432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To</a:t>
                      </a:r>
                    </a:p>
                  </a:txBody>
                  <a:tcPr/>
                </a:tc>
                <a:tc>
                  <a:txBody>
                    <a:bodyPr/>
                    <a:lstStyle/>
                    <a:p>
                      <a:r>
                        <a:rPr sz="1800" b="1" lang="en-US">
                          <a:latin typeface="Arial"/>
                        </a:rPr>
                        <a:t>Windows</a:t>
                      </a:r>
                    </a:p>
                  </a:txBody>
                  <a:tcPr/>
                </a:tc>
                <a:tc>
                  <a:txBody>
                    <a:bodyPr/>
                    <a:lstStyle/>
                    <a:p>
                      <a:r>
                        <a:rPr sz="1800" b="1" lang="en-US">
                          <a:latin typeface="Arial"/>
                        </a:rPr>
                        <a:t>Mac</a:t>
                      </a:r>
                    </a:p>
                  </a:txBody>
                  <a:tcPr/>
                </a:tc>
              </a:tr>
              <a:tr h="457200">
                <a:tc>
                  <a:txBody>
                    <a:bodyPr wrap="square"/>
                    <a:lstStyle/>
                    <a:p>
                      <a:r>
                        <a:rPr sz="1800" b="0" lang="en-US">
                          <a:latin typeface="Arial"/>
                        </a:rPr>
                        <a:t>Open Copilot Chat</a:t>
                      </a:r>
                    </a:p>
                  </a:txBody>
                  <a:tcPr/>
                </a:tc>
                <a:tc>
                  <a:txBody>
                    <a:bodyPr wrap="square"/>
                    <a:lstStyle/>
                    <a:p>
                      <a:r>
                        <a:rPr sz="1800" b="0" lang="en-US">
                          <a:latin typeface="Arial"/>
                        </a:rPr>
                        <a:t>Control+Alt+I</a:t>
                      </a:r>
                    </a:p>
                  </a:txBody>
                  <a:tcPr/>
                </a:tc>
                <a:tc>
                  <a:txBody>
                    <a:bodyPr wrap="square"/>
                    <a:lstStyle/>
                    <a:p>
                      <a:r>
                        <a:rPr sz="1800" b="0" lang="en-US">
                          <a:latin typeface="Arial"/>
                        </a:rPr>
                        <a:t>Control+Command+I</a:t>
                      </a:r>
                    </a:p>
                  </a:txBody>
                  <a:tcPr/>
                </a:tc>
              </a:tr>
              <a:tr h="457200">
                <a:tc>
                  <a:txBody>
                    <a:bodyPr wrap="square"/>
                    <a:lstStyle/>
                    <a:p>
                      <a:r>
                        <a:rPr sz="1800" b="0" lang="en-US">
                          <a:latin typeface="Arial"/>
                        </a:rPr>
                        <a:t>Read an answer as plain text, in the Accessible View: move to the answer, then press</a:t>
                      </a:r>
                    </a:p>
                  </a:txBody>
                  <a:tcPr/>
                </a:tc>
                <a:tc>
                  <a:txBody>
                    <a:bodyPr wrap="square"/>
                    <a:lstStyle/>
                    <a:p>
                      <a:r>
                        <a:rPr sz="1800" b="0" lang="en-US">
                          <a:latin typeface="Arial"/>
                        </a:rPr>
                        <a:t>Alt+F2</a:t>
                      </a:r>
                    </a:p>
                  </a:txBody>
                  <a:tcPr/>
                </a:tc>
                <a:tc>
                  <a:txBody>
                    <a:bodyPr wrap="square"/>
                    <a:lstStyle/>
                    <a:p>
                      <a:r>
                        <a:rPr sz="1800" b="0" lang="en-US">
                          <a:latin typeface="Arial"/>
                        </a:rPr>
                        <a:t>Option+F2</a:t>
                      </a:r>
                    </a:p>
                  </a:txBody>
                  <a:tcPr/>
                </a:tc>
              </a:tr>
              <a:tr h="457200">
                <a:tc>
                  <a:txBody>
                    <a:bodyPr wrap="square"/>
                    <a:lstStyle/>
                    <a:p>
                      <a:r>
                        <a:rPr sz="1800" b="0" lang="en-US">
                          <a:latin typeface="Arial"/>
                        </a:rPr>
                        <a:t>Open any file by name</a:t>
                      </a:r>
                    </a:p>
                  </a:txBody>
                  <a:tcPr/>
                </a:tc>
                <a:tc>
                  <a:txBody>
                    <a:bodyPr wrap="square"/>
                    <a:lstStyle/>
                    <a:p>
                      <a:r>
                        <a:rPr sz="1800" b="0" lang="en-US">
                          <a:latin typeface="Arial"/>
                        </a:rPr>
                        <a:t>Control+P</a:t>
                      </a:r>
                    </a:p>
                  </a:txBody>
                  <a:tcPr/>
                </a:tc>
                <a:tc>
                  <a:txBody>
                    <a:bodyPr wrap="square"/>
                    <a:lstStyle/>
                    <a:p>
                      <a:r>
                        <a:rPr sz="1800" b="0" lang="en-US">
                          <a:latin typeface="Arial"/>
                        </a:rPr>
                        <a:t>Command+P</a:t>
                      </a:r>
                    </a:p>
                  </a:txBody>
                  <a:tcPr/>
                </a:tc>
              </a:tr>
              <a:tr h="457200">
                <a:tc>
                  <a:txBody>
                    <a:bodyPr wrap="square"/>
                    <a:lstStyle/>
                    <a:p>
                      <a:r>
                        <a:rPr sz="1800" b="0" lang="en-US">
                          <a:latin typeface="Arial"/>
                        </a:rPr>
                        <a:t>Find any command</a:t>
                      </a:r>
                    </a:p>
                  </a:txBody>
                  <a:tcPr/>
                </a:tc>
                <a:tc>
                  <a:txBody>
                    <a:bodyPr wrap="square"/>
                    <a:lstStyle/>
                    <a:p>
                      <a:r>
                        <a:rPr sz="1800" b="0" lang="en-US">
                          <a:latin typeface="Arial"/>
                        </a:rPr>
                        <a:t>Control+Shift+P</a:t>
                      </a:r>
                    </a:p>
                  </a:txBody>
                  <a:tcPr/>
                </a:tc>
                <a:tc>
                  <a:txBody>
                    <a:bodyPr wrap="square"/>
                    <a:lstStyle/>
                    <a:p>
                      <a:r>
                        <a:rPr sz="1800" b="0" lang="en-US">
                          <a:latin typeface="Arial"/>
                        </a:rPr>
                        <a:t>Command+Shift+P</a:t>
                      </a:r>
                    </a:p>
                  </a:txBody>
                  <a:tcPr/>
                </a:tc>
              </a:tr>
              <a:tr h="457200">
                <a:tc>
                  <a:txBody>
                    <a:bodyPr wrap="square"/>
                    <a:lstStyle/>
                    <a:p>
                      <a:r>
                        <a:rPr sz="1800" b="0" lang="en-US">
                          <a:latin typeface="Arial"/>
                        </a:rPr>
                        <a:t>Move between parts of the window</a:t>
                      </a:r>
                    </a:p>
                  </a:txBody>
                  <a:tcPr/>
                </a:tc>
                <a:tc>
                  <a:txBody>
                    <a:bodyPr wrap="square"/>
                    <a:lstStyle/>
                    <a:p>
                      <a:r>
                        <a:rPr sz="1800" b="0" lang="en-US">
                          <a:latin typeface="Arial"/>
                        </a:rPr>
                        <a:t>F6</a:t>
                      </a:r>
                    </a:p>
                  </a:txBody>
                  <a:tcPr/>
                </a:tc>
                <a:tc>
                  <a:txBody>
                    <a:bodyPr wrap="square"/>
                    <a:lstStyle/>
                    <a:p>
                      <a:r>
                        <a:rPr sz="1800" b="0" lang="en-US">
                          <a:latin typeface="Arial"/>
                        </a:rPr>
                        <a:t>F6</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Keys worth knowing (3 of 4)</a:t>
            </a:r>
          </a:p>
        </p:txBody>
      </p:sp>
      <p:graphicFrame>
        <p:nvGraphicFramePr>
          <p:cNvPr id="3" name="Table 2" descr="Table: Keys worth knowing. Columns: To, Windows, Mac."/>
          <p:cNvGraphicFramePr>
            <a:graphicFrameLocks noGrp="1"/>
          </p:cNvGraphicFramePr>
          <p:nvPr/>
        </p:nvGraphicFramePr>
        <p:xfrm>
          <a:off x="548640" y="1554480"/>
          <a:ext cx="11064240" cy="9144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To</a:t>
                      </a:r>
                    </a:p>
                  </a:txBody>
                  <a:tcPr/>
                </a:tc>
                <a:tc>
                  <a:txBody>
                    <a:bodyPr/>
                    <a:lstStyle/>
                    <a:p>
                      <a:r>
                        <a:rPr sz="1800" b="1" lang="en-US">
                          <a:latin typeface="Arial"/>
                        </a:rPr>
                        <a:t>Windows</a:t>
                      </a:r>
                    </a:p>
                  </a:txBody>
                  <a:tcPr/>
                </a:tc>
                <a:tc>
                  <a:txBody>
                    <a:bodyPr/>
                    <a:lstStyle/>
                    <a:p>
                      <a:r>
                        <a:rPr sz="1800" b="1" lang="en-US">
                          <a:latin typeface="Arial"/>
                        </a:rPr>
                        <a:t>Mac</a:t>
                      </a:r>
                    </a:p>
                  </a:txBody>
                  <a:tcPr/>
                </a:tc>
              </a:tr>
              <a:tr h="457200">
                <a:tc>
                  <a:txBody>
                    <a:bodyPr wrap="square"/>
                    <a:lstStyle/>
                    <a:p>
                      <a:r>
                        <a:rPr sz="1800" b="0" lang="en-US">
                          <a:latin typeface="Arial"/>
                        </a:rPr>
                        <a:t>Accessibility help for where you are</a:t>
                      </a:r>
                    </a:p>
                  </a:txBody>
                  <a:tcPr/>
                </a:tc>
                <a:tc>
                  <a:txBody>
                    <a:bodyPr wrap="square"/>
                    <a:lstStyle/>
                    <a:p>
                      <a:r>
                        <a:rPr sz="1800" b="0" lang="en-US">
                          <a:latin typeface="Arial"/>
                        </a:rPr>
                        <a:t>Alt+F1</a:t>
                      </a:r>
                    </a:p>
                  </a:txBody>
                  <a:tcPr/>
                </a:tc>
                <a:tc>
                  <a:txBody>
                    <a:bodyPr wrap="square"/>
                    <a:lstStyle/>
                    <a:p>
                      <a:r>
                        <a:rPr sz="1800" b="0" lang="en-US">
                          <a:latin typeface="Arial"/>
                        </a:rPr>
                        <a:t>Option+F1</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Keys worth knowing (4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With a screen reader running, VS Code plays a sound when Copilot's answer arrives and another when Copilot needs you to approve something. The settings are </a:t>
            </a:r>
            <a:r>
              <a:rPr sz="2000" b="0" lang="en-US">
                <a:latin typeface="Consolas"/>
              </a:rPr>
              <a:t>accessibility.signals.chatResponseReceived</a:t>
            </a:r>
            <a:r>
              <a:rPr sz="2000" b="0" lang="en-US">
                <a:latin typeface="Arial"/>
              </a:rPr>
              <a:t> and </a:t>
            </a:r>
            <a:r>
              <a:rPr sz="2000" b="0" lang="en-US">
                <a:latin typeface="Consolas"/>
              </a:rPr>
              <a:t>accessibility.signals.chatUserActionRequired</a:t>
            </a:r>
            <a:r>
              <a:rPr sz="2000" b="0" lang="en-US">
                <a:latin typeface="Arial"/>
              </a:rPr>
              <a:t>. While Copilot works, it says what it is doing; </a:t>
            </a:r>
            <a:r>
              <a:rPr sz="2000" b="0" lang="en-US">
                <a:latin typeface="Consolas"/>
              </a:rPr>
              <a:t>accessibility.verboseChatProgressUpdates</a:t>
            </a:r>
            <a:r>
              <a:rPr sz="2000" b="0" lang="en-US">
                <a:latin typeface="Arial"/>
              </a:rPr>
              <a:t> turns that off. The kit sets chat text to 18 point with </a:t>
            </a:r>
            <a:r>
              <a:rPr sz="2000" b="0" lang="en-US">
                <a:latin typeface="Consolas"/>
              </a:rPr>
              <a:t>chat.fontSize</a:t>
            </a:r>
            <a:r>
              <a:rPr sz="2000" b="0" lang="en-US">
                <a:latin typeface="Arial"/>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two rules</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1. </a:t>
            </a:r>
            <a:r>
              <a:rPr sz="2000" b="0" lang="en-US">
                <a:latin typeface="Arial"/>
              </a:rPr>
              <a:t>Never paste anything private into any AI: student records, health or disability information, or anyone's name. Use the sample course.</a:t>
            </a:r>
          </a:p>
          <a:p>
            <a:pPr lvl="1">
              <a:spcAft>
                <a:spcPts val="600"/>
              </a:spcAft>
              <a:buNone/>
            </a:pPr>
            <a:r>
              <a:rPr sz="2000" b="0" lang="en-US">
                <a:latin typeface="Arial"/>
              </a:rPr>
              <a:t>2. </a:t>
            </a:r>
            <a:r>
              <a:rPr sz="2000" b="0" lang="en-US">
                <a:latin typeface="Arial"/>
              </a:rPr>
              <a:t>Every agent ends with a person checking its work.</a:t>
            </a:r>
          </a:p>
          <a:p>
            <a:pPr marL="0" indent="0">
              <a:spcAft>
                <a:spcPts val="600"/>
              </a:spcAft>
              <a:buNone/>
            </a:pPr>
            <a:r>
              <a:rPr sz="2000" b="0" lang="en-US">
                <a:latin typeface="Arial"/>
              </a:rPr>
              <a:t>Help, before or after the day: </a:t>
            </a:r>
            <a:r>
              <a:rPr sz="2000" b="0" lang="en-US">
                <a:latin typeface="Arial"/>
                <a:hlinkClick r:id="rId2"/>
              </a:rPr>
              <a:t>support@community-access.org</a:t>
            </a:r>
            <a:r>
              <a:rPr sz="2000" b="0" lang="en-US">
                <a:latin typeface="Arial"/>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Sources</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Checked on 29 October 2026.</a:t>
            </a:r>
          </a:p>
          <a:p>
            <a:pPr lvl="1">
              <a:spcAft>
                <a:spcPts val="600"/>
              </a:spcAft>
            </a:pPr>
            <a:r>
              <a:rPr sz="2000" b="0" lang="en-US">
                <a:latin typeface="Arial"/>
                <a:hlinkClick r:id="rId2"/>
              </a:rPr>
              <a:t>VS Code: accessibility</a:t>
            </a:r>
            <a:r>
              <a:rPr sz="2000" b="0" lang="en-US">
                <a:latin typeface="Arial"/>
              </a:rPr>
              <a:t>: the Accessible View (Alt+F2), accessibility help (Alt+F1) and moving between parts of the window (F6).</a:t>
            </a:r>
          </a:p>
          <a:p>
            <a:pPr lvl="1">
              <a:spcAft>
                <a:spcPts val="600"/>
              </a:spcAft>
            </a:pPr>
            <a:r>
              <a:rPr sz="2000" b="0" lang="en-US">
                <a:latin typeface="Arial"/>
                <a:hlinkClick r:id="rId3"/>
              </a:rPr>
              <a:t>VS Code: Copilot features cheat sheet</a:t>
            </a:r>
            <a:r>
              <a:rPr sz="2000" b="0" lang="en-US">
                <a:latin typeface="Arial"/>
              </a:rPr>
              <a:t>: opening Copilot Chat.</a:t>
            </a:r>
          </a:p>
          <a:p>
            <a:pPr lvl="1">
              <a:spcAft>
                <a:spcPts val="600"/>
              </a:spcAft>
            </a:pPr>
            <a:r>
              <a:rPr sz="2000" b="0" lang="en-US">
                <a:latin typeface="Arial"/>
                <a:hlinkClick r:id="rId4"/>
              </a:rPr>
              <a:t>VS Code: Copilot settings reference</a:t>
            </a:r>
            <a:r>
              <a:rPr sz="2000" b="0" lang="en-US">
                <a:latin typeface="Arial"/>
              </a:rPr>
              <a:t>: the chat sound, progress and text size settings.</a:t>
            </a:r>
          </a:p>
          <a:p>
            <a:pPr lvl="1">
              <a:spcAft>
                <a:spcPts val="600"/>
              </a:spcAft>
            </a:pPr>
            <a:r>
              <a:rPr sz="2000" b="0" lang="en-US">
                <a:latin typeface="Arial"/>
                <a:hlinkClick r:id="rId5"/>
              </a:rPr>
              <a:t>VS Code for the Web</a:t>
            </a:r>
            <a:r>
              <a:rPr sz="2000" b="0" lang="en-US">
                <a:latin typeface="Arial"/>
              </a:rPr>
              <a:t>: opening a folder from your computer works in Chrome and Edge.</a:t>
            </a:r>
          </a:p>
          <a:p>
            <a:pPr lvl="1">
              <a:spcAft>
                <a:spcPts val="600"/>
              </a:spcAft>
            </a:pPr>
            <a:r>
              <a:rPr sz="2000" b="0" lang="en-US">
                <a:latin typeface="Arial"/>
                <a:hlinkClick r:id="rId6"/>
              </a:rPr>
              <a:t>VS Code: use Agent Skills</a:t>
            </a:r>
            <a:r>
              <a:rPr sz="2000" b="0" lang="en-US">
                <a:latin typeface="Arial"/>
              </a:rPr>
              <a:t>: how the commands in </a:t>
            </a:r>
            <a:r>
              <a:rPr sz="2000" b="0" lang="en-US">
                <a:latin typeface="Consolas"/>
              </a:rPr>
              <a:t>.github/skills</a:t>
            </a:r>
            <a:r>
              <a:rPr sz="2000" b="0" lang="en-US">
                <a:latin typeface="Arial"/>
              </a:rPr>
              <a:t>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AHG 2026 agent kit</dc:title>
  <dc:subject>Welcome page for the AHG 2026 agent kit.</dc:subject>
  <dc:creator>Jeff Bishop, BITS</dc:creator>
  <cp:keywords/>
  <dc:description>generated using python-pptx</dc:description>
  <cp:lastModifiedBy>Jeff Bishop, BITS</cp:lastModifiedBy>
  <cp:revision>1</cp:revision>
  <dcterms:created xsi:type="dcterms:W3CDTF">2026-10-01T12:00:00Z</dcterms:created>
  <dcterms:modified xsi:type="dcterms:W3CDTF">2026-10-01T12:00:00Z</dcterms:modified>
  <cp:category/>
  <dc:language>en-US</dc:language>
</cp:coreProperties>
</file>