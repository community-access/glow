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w3.org/WAI/WCAG22/Understanding/captions-prerecorded.html" TargetMode="External"/><Relationship Id="rId3" Type="http://schemas.openxmlformats.org/officeDocument/2006/relationships/hyperlink" Target="https://www.w3.org/WAI/media/av/caption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gentskills.io/specification" TargetMode="External"/><Relationship Id="rId3" Type="http://schemas.openxmlformats.org/officeDocument/2006/relationships/hyperlink" Target="https://code.visualstudio.com/docs/copilot/customization/agent-skills" TargetMode="External"/><Relationship Id="rId4" Type="http://schemas.openxmlformats.org/officeDocument/2006/relationships/hyperlink" Target="https://docs.github.com/en/copilot/concepts/agents/about-agent-skills" TargetMode="External"/><Relationship Id="rId5" Type="http://schemas.openxmlformats.org/officeDocument/2006/relationships/hyperlink" Target="https://code.claude.com/docs/en/skills" TargetMode="External"/><Relationship Id="rId6" Type="http://schemas.openxmlformats.org/officeDocument/2006/relationships/hyperlink" Target="https://learn.chatgpt.com/docs/build-skills" TargetMode="External"/><Relationship Id="rId7" Type="http://schemas.openxmlformats.org/officeDocument/2006/relationships/hyperlink" Target="https://geminicli.com/docs/cli/skills/" TargetMode="External"/><Relationship Id="rId8" Type="http://schemas.openxmlformats.org/officeDocument/2006/relationships/hyperlink" Target="https://www.w3.org/TR/WCAG22/" TargetMode="External"/><Relationship Id="rId9" Type="http://schemas.openxmlformats.org/officeDocument/2006/relationships/hyperlink" Target="https://www.w3.org/WAI/WCAG22/Understanding/captions-prerecorded.html" TargetMode="External"/><Relationship Id="rId10" Type="http://schemas.openxmlformats.org/officeDocument/2006/relationships/hyperlink" Target="https://www.w3.org/WAI/media/av/captions/"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731520" y="1463040"/>
            <a:ext cx="10698480" cy="2011680"/>
          </a:xfrm>
        </p:spPr>
        <p:txBody>
          <a:bodyPr wrap="square"/>
          <a:lstStyle/>
          <a:p>
            <a:r>
              <a:rPr sz="4000" b="1" lang="en-US">
                <a:latin typeface="Arial"/>
              </a:rPr>
              <a:t>Write your own accessibility agent: a tutorial</a:t>
            </a:r>
          </a:p>
        </p:txBody>
      </p:sp>
      <p:sp>
        <p:nvSpPr>
          <p:cNvPr id="3" name="Subtitle 2"/>
          <p:cNvSpPr>
            <a:spLocks noGrp="1"/>
          </p:cNvSpPr>
          <p:nvPr>
            <p:ph type="subTitle" idx="1"/>
          </p:nvPr>
        </p:nvSpPr>
        <p:spPr>
          <a:xfrm>
            <a:off x="731520" y="3657600"/>
            <a:ext cx="10698480" cy="2194560"/>
          </a:xfrm>
        </p:spPr>
        <p:txBody>
          <a:bodyPr wrap="square"/>
          <a:lstStyle/>
          <a:p>
            <a:r>
              <a:rPr sz="2400" b="0" lang="en-US">
                <a:latin typeface="Arial"/>
              </a:rPr>
              <a:t>A start-to-finish tutorial for writing, testing, grounding and sharing an accessibility agent, in any AI assistant, after the AHG 2026 workshop.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About this document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This tutorial takes you from a blank file to an agent you trust, on your own, in any AI assistant. It does not need the workshop's commands, and it does not need code. If you were at the workshop, it is the same method, slowed down and written out, so you can do it again on Monday for a different job.</a:t>
            </a:r>
          </a:p>
          <a:p>
            <a:pPr marL="0" indent="0">
              <a:spcAft>
                <a:spcPts val="600"/>
              </a:spcAft>
              <a:buNone/>
            </a:pPr>
            <a:r>
              <a:rPr sz="2000" b="0" lang="en-US">
                <a:latin typeface="Arial"/>
              </a:rPr>
              <a:t>It takes about an hour the first time. Have this open in one window and your AI assistant in another.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How this tutorial works (1 of 3)</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There are eight steps. Each one has what to do, what good looks like, and a check before you move on. One example runs all the way through: Dev, a media services coordinator, writes an agent for lecture captions. The example uses the sample course in this kit, so you can follow along with real files. Dev is fictional, and the answers quoted are examples written for this tutorial; your assistant's own answers will differ.</a:t>
            </a:r>
          </a:p>
          <a:p>
            <a:pPr marL="0" indent="0">
              <a:spcAft>
                <a:spcPts val="600"/>
              </a:spcAft>
              <a:buNone/>
            </a:pPr>
            <a:r>
              <a:rPr sz="2000" b="0" lang="en-US">
                <a:latin typeface="Arial"/>
              </a:rPr>
              <a:t>Each row is one step, what you do in it, and what you have at the end.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How this tutorial works (2 of 3)</a:t>
            </a:r>
          </a:p>
        </p:txBody>
      </p:sp>
      <p:graphicFrame>
        <p:nvGraphicFramePr>
          <p:cNvPr id="3" name="Table 2" descr="Table: How this tutorial works. Columns: Step, You do, You end with."/>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800" b="1" lang="en-US">
                          <a:latin typeface="Arial"/>
                        </a:rPr>
                        <a:t>Step</a:t>
                      </a:r>
                    </a:p>
                  </a:txBody>
                  <a:tcPr/>
                </a:tc>
                <a:tc>
                  <a:txBody>
                    <a:bodyPr/>
                    <a:lstStyle/>
                    <a:p>
                      <a:r>
                        <a:rPr sz="1800" b="1" lang="en-US">
                          <a:latin typeface="Arial"/>
                        </a:rPr>
                        <a:t>You do</a:t>
                      </a:r>
                    </a:p>
                  </a:txBody>
                  <a:tcPr/>
                </a:tc>
                <a:tc>
                  <a:txBody>
                    <a:bodyPr/>
                    <a:lstStyle/>
                    <a:p>
                      <a:r>
                        <a:rPr sz="1800" b="1" lang="en-US">
                          <a:latin typeface="Arial"/>
                        </a:rPr>
                        <a:t>You end with</a:t>
                      </a:r>
                    </a:p>
                  </a:txBody>
                  <a:tcPr/>
                </a:tc>
              </a:tr>
              <a:tr h="457200">
                <a:tc>
                  <a:txBody>
                    <a:bodyPr wrap="square"/>
                    <a:lstStyle/>
                    <a:p>
                      <a:r>
                        <a:rPr sz="1800" b="0" lang="en-US">
                          <a:latin typeface="Arial"/>
                        </a:rPr>
                        <a:t>1</a:t>
                      </a:r>
                    </a:p>
                  </a:txBody>
                  <a:tcPr/>
                </a:tc>
                <a:tc>
                  <a:txBody>
                    <a:bodyPr wrap="square"/>
                    <a:lstStyle/>
                    <a:p>
                      <a:r>
                        <a:rPr sz="1800" b="0" lang="en-US">
                          <a:latin typeface="Arial"/>
                        </a:rPr>
                        <a:t>Choose one job</a:t>
                      </a:r>
                    </a:p>
                  </a:txBody>
                  <a:tcPr/>
                </a:tc>
                <a:tc>
                  <a:txBody>
                    <a:bodyPr wrap="square"/>
                    <a:lstStyle/>
                    <a:p>
                      <a:r>
                        <a:rPr sz="1800" b="0" lang="en-US">
                          <a:latin typeface="Arial"/>
                        </a:rPr>
                        <a:t>One sentence: given what, produce what, for whom</a:t>
                      </a:r>
                    </a:p>
                  </a:txBody>
                  <a:tcPr/>
                </a:tc>
              </a:tr>
              <a:tr h="457200">
                <a:tc>
                  <a:txBody>
                    <a:bodyPr wrap="square"/>
                    <a:lstStyle/>
                    <a:p>
                      <a:r>
                        <a:rPr sz="1800" b="0" lang="en-US">
                          <a:latin typeface="Arial"/>
                        </a:rPr>
                        <a:t>2</a:t>
                      </a:r>
                    </a:p>
                  </a:txBody>
                  <a:tcPr/>
                </a:tc>
                <a:tc>
                  <a:txBody>
                    <a:bodyPr wrap="square"/>
                    <a:lstStyle/>
                    <a:p>
                      <a:r>
                        <a:rPr sz="1800" b="0" lang="en-US">
                          <a:latin typeface="Arial"/>
                        </a:rPr>
                        <a:t>Write the header</a:t>
                      </a:r>
                    </a:p>
                  </a:txBody>
                  <a:tcPr/>
                </a:tc>
                <a:tc>
                  <a:txBody>
                    <a:bodyPr wrap="square"/>
                    <a:lstStyle/>
                    <a:p>
                      <a:r>
                        <a:rPr sz="1800" b="0" lang="en-US">
                          <a:latin typeface="Arial"/>
                        </a:rPr>
                        <a:t>A name and a description that says when to use it</a:t>
                      </a:r>
                    </a:p>
                  </a:txBody>
                  <a:tcPr/>
                </a:tc>
              </a:tr>
              <a:tr h="457200">
                <a:tc>
                  <a:txBody>
                    <a:bodyPr wrap="square"/>
                    <a:lstStyle/>
                    <a:p>
                      <a:r>
                        <a:rPr sz="1800" b="0" lang="en-US">
                          <a:latin typeface="Arial"/>
                        </a:rPr>
                        <a:t>3</a:t>
                      </a:r>
                    </a:p>
                  </a:txBody>
                  <a:tcPr/>
                </a:tc>
                <a:tc>
                  <a:txBody>
                    <a:bodyPr wrap="square"/>
                    <a:lstStyle/>
                    <a:p>
                      <a:r>
                        <a:rPr sz="1800" b="0" lang="en-US">
                          <a:latin typeface="Arial"/>
                        </a:rPr>
                        <a:t>Write the six sections</a:t>
                      </a:r>
                    </a:p>
                  </a:txBody>
                  <a:tcPr/>
                </a:tc>
                <a:tc>
                  <a:txBody>
                    <a:bodyPr wrap="square"/>
                    <a:lstStyle/>
                    <a:p>
                      <a:r>
                        <a:rPr sz="1800" b="0" lang="en-US">
                          <a:latin typeface="Arial"/>
                        </a:rPr>
                        <a:t>Role, Task, Trusted guidance, Output format, Example, Human review</a:t>
                      </a:r>
                    </a:p>
                  </a:txBody>
                  <a:tcPr/>
                </a:tc>
              </a:tr>
              <a:tr h="457200">
                <a:tc>
                  <a:txBody>
                    <a:bodyPr wrap="square"/>
                    <a:lstStyle/>
                    <a:p>
                      <a:r>
                        <a:rPr sz="1800" b="0" lang="en-US">
                          <a:latin typeface="Arial"/>
                        </a:rPr>
                        <a:t>4</a:t>
                      </a:r>
                    </a:p>
                  </a:txBody>
                  <a:tcPr/>
                </a:tc>
                <a:tc>
                  <a:txBody>
                    <a:bodyPr wrap="square"/>
                    <a:lstStyle/>
                    <a:p>
                      <a:r>
                        <a:rPr sz="1800" b="0" lang="en-US">
                          <a:latin typeface="Arial"/>
                        </a:rPr>
                        <a:t>Keep the Never rules</a:t>
                      </a:r>
                    </a:p>
                  </a:txBody>
                  <a:tcPr/>
                </a:tc>
                <a:tc>
                  <a:txBody>
                    <a:bodyPr wrap="square"/>
                    <a:lstStyle/>
                    <a:p>
                      <a:r>
                        <a:rPr sz="1800" b="0" lang="en-US">
                          <a:latin typeface="Arial"/>
                        </a:rPr>
                        <a:t>The three lines every agent keeps</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How this tutorial works (3 of 3)</a:t>
            </a:r>
          </a:p>
        </p:txBody>
      </p:sp>
      <p:graphicFrame>
        <p:nvGraphicFramePr>
          <p:cNvPr id="3" name="Table 2" descr="Table: How this tutorial works. Columns: Step, You do, You end with."/>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800" b="1" lang="en-US">
                          <a:latin typeface="Arial"/>
                        </a:rPr>
                        <a:t>Step</a:t>
                      </a:r>
                    </a:p>
                  </a:txBody>
                  <a:tcPr/>
                </a:tc>
                <a:tc>
                  <a:txBody>
                    <a:bodyPr/>
                    <a:lstStyle/>
                    <a:p>
                      <a:r>
                        <a:rPr sz="1800" b="1" lang="en-US">
                          <a:latin typeface="Arial"/>
                        </a:rPr>
                        <a:t>You do</a:t>
                      </a:r>
                    </a:p>
                  </a:txBody>
                  <a:tcPr/>
                </a:tc>
                <a:tc>
                  <a:txBody>
                    <a:bodyPr/>
                    <a:lstStyle/>
                    <a:p>
                      <a:r>
                        <a:rPr sz="1800" b="1" lang="en-US">
                          <a:latin typeface="Arial"/>
                        </a:rPr>
                        <a:t>You end with</a:t>
                      </a:r>
                    </a:p>
                  </a:txBody>
                  <a:tcPr/>
                </a:tc>
              </a:tr>
              <a:tr h="457200">
                <a:tc>
                  <a:txBody>
                    <a:bodyPr wrap="square"/>
                    <a:lstStyle/>
                    <a:p>
                      <a:r>
                        <a:rPr sz="1800" b="0" lang="en-US">
                          <a:latin typeface="Arial"/>
                        </a:rPr>
                        <a:t>5</a:t>
                      </a:r>
                    </a:p>
                  </a:txBody>
                  <a:tcPr/>
                </a:tc>
                <a:tc>
                  <a:txBody>
                    <a:bodyPr wrap="square"/>
                    <a:lstStyle/>
                    <a:p>
                      <a:r>
                        <a:rPr sz="1800" b="0" lang="en-US">
                          <a:latin typeface="Arial"/>
                        </a:rPr>
                        <a:t>Try it, with no evidence</a:t>
                      </a:r>
                    </a:p>
                  </a:txBody>
                  <a:tcPr/>
                </a:tc>
                <a:tc>
                  <a:txBody>
                    <a:bodyPr wrap="square"/>
                    <a:lstStyle/>
                    <a:p>
                      <a:r>
                        <a:rPr sz="1800" b="0" lang="en-US">
                          <a:latin typeface="Arial"/>
                        </a:rPr>
                        <a:t>A first answer, and a list of where it guessed</a:t>
                      </a:r>
                    </a:p>
                  </a:txBody>
                  <a:tcPr/>
                </a:tc>
              </a:tr>
              <a:tr h="457200">
                <a:tc>
                  <a:txBody>
                    <a:bodyPr wrap="square"/>
                    <a:lstStyle/>
                    <a:p>
                      <a:r>
                        <a:rPr sz="1800" b="0" lang="en-US">
                          <a:latin typeface="Arial"/>
                        </a:rPr>
                        <a:t>6</a:t>
                      </a:r>
                    </a:p>
                  </a:txBody>
                  <a:tcPr/>
                </a:tc>
                <a:tc>
                  <a:txBody>
                    <a:bodyPr wrap="square"/>
                    <a:lstStyle/>
                    <a:p>
                      <a:r>
                        <a:rPr sz="1800" b="0" lang="en-US">
                          <a:latin typeface="Arial"/>
                        </a:rPr>
                        <a:t>Ground it</a:t>
                      </a:r>
                    </a:p>
                  </a:txBody>
                  <a:tcPr/>
                </a:tc>
                <a:tc>
                  <a:txBody>
                    <a:bodyPr wrap="square"/>
                    <a:lstStyle/>
                    <a:p>
                      <a:r>
                        <a:rPr sz="1800" b="0" lang="en-US">
                          <a:latin typeface="Arial"/>
                        </a:rPr>
                        <a:t>A second answer that cites evidence and WCAG 2.2</a:t>
                      </a:r>
                    </a:p>
                  </a:txBody>
                  <a:tcPr/>
                </a:tc>
              </a:tr>
              <a:tr h="457200">
                <a:tc>
                  <a:txBody>
                    <a:bodyPr wrap="square"/>
                    <a:lstStyle/>
                    <a:p>
                      <a:r>
                        <a:rPr sz="1800" b="0" lang="en-US">
                          <a:latin typeface="Arial"/>
                        </a:rPr>
                        <a:t>7</a:t>
                      </a:r>
                    </a:p>
                  </a:txBody>
                  <a:tcPr/>
                </a:tc>
                <a:tc>
                  <a:txBody>
                    <a:bodyPr wrap="square"/>
                    <a:lstStyle/>
                    <a:p>
                      <a:r>
                        <a:rPr sz="1800" b="0" lang="en-US">
                          <a:latin typeface="Arial"/>
                        </a:rPr>
                        <a:t>Revise, one change at a time</a:t>
                      </a:r>
                    </a:p>
                  </a:txBody>
                  <a:tcPr/>
                </a:tc>
                <a:tc>
                  <a:txBody>
                    <a:bodyPr wrap="square"/>
                    <a:lstStyle/>
                    <a:p>
                      <a:r>
                        <a:rPr sz="1800" b="0" lang="en-US">
                          <a:latin typeface="Arial"/>
                        </a:rPr>
                        <a:t>Versions 2, 3 and 4</a:t>
                      </a:r>
                    </a:p>
                  </a:txBody>
                  <a:tcPr/>
                </a:tc>
              </a:tr>
              <a:tr h="457200">
                <a:tc>
                  <a:txBody>
                    <a:bodyPr wrap="square"/>
                    <a:lstStyle/>
                    <a:p>
                      <a:r>
                        <a:rPr sz="1800" b="0" lang="en-US">
                          <a:latin typeface="Arial"/>
                        </a:rPr>
                        <a:t>8</a:t>
                      </a:r>
                    </a:p>
                  </a:txBody>
                  <a:tcPr/>
                </a:tc>
                <a:tc>
                  <a:txBody>
                    <a:bodyPr wrap="square"/>
                    <a:lstStyle/>
                    <a:p>
                      <a:r>
                        <a:rPr sz="1800" b="0" lang="en-US">
                          <a:latin typeface="Arial"/>
                        </a:rPr>
                        <a:t>Install it and share it</a:t>
                      </a:r>
                    </a:p>
                  </a:txBody>
                  <a:tcPr/>
                </a:tc>
                <a:tc>
                  <a:txBody>
                    <a:bodyPr wrap="square"/>
                    <a:lstStyle/>
                    <a:p>
                      <a:r>
                        <a:rPr sz="1800" b="0" lang="en-US">
                          <a:latin typeface="Arial"/>
                        </a:rPr>
                        <a:t>Your agent where you work, and in the open-source collection</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Before you start</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pPr>
            <a:r>
              <a:rPr sz="2000" b="0" lang="en-US">
                <a:latin typeface="Arial"/>
              </a:rPr>
              <a:t>Open </a:t>
            </a:r>
            <a:r>
              <a:rPr sz="2000" b="0" lang="en-US">
                <a:latin typeface="Consolas"/>
              </a:rPr>
              <a:t>my-agent/SKILL.md</a:t>
            </a:r>
            <a:r>
              <a:rPr sz="2000" b="0" lang="en-US">
                <a:latin typeface="Arial"/>
              </a:rPr>
              <a:t> in this kit, or copy the template at the end of this tutorial into a new file named </a:t>
            </a:r>
            <a:r>
              <a:rPr sz="2000" b="0" lang="en-US">
                <a:latin typeface="Consolas"/>
              </a:rPr>
              <a:t>SKILL.md</a:t>
            </a:r>
            <a:r>
              <a:rPr sz="2000" b="0" lang="en-US">
                <a:latin typeface="Arial"/>
              </a:rPr>
              <a:t>.</a:t>
            </a:r>
          </a:p>
          <a:p>
            <a:pPr lvl="1">
              <a:spcAft>
                <a:spcPts val="600"/>
              </a:spcAft>
            </a:pPr>
            <a:r>
              <a:rPr sz="2000" b="0" lang="en-US">
                <a:latin typeface="Arial"/>
              </a:rPr>
              <a:t>Open </a:t>
            </a:r>
            <a:r>
              <a:rPr sz="2000" b="0" lang="en-US">
                <a:latin typeface="Consolas"/>
              </a:rPr>
              <a:t>agent-file-principles.md</a:t>
            </a:r>
            <a:r>
              <a:rPr sz="2000" b="0" lang="en-US">
                <a:latin typeface="Arial"/>
              </a:rPr>
              <a:t> beside it. This tutorial refers to its twelve principles by number.</a:t>
            </a:r>
          </a:p>
          <a:p>
            <a:pPr lvl="1">
              <a:spcAft>
                <a:spcPts val="600"/>
              </a:spcAft>
            </a:pPr>
            <a:r>
              <a:rPr sz="2000" b="0" lang="en-US">
                <a:latin typeface="Arial"/>
              </a:rPr>
              <a:t>Read the two rules again. Never paste anything private into any AI: student records, health or disability information, or anyone's name. Every agent ends with a named person checking its 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1: choose one job (1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An agent is a set of plain-English instructions that tells an AI assistant how to do one job, the way you would brief a new colleague. The single biggest mistake is giving it two jobs.</a:t>
            </a:r>
          </a:p>
          <a:p>
            <a:pPr marL="0" indent="0">
              <a:spcAft>
                <a:spcPts val="600"/>
              </a:spcAft>
              <a:buNone/>
            </a:pPr>
            <a:r>
              <a:rPr sz="2000" b="0" lang="en-US">
                <a:latin typeface="Arial"/>
              </a:rPr>
              <a:t>Write one sentence in this shape:</a:t>
            </a:r>
          </a:p>
          <a:p>
            <a:pPr lvl="1">
              <a:spcAft>
                <a:spcPts val="600"/>
              </a:spcAft>
              <a:buNone/>
            </a:pPr>
            <a:r>
              <a:rPr sz="2000" b="0" lang="en-US">
                <a:latin typeface="Arial"/>
              </a:rPr>
              <a:t>Given [what it is handed], produce [what it hands back], for [who reads it].</a:t>
            </a:r>
          </a:p>
          <a:p>
            <a:pPr marL="0" indent="0">
              <a:spcAft>
                <a:spcPts val="600"/>
              </a:spcAft>
              <a:buNone/>
            </a:pPr>
            <a:r>
              <a:rPr sz="2000" b="0" lang="en-US">
                <a:latin typeface="Arial"/>
              </a:rPr>
              <a:t>Then test the sentence:</a:t>
            </a:r>
          </a:p>
          <a:p>
            <a:pPr lvl="1">
              <a:spcAft>
                <a:spcPts val="600"/>
              </a:spcAft>
            </a:pPr>
            <a:r>
              <a:rPr sz="2000" b="0" lang="en-US">
                <a:latin typeface="Arial"/>
              </a:rPr>
              <a:t>Does it have the word "and" in it twice? Then you have two agents (principle 1). Pick the one you would use most this month.</a:t>
            </a:r>
          </a:p>
          <a:p>
            <a:pPr lvl="1">
              <a:spcAft>
                <a:spcPts val="600"/>
              </a:spcAft>
            </a:pPr>
            <a:r>
              <a:rPr sz="2000" b="0" lang="en-US">
                <a:latin typeface="Arial"/>
              </a:rPr>
              <a:t>Could you hand the input to a new colleague today? If the input is "the course", it is too big. If it is "a caption file and the course's list of names and terms", it is right.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1: choose one job (2 of 2)</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pPr>
            <a:r>
              <a:rPr sz="2000" b="0" lang="en-US">
                <a:latin typeface="Arial"/>
              </a:rPr>
              <a:t>Do you know who reads the output? If you cannot name them, you cannot choose its format in step 3.</a:t>
            </a:r>
          </a:p>
          <a:p>
            <a:pPr marL="0" indent="0">
              <a:spcAft>
                <a:spcPts val="600"/>
              </a:spcAft>
              <a:buNone/>
            </a:pPr>
            <a:r>
              <a:rPr sz="2000" b="0" lang="en-US">
                <a:latin typeface="Arial"/>
              </a:rPr>
              <a:t>Dev's first try was: "Check captions and fix accessibility for all our videos." That is three jobs and no reader. Dev's second try:</a:t>
            </a:r>
          </a:p>
          <a:p>
            <a:pPr lvl="1">
              <a:spcAft>
                <a:spcPts val="600"/>
              </a:spcAft>
              <a:buNone/>
            </a:pPr>
            <a:r>
              <a:rPr sz="2000" b="0" lang="en-US">
                <a:latin typeface="Arial"/>
              </a:rPr>
              <a:t>Given a lecture's caption file and the course's list of names and terms, produce a correction request for our captioning vendor, for me to check and send.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1: choose one job: Step 1 check</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You have one sentence with one input, one output and one reader.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2: write the header (1 of 3)</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header is the few lines at the top of </a:t>
            </a:r>
            <a:r>
              <a:rPr sz="2000" b="0" lang="en-US">
                <a:latin typeface="Consolas"/>
              </a:rPr>
              <a:t>SKILL.md</a:t>
            </a:r>
            <a:r>
              <a:rPr sz="2000" b="0" lang="en-US">
                <a:latin typeface="Arial"/>
              </a:rPr>
              <a:t>, between two lines of three dashes. Two fields are needed: </a:t>
            </a:r>
            <a:r>
              <a:rPr sz="2000" b="0" lang="en-US">
                <a:latin typeface="Consolas"/>
              </a:rPr>
              <a:t>name</a:t>
            </a:r>
            <a:r>
              <a:rPr sz="2000" b="0" lang="en-US">
                <a:latin typeface="Arial"/>
              </a:rPr>
              <a:t> and </a:t>
            </a:r>
            <a:r>
              <a:rPr sz="2000" b="0" lang="en-US">
                <a:latin typeface="Consolas"/>
              </a:rPr>
              <a:t>description</a:t>
            </a:r>
            <a:r>
              <a:rPr sz="2000" b="0" lang="en-US">
                <a:latin typeface="Arial"/>
              </a:rPr>
              <a:t>. The rest is optional.</a:t>
            </a:r>
          </a:p>
          <a:p>
            <a:pPr marL="0" indent="0">
              <a:spcAft>
                <a:spcPts val="600"/>
              </a:spcAft>
              <a:buNone/>
            </a:pPr>
            <a:r>
              <a:rPr sz="1800" b="0" lang="en-US">
                <a:latin typeface="Consolas"/>
              </a:rPr>
              <a:t>---</a:t>
            </a:r>
            <a:br/>
            <a:r>
              <a:rPr sz="1800" b="0" lang="en-US">
                <a:latin typeface="Consolas"/>
              </a:rPr>
              <a:t>name: caption-correction-request</a:t>
            </a:r>
            <a:br/>
            <a:r>
              <a:rPr sz="1800" b="0" lang="en-US">
                <a:latin typeface="Consolas"/>
              </a:rPr>
              <a:t>description: "Turns a lecture caption file and a course's names and terms into a correction request for the captioning vendor. Use when lecture captions have misheard names, terms or speakers."</a:t>
            </a:r>
            <a:br/>
            <a:r>
              <a:rPr sz="1800" b="0" lang="en-US">
                <a:latin typeface="Consolas"/>
              </a:rPr>
              <a:t>license: MIT</a:t>
            </a:r>
            <a:br/>
            <a:r>
              <a:rPr sz="1800" b="0" lang="en-US">
                <a:latin typeface="Consolas"/>
              </a:rPr>
              <a:t>metadata:</a:t>
            </a:r>
            <a:br/>
            <a:r>
              <a:rPr sz="1800" b="0" lang="en-US">
                <a:latin typeface="Consolas"/>
              </a:rPr>
              <a:t>  title: "Caption Correction Request"</a:t>
            </a:r>
            <a:br/>
            <a:r>
              <a:rPr sz="1800" b="0" lang="en-US">
                <a:latin typeface="Consolas"/>
              </a:rPr>
              <a:t>  author: "Dev Patel, Mesa Ridge State University"</a:t>
            </a:r>
            <a:br/>
            <a:r>
              <a:rPr sz="1800" b="0" lang="en-US">
                <a:latin typeface="Consolas"/>
              </a:rPr>
              <a:t>  version: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2: write the header (2 of 3)</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a:t>
            </a:r>
          </a:p>
          <a:p>
            <a:pPr marL="0" indent="0">
              <a:spcAft>
                <a:spcPts val="600"/>
              </a:spcAft>
              <a:buNone/>
            </a:pPr>
            <a:r>
              <a:rPr sz="2000" b="0" lang="en-US">
                <a:latin typeface="Arial"/>
              </a:rPr>
              <a:t>The name:</a:t>
            </a:r>
          </a:p>
          <a:p>
            <a:pPr lvl="1">
              <a:spcAft>
                <a:spcPts val="600"/>
              </a:spcAft>
            </a:pPr>
            <a:r>
              <a:rPr sz="2000" b="0" lang="en-US">
                <a:latin typeface="Arial"/>
              </a:rPr>
              <a:t>Lowercase letters, numbers and hyphens, at most 64 characters, no spaces (principle 2). When you install the agent, its folder must have exactly this name, or the assistant skips it without telling you.</a:t>
            </a:r>
          </a:p>
          <a:p>
            <a:pPr marL="0" indent="0">
              <a:spcAft>
                <a:spcPts val="600"/>
              </a:spcAft>
              <a:buNone/>
            </a:pPr>
            <a:r>
              <a:rPr sz="2000" b="0" lang="en-US">
                <a:latin typeface="Arial"/>
              </a:rPr>
              <a:t>The description matters more than anything else in the header:</a:t>
            </a:r>
          </a:p>
          <a:p>
            <a:pPr lvl="1">
              <a:spcAft>
                <a:spcPts val="600"/>
              </a:spcAft>
            </a:pPr>
            <a:r>
              <a:rPr sz="2000" b="0" lang="en-US">
                <a:latin typeface="Arial"/>
              </a:rPr>
              <a:t>An assistant reads only the name and description of every agent up front, and decides from those whether to use yours (principle 3). The rest of the file is read only when the agent is used.</a:t>
            </a:r>
          </a:p>
          <a:p>
            <a:pPr lvl="1">
              <a:spcAft>
                <a:spcPts val="600"/>
              </a:spcAft>
            </a:pPr>
            <a:r>
              <a:rPr sz="2000" b="0" lang="en-US">
                <a:latin typeface="Arial"/>
              </a:rPr>
              <a:t>Say what it does in one sentence. Then start a second sentence with "Use when", naming the situation that calls for it.</a:t>
            </a:r>
          </a:p>
          <a:p>
            <a:pPr lvl="1">
              <a:spcAft>
                <a:spcPts val="600"/>
              </a:spcAft>
            </a:pPr>
            <a:r>
              <a:rPr sz="2000" b="0" lang="en-US">
                <a:latin typeface="Arial"/>
              </a:rPr>
              <a:t>At most 1,024 characters. Aim for under 200.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2: write the header (3 of 3)</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pPr>
            <a:r>
              <a:rPr sz="2000" b="0" lang="en-US">
                <a:latin typeface="Arial"/>
              </a:rPr>
              <a:t>Keep the description and title inside double quotes, so a colon in your wording cannot break the header.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2: write the header: Step 2 check</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name matches the folder you will put it in. The description has a "Use when" sentence that a stranger could act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3: write the six sections</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Under the header, write these headings, in this order. Each one answers one question.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3: write the six sections: Role: who is this agent, and who does it work for?</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Name a role and a person (principle 4). The person it works for is who it writes for.</a:t>
            </a:r>
          </a:p>
          <a:p>
            <a:pPr lvl="1">
              <a:spcAft>
                <a:spcPts val="600"/>
              </a:spcAft>
              <a:buNone/>
            </a:pPr>
            <a:r>
              <a:rPr sz="2000" b="0" lang="en-US">
                <a:latin typeface="Arial"/>
              </a:rPr>
              <a:t>You are a caption quality assistant in a university media services office. You work for the media services coordinator, who sends correction requests to the captioning vendor.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3: write the six sections: Task: what is it given, and what does it give back?</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Copy your step 1 sentence, then add what "done" means (principle 5).</a:t>
            </a:r>
          </a:p>
          <a:p>
            <a:pPr lvl="1">
              <a:spcAft>
                <a:spcPts val="600"/>
              </a:spcAft>
              <a:buNone/>
            </a:pPr>
            <a:r>
              <a:rPr sz="2000" b="0" lang="en-US">
                <a:latin typeface="Arial"/>
              </a:rPr>
              <a:t>Given a lecture's caption file (WebVTT or SRT) and the course's list of names and terms, produce a correction request: every caption that misspells or mishears a listed name or term, every caption that is missing a speaker change, and the time stamp of each.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3: write the six sections: Trusted guidance: what must it use and cite?</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Name your sources, with links, and add the rule every workshop agent has: work only from the evidence given (principle 6).</a:t>
            </a:r>
          </a:p>
          <a:p>
            <a:pPr lvl="1">
              <a:spcAft>
                <a:spcPts val="600"/>
              </a:spcAft>
              <a:buNone/>
            </a:pPr>
            <a:r>
              <a:rPr sz="2000" b="0" lang="en-US">
                <a:latin typeface="Arial"/>
              </a:rPr>
              <a:t>Cite by name and link:</a:t>
            </a:r>
          </a:p>
          <a:p>
            <a:pPr lvl="2">
              <a:spcAft>
                <a:spcPts val="600"/>
              </a:spcAft>
            </a:pPr>
            <a:r>
              <a:rPr sz="2000" b="0" lang="en-US">
                <a:latin typeface="Arial"/>
                <a:hlinkClick r:id="rId2"/>
              </a:rPr>
              <a:t>WCAG 2.2, 1.2.2 Captions (Prerecorded)</a:t>
            </a:r>
          </a:p>
          <a:p>
            <a:pPr lvl="2">
              <a:spcAft>
                <a:spcPts val="600"/>
              </a:spcAft>
            </a:pPr>
            <a:r>
              <a:rPr sz="2000" b="0" lang="en-US">
                <a:latin typeface="Arial"/>
                <a:hlinkClick r:id="rId3"/>
              </a:rPr>
              <a:t>W3C WAI: captions and subtitles</a:t>
            </a:r>
          </a:p>
          <a:p>
            <a:pPr lvl="2">
              <a:spcAft>
                <a:spcPts val="600"/>
              </a:spcAft>
            </a:pPr>
            <a:r>
              <a:rPr sz="2000" b="0" lang="en-US">
                <a:latin typeface="Arial"/>
              </a:rPr>
              <a:t>Our captioning contract's accuracy clause</a:t>
            </a:r>
          </a:p>
          <a:p>
            <a:pPr lvl="1">
              <a:spcAft>
                <a:spcPts val="600"/>
              </a:spcAft>
              <a:buNone/>
            </a:pPr>
            <a:r>
              <a:rPr sz="2000" b="0" lang="en-US">
                <a:latin typeface="Arial"/>
              </a:rPr>
              <a:t>Work only from the caption file and the list of names and terms. If something is not in them, say you cannot see it. Do not guess.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3: write the six sections: Output format: what comes back, and in what shape?</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Shape it for the person who reads it (principle 7). The best format is the one your reader already uses. Dev's vendor takes a table.</a:t>
            </a:r>
          </a:p>
          <a:p>
            <a:pPr lvl="1">
              <a:spcAft>
                <a:spcPts val="600"/>
              </a:spcAft>
              <a:buNone/>
            </a:pPr>
            <a:r>
              <a:rPr sz="2000" b="0" lang="en-US">
                <a:latin typeface="Arial"/>
              </a:rPr>
              <a:t>A short note to the vendor naming the course and lecture. Then a table: time stamp, what the caption says, what it should say, and why (name, term or speaker). Most serious first. Then a "Before you send this" checklist for the coordinator.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3: write the six sections: Example: what does one good answer look like? (1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One short example teaches the shape, the tone and the length faster than any description (principle 8). Use the fictional course, never a real student.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3: write the six sections: Example: what does one good answer look like? (2 of 2)</a:t>
            </a:r>
          </a:p>
        </p:txBody>
      </p:sp>
      <p:graphicFrame>
        <p:nvGraphicFramePr>
          <p:cNvPr id="3" name="Table 2" descr="Table: Step 3: write the six sections: Example: what does one good answer look like?. Columns: Time, Caption says, Should say, Why."/>
          <p:cNvGraphicFramePr>
            <a:graphicFrameLocks noGrp="1"/>
          </p:cNvGraphicFramePr>
          <p:nvPr/>
        </p:nvGraphicFramePr>
        <p:xfrm>
          <a:off x="548640" y="1554480"/>
          <a:ext cx="11064240" cy="914400"/>
        </p:xfrm>
        <a:graphic>
          <a:graphicData uri="http://schemas.openxmlformats.org/drawingml/2006/table">
            <a:tbl>
              <a:tblPr firstRow="1" bandRow="1">
                <a:tableStyleId>{5C22544A-7EE6-4342-B048-85BDC9FD1C3A}</a:tableStyleId>
              </a:tblPr>
              <a:tblGrid>
                <a:gridCol w="2766060"/>
                <a:gridCol w="2766060"/>
                <a:gridCol w="2766060"/>
                <a:gridCol w="2766060"/>
              </a:tblGrid>
              <a:tr h="457200">
                <a:tc>
                  <a:txBody>
                    <a:bodyPr/>
                    <a:lstStyle/>
                    <a:p>
                      <a:r>
                        <a:rPr sz="1800" b="1" lang="en-US">
                          <a:latin typeface="Arial"/>
                        </a:rPr>
                        <a:t>Time</a:t>
                      </a:r>
                    </a:p>
                  </a:txBody>
                  <a:tcPr/>
                </a:tc>
                <a:tc>
                  <a:txBody>
                    <a:bodyPr/>
                    <a:lstStyle/>
                    <a:p>
                      <a:r>
                        <a:rPr sz="1800" b="1" lang="en-US">
                          <a:latin typeface="Arial"/>
                        </a:rPr>
                        <a:t>Caption says</a:t>
                      </a:r>
                    </a:p>
                  </a:txBody>
                  <a:tcPr/>
                </a:tc>
                <a:tc>
                  <a:txBody>
                    <a:bodyPr/>
                    <a:lstStyle/>
                    <a:p>
                      <a:r>
                        <a:rPr sz="1800" b="1" lang="en-US">
                          <a:latin typeface="Arial"/>
                        </a:rPr>
                        <a:t>Should say</a:t>
                      </a:r>
                    </a:p>
                  </a:txBody>
                  <a:tcPr/>
                </a:tc>
                <a:tc>
                  <a:txBody>
                    <a:bodyPr/>
                    <a:lstStyle/>
                    <a:p>
                      <a:r>
                        <a:rPr sz="1800" b="1" lang="en-US">
                          <a:latin typeface="Arial"/>
                        </a:rPr>
                        <a:t>Why</a:t>
                      </a:r>
                    </a:p>
                  </a:txBody>
                  <a:tcPr/>
                </a:tc>
              </a:tr>
              <a:tr h="457200">
                <a:tc>
                  <a:txBody>
                    <a:bodyPr wrap="square"/>
                    <a:lstStyle/>
                    <a:p>
                      <a:r>
                        <a:rPr sz="1800" b="0" lang="en-US">
                          <a:latin typeface="Arial"/>
                        </a:rPr>
                        <a:t>00:00:04.500</a:t>
                      </a:r>
                    </a:p>
                  </a:txBody>
                  <a:tcPr/>
                </a:tc>
                <a:tc>
                  <a:txBody>
                    <a:bodyPr wrap="square"/>
                    <a:lstStyle/>
                    <a:p>
                      <a:r>
                        <a:rPr sz="1800" b="0" lang="en-US">
                          <a:latin typeface="Arial"/>
                        </a:rPr>
                        <a:t>herman ebb in house</a:t>
                      </a:r>
                    </a:p>
                  </a:txBody>
                  <a:tcPr/>
                </a:tc>
                <a:tc>
                  <a:txBody>
                    <a:bodyPr wrap="square"/>
                    <a:lstStyle/>
                    <a:p>
                      <a:r>
                        <a:rPr sz="1800" b="0" lang="en-US">
                          <a:latin typeface="Arial"/>
                        </a:rPr>
                        <a:t>Hermann Ebbinghaus</a:t>
                      </a:r>
                    </a:p>
                  </a:txBody>
                  <a:tcPr/>
                </a:tc>
                <a:tc>
                  <a:txBody>
                    <a:bodyPr wrap="square"/>
                    <a:lstStyle/>
                    <a:p>
                      <a:r>
                        <a:rPr sz="1800" b="0" lang="en-US">
                          <a:latin typeface="Arial"/>
                        </a:rPr>
                        <a:t>Name on the course list</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3: write the six sections: Human review: who checks it, and what do they check?</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Name the person and what they check, and end every answer with a checklist for them (principle 9). If nobody is named, nobody reviewed it.</a:t>
            </a:r>
          </a:p>
          <a:p>
            <a:pPr lvl="1">
              <a:spcAft>
                <a:spcPts val="600"/>
              </a:spcAft>
              <a:buNone/>
            </a:pPr>
            <a:r>
              <a:rPr sz="2000" b="0" lang="en-US">
                <a:latin typeface="Arial"/>
              </a:rPr>
              <a:t>The media services coordinator checks every correction against the recording before sending, and checks anything the agent marked as not sure. End every answer with "Before you send this":</a:t>
            </a:r>
          </a:p>
          <a:p>
            <a:pPr lvl="2">
              <a:spcAft>
                <a:spcPts val="600"/>
              </a:spcAft>
            </a:pPr>
            <a:r>
              <a:rPr sz="2000" b="0" lang="en-US">
                <a:latin typeface="Arial"/>
              </a:rPr>
              <a:t>[ ] Each correction checked against the recording</a:t>
            </a:r>
          </a:p>
          <a:p>
            <a:pPr lvl="2">
              <a:spcAft>
                <a:spcPts val="600"/>
              </a:spcAft>
            </a:pPr>
            <a:r>
              <a:rPr sz="2000" b="0" lang="en-US">
                <a:latin typeface="Arial"/>
              </a:rPr>
              <a:t>[ ] Any caption marked "not sure" listened to again</a:t>
            </a:r>
          </a:p>
          <a:p>
            <a:pPr lvl="2">
              <a:spcAft>
                <a:spcPts val="600"/>
              </a:spcAft>
            </a:pPr>
            <a:r>
              <a:rPr sz="2000" b="0" lang="en-US">
                <a:latin typeface="Arial"/>
              </a:rPr>
              <a:t>[ ] Nothing in the request names a student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3: write the six sections: Step 3 check</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Every heading has at least one sentence of your own. The Example is under ten lines. Human review names a role, not "someone".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4: keep the Never rules</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End the file with a Never section. Every workshop agent keeps these three, word for word, and you may add your own (principle 10).</a:t>
            </a:r>
          </a:p>
          <a:p>
            <a:pPr marL="0" indent="0">
              <a:spcAft>
                <a:spcPts val="600"/>
              </a:spcAft>
              <a:buNone/>
            </a:pPr>
            <a:r>
              <a:rPr sz="1800" b="0" lang="en-US">
                <a:latin typeface="Consolas"/>
              </a:rPr>
              <a:t>## Never</a:t>
            </a:r>
            <a:br/>
            <a:r>
              <a:rPr sz="1800" b="0" lang="en-US">
                <a:latin typeface="Consolas"/>
              </a:rPr>
              <a:t/>
            </a:r>
            <a:br/>
            <a:r>
              <a:rPr sz="1800" b="0" lang="en-US">
                <a:latin typeface="Consolas"/>
              </a:rPr>
              <a:t>- Never ask for, or use, student names, records, accommodation details or</a:t>
            </a:r>
            <a:br/>
            <a:r>
              <a:rPr sz="1800" b="0" lang="en-US">
                <a:latin typeface="Consolas"/>
              </a:rPr>
              <a:t>  health information.</a:t>
            </a:r>
            <a:br/>
            <a:r>
              <a:rPr sz="1800" b="0" lang="en-US">
                <a:latin typeface="Consolas"/>
              </a:rPr>
              <a:t>- Never say a document is "compliant" or "accessible". Say what you checked,</a:t>
            </a:r>
            <a:br/>
            <a:r>
              <a:rPr sz="1800" b="0" lang="en-US">
                <a:latin typeface="Consolas"/>
              </a:rPr>
              <a:t>  what you found, and what a person still needs to check.</a:t>
            </a:r>
            <a:br/>
            <a:r>
              <a:rPr sz="1800" b="0" lang="en-US">
                <a:latin typeface="Consolas"/>
              </a:rPr>
              <a:t>- Never invent a finding that is not in the evidence.</a:t>
            </a:r>
          </a:p>
          <a:p>
            <a:pPr marL="0" indent="0">
              <a:spcAft>
                <a:spcPts val="600"/>
              </a:spcAft>
              <a:buNone/>
            </a:pPr>
            <a:r>
              <a:rPr sz="2000" b="0" lang="en-US">
                <a:latin typeface="Arial"/>
              </a:rPr>
              <a:t>Dev added one more: "Never change a caption's time stamps."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4: keep the Never rules: Step 4 check</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three rules are there, unchanged. Your own rule is one line.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5: try it, with no evidence (1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Now see what the agent does when it has to guess. This first answer is supposed to be weak; it shows you what to fix.</a:t>
            </a:r>
          </a:p>
          <a:p>
            <a:pPr lvl="1">
              <a:spcAft>
                <a:spcPts val="600"/>
              </a:spcAft>
              <a:buNone/>
            </a:pPr>
            <a:r>
              <a:rPr sz="2000" b="0" lang="en-US">
                <a:latin typeface="Arial"/>
              </a:rPr>
              <a:t>1. </a:t>
            </a:r>
            <a:r>
              <a:rPr sz="2000" b="0" lang="en-US">
                <a:latin typeface="Arial"/>
              </a:rPr>
              <a:t>Start a new conversation in your assistant.</a:t>
            </a:r>
          </a:p>
          <a:p>
            <a:pPr lvl="1">
              <a:spcAft>
                <a:spcPts val="600"/>
              </a:spcAft>
              <a:buNone/>
            </a:pPr>
            <a:r>
              <a:rPr sz="2000" b="0" lang="en-US">
                <a:latin typeface="Arial"/>
              </a:rPr>
              <a:t>2. </a:t>
            </a:r>
            <a:r>
              <a:rPr sz="2000" b="0" lang="en-US">
                <a:latin typeface="Arial"/>
              </a:rPr>
              <a:t>Paste the whole agent file as your first message. In VS Code with the agent installed (step 8), type </a:t>
            </a:r>
            <a:r>
              <a:rPr sz="2000" b="0" lang="en-US">
                <a:latin typeface="Consolas"/>
              </a:rPr>
              <a:t>/</a:t>
            </a:r>
            <a:r>
              <a:rPr sz="2000" b="0" lang="en-US">
                <a:latin typeface="Arial"/>
              </a:rPr>
              <a:t> and its name instead.</a:t>
            </a:r>
          </a:p>
          <a:p>
            <a:pPr lvl="1">
              <a:spcAft>
                <a:spcPts val="600"/>
              </a:spcAft>
              <a:buNone/>
            </a:pPr>
            <a:r>
              <a:rPr sz="2000" b="0" lang="en-US">
                <a:latin typeface="Arial"/>
              </a:rPr>
              <a:t>3. </a:t>
            </a:r>
            <a:r>
              <a:rPr sz="2000" b="0" lang="en-US">
                <a:latin typeface="Arial"/>
              </a:rPr>
              <a:t>Ask it to do its job, giving it only a file name. Dev asked: "Write the correction request for psy101-week3-captions.vtt."</a:t>
            </a:r>
          </a:p>
          <a:p>
            <a:pPr lvl="1">
              <a:spcAft>
                <a:spcPts val="600"/>
              </a:spcAft>
              <a:buNone/>
            </a:pPr>
            <a:r>
              <a:rPr sz="2000" b="0" lang="en-US">
                <a:latin typeface="Arial"/>
              </a:rPr>
              <a:t>4. </a:t>
            </a:r>
            <a:r>
              <a:rPr sz="2000" b="0" lang="en-US">
                <a:latin typeface="Arial"/>
              </a:rPr>
              <a:t>Read the answer, and write down every place it guessed.</a:t>
            </a:r>
          </a:p>
          <a:p>
            <a:pPr marL="0" indent="0">
              <a:spcAft>
                <a:spcPts val="600"/>
              </a:spcAft>
              <a:buNone/>
            </a:pPr>
            <a:r>
              <a:rPr sz="2000" b="0" lang="en-US">
                <a:latin typeface="Arial"/>
              </a:rPr>
              <a:t>Dev's first answer apologised for not seeing the file, then listed "common caption errors" from nowhere and called the captions "not ADA compliant". Three problems, each a lesson: it had no evidence, it filled the gap with generic advice, and it used a word its Never rules forbid.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5: try it, with no evidence (2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Read the answer for these, every time:</a:t>
            </a:r>
          </a:p>
          <a:p>
            <a:pPr lvl="1">
              <a:spcAft>
                <a:spcPts val="600"/>
              </a:spcAft>
            </a:pPr>
            <a:r>
              <a:rPr sz="2000" b="0" lang="en-US">
                <a:latin typeface="Arial"/>
              </a:rPr>
              <a:t>Did it guess at anything it was not given?</a:t>
            </a:r>
          </a:p>
          <a:p>
            <a:pPr lvl="1">
              <a:spcAft>
                <a:spcPts val="600"/>
              </a:spcAft>
            </a:pPr>
            <a:r>
              <a:rPr sz="2000" b="0" lang="en-US">
                <a:latin typeface="Arial"/>
              </a:rPr>
              <a:t>Did it cite a source, with a link?</a:t>
            </a:r>
          </a:p>
          <a:p>
            <a:pPr lvl="1">
              <a:spcAft>
                <a:spcPts val="600"/>
              </a:spcAft>
            </a:pPr>
            <a:r>
              <a:rPr sz="2000" b="0" lang="en-US">
                <a:latin typeface="Arial"/>
              </a:rPr>
              <a:t>Is the output in the shape you asked for?</a:t>
            </a:r>
          </a:p>
          <a:p>
            <a:pPr lvl="1">
              <a:spcAft>
                <a:spcPts val="600"/>
              </a:spcAft>
            </a:pPr>
            <a:r>
              <a:rPr sz="2000" b="0" lang="en-US">
                <a:latin typeface="Arial"/>
              </a:rPr>
              <a:t>Does it end with the reviewer's checklist?</a:t>
            </a:r>
          </a:p>
          <a:p>
            <a:pPr lvl="1">
              <a:spcAft>
                <a:spcPts val="600"/>
              </a:spcAft>
            </a:pPr>
            <a:r>
              <a:rPr sz="2000" b="0" lang="en-US">
                <a:latin typeface="Arial"/>
              </a:rPr>
              <a:t>Did it break a Never rule?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5: try it, with no evidence: Step 5 check</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You have the first answer, and a written list of what was wrong with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6: ground it in evidence (1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Grounding means giving the agent the evidence it needs, so it stops guessing. Evidence is a checker's report, the text of a document, or what you tell it.</a:t>
            </a:r>
          </a:p>
          <a:p>
            <a:pPr lvl="1">
              <a:spcAft>
                <a:spcPts val="600"/>
              </a:spcAft>
              <a:buNone/>
            </a:pPr>
            <a:r>
              <a:rPr sz="2000" b="0" lang="en-US">
                <a:latin typeface="Arial"/>
              </a:rPr>
              <a:t>1. </a:t>
            </a:r>
            <a:r>
              <a:rPr sz="2000" b="0" lang="en-US">
                <a:latin typeface="Arial"/>
              </a:rPr>
              <a:t>In the same conversation, give it the evidence. Dev pasted the caption file from </a:t>
            </a:r>
            <a:r>
              <a:rPr sz="2000" b="0" lang="en-US">
                <a:latin typeface="Consolas"/>
              </a:rPr>
              <a:t>sample-course/psy101-week3-captions.vtt</a:t>
            </a:r>
            <a:r>
              <a:rPr sz="2000" b="0" lang="en-US">
                <a:latin typeface="Arial"/>
              </a:rPr>
              <a:t>, then the course's names and terms: Hermann Ebbinghaus, the nonsense syllables DAX, BOK and YAT, the spacing effect.</a:t>
            </a:r>
          </a:p>
          <a:p>
            <a:pPr lvl="1">
              <a:spcAft>
                <a:spcPts val="600"/>
              </a:spcAft>
              <a:buNone/>
            </a:pPr>
            <a:r>
              <a:rPr sz="2000" b="0" lang="en-US">
                <a:latin typeface="Arial"/>
              </a:rPr>
              <a:t>2. </a:t>
            </a:r>
            <a:r>
              <a:rPr sz="2000" b="0" lang="en-US">
                <a:latin typeface="Arial"/>
              </a:rPr>
              <a:t>Ask the same question again.</a:t>
            </a:r>
          </a:p>
          <a:p>
            <a:pPr lvl="1">
              <a:spcAft>
                <a:spcPts val="600"/>
              </a:spcAft>
              <a:buNone/>
            </a:pPr>
            <a:r>
              <a:rPr sz="2000" b="0" lang="en-US">
                <a:latin typeface="Arial"/>
              </a:rPr>
              <a:t>3. </a:t>
            </a:r>
            <a:r>
              <a:rPr sz="2000" b="0" lang="en-US">
                <a:latin typeface="Arial"/>
              </a:rPr>
              <a:t>Compare the two answers side by side.</a:t>
            </a:r>
          </a:p>
          <a:p>
            <a:pPr marL="0" indent="0">
              <a:spcAft>
                <a:spcPts val="600"/>
              </a:spcAft>
              <a:buNone/>
            </a:pPr>
            <a:r>
              <a:rPr sz="2000" b="0" lang="en-US">
                <a:latin typeface="Arial"/>
              </a:rPr>
              <a:t>Dev's grounded answer found "herman ebb in house" at 00:00:04.500 and "docks and bach" at 00:00:09.000, cited 1.2.2 with its link, flagged the question from the room at 00:00:21.500 as a speaker change with no label, and ended with the checklist.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6: ground it in evidence (2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Some barriers no checker sees. Captions are the clearest case: no automated tool judges whether "ebb in house" is right. That is why the evidence here is the caption file and your list of terms, and why the reviewer listens to the recording. For a Word file, a PDF or a web page, the evidence is a checker's report: Word's, PowerPoint's or Acrobat's own Accessibility Checker, Accessibility Insights, axe or GLOW. Paste its results.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6: ground it in evidence: Step 6 check</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second answer cites at least one WCAG 2.2 criterion with a link, names what it could not check, and guesses at nothing.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7: revise, one change at a time (1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Now improve the agent file, not the answer. Change one thing, try again, and see what that one change did (principle 12).</a:t>
            </a:r>
          </a:p>
          <a:p>
            <a:pPr lvl="1">
              <a:spcAft>
                <a:spcPts val="600"/>
              </a:spcAft>
              <a:buNone/>
            </a:pPr>
            <a:r>
              <a:rPr sz="2000" b="0" lang="en-US">
                <a:latin typeface="Arial"/>
              </a:rPr>
              <a:t>1. </a:t>
            </a:r>
            <a:r>
              <a:rPr sz="2000" b="0" lang="en-US">
                <a:latin typeface="Arial"/>
              </a:rPr>
              <a:t>Ask the twelve review questions in </a:t>
            </a:r>
            <a:r>
              <a:rPr sz="2000" b="0" lang="en-US">
                <a:latin typeface="Consolas"/>
              </a:rPr>
              <a:t>agent-file-principles.md</a:t>
            </a:r>
            <a:r>
              <a:rPr sz="2000" b="0" lang="en-US">
                <a:latin typeface="Arial"/>
              </a:rPr>
              <a:t> of your agent. Every "not yet" is a revision you could make.</a:t>
            </a:r>
          </a:p>
          <a:p>
            <a:pPr lvl="1">
              <a:spcAft>
                <a:spcPts val="600"/>
              </a:spcAft>
              <a:buNone/>
            </a:pPr>
            <a:r>
              <a:rPr sz="2000" b="0" lang="en-US">
                <a:latin typeface="Arial"/>
              </a:rPr>
              <a:t>2. </a:t>
            </a:r>
            <a:r>
              <a:rPr sz="2000" b="0" lang="en-US">
                <a:latin typeface="Arial"/>
              </a:rPr>
              <a:t>Choose the one change that would most improve the next answer. Prefer a change the last answer showed was needed.</a:t>
            </a:r>
          </a:p>
          <a:p>
            <a:pPr lvl="1">
              <a:spcAft>
                <a:spcPts val="600"/>
              </a:spcAft>
              <a:buNone/>
            </a:pPr>
            <a:r>
              <a:rPr sz="2000" b="0" lang="en-US">
                <a:latin typeface="Arial"/>
              </a:rPr>
              <a:t>3. </a:t>
            </a:r>
            <a:r>
              <a:rPr sz="2000" b="0" lang="en-US">
                <a:latin typeface="Arial"/>
              </a:rPr>
              <a:t>Make that change in the file, raise </a:t>
            </a:r>
            <a:r>
              <a:rPr sz="2000" b="0" lang="en-US">
                <a:latin typeface="Consolas"/>
              </a:rPr>
              <a:t>version</a:t>
            </a:r>
            <a:r>
              <a:rPr sz="2000" b="0" lang="en-US">
                <a:latin typeface="Arial"/>
              </a:rPr>
              <a:t> by one, and save it.</a:t>
            </a:r>
          </a:p>
          <a:p>
            <a:pPr lvl="1">
              <a:spcAft>
                <a:spcPts val="600"/>
              </a:spcAft>
              <a:buNone/>
            </a:pPr>
            <a:r>
              <a:rPr sz="2000" b="0" lang="en-US">
                <a:latin typeface="Arial"/>
              </a:rPr>
              <a:t>4. </a:t>
            </a:r>
            <a:r>
              <a:rPr sz="2000" b="0" lang="en-US">
                <a:latin typeface="Arial"/>
              </a:rPr>
              <a:t>Try again, in a new conversation, with the same evidence.</a:t>
            </a:r>
          </a:p>
          <a:p>
            <a:pPr marL="0" indent="0">
              <a:spcAft>
                <a:spcPts val="600"/>
              </a:spcAft>
              <a:buNone/>
            </a:pPr>
            <a:r>
              <a:rPr sz="2000" b="0" lang="en-US">
                <a:latin typeface="Arial"/>
              </a:rPr>
              <a:t>Dev's three revisions:</a:t>
            </a:r>
          </a:p>
          <a:p>
            <a:pPr marL="0" indent="0">
              <a:spcAft>
                <a:spcPts val="600"/>
              </a:spcAft>
              <a:buNone/>
            </a:pPr>
            <a:r>
              <a:rPr sz="2000" b="0" lang="en-US">
                <a:latin typeface="Arial"/>
              </a:rPr>
              <a:t>Each row is one version, the one thing that changed, and why.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7: revise, one change at a time (2 of 5)</a:t>
            </a:r>
          </a:p>
        </p:txBody>
      </p:sp>
      <p:graphicFrame>
        <p:nvGraphicFramePr>
          <p:cNvPr id="3" name="Table 2" descr="Table: Step 7: revise, one change at a time. Columns: Version, What changed, Why."/>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800" b="1" lang="en-US">
                          <a:latin typeface="Arial"/>
                        </a:rPr>
                        <a:t>Version</a:t>
                      </a:r>
                    </a:p>
                  </a:txBody>
                  <a:tcPr/>
                </a:tc>
                <a:tc>
                  <a:txBody>
                    <a:bodyPr/>
                    <a:lstStyle/>
                    <a:p>
                      <a:r>
                        <a:rPr sz="1800" b="1" lang="en-US">
                          <a:latin typeface="Arial"/>
                        </a:rPr>
                        <a:t>What changed</a:t>
                      </a:r>
                    </a:p>
                  </a:txBody>
                  <a:tcPr/>
                </a:tc>
                <a:tc>
                  <a:txBody>
                    <a:bodyPr/>
                    <a:lstStyle/>
                    <a:p>
                      <a:r>
                        <a:rPr sz="1800" b="1" lang="en-US">
                          <a:latin typeface="Arial"/>
                        </a:rPr>
                        <a:t>Why</a:t>
                      </a:r>
                    </a:p>
                  </a:txBody>
                  <a:tcPr/>
                </a:tc>
              </a:tr>
              <a:tr h="457200">
                <a:tc>
                  <a:txBody>
                    <a:bodyPr wrap="square"/>
                    <a:lstStyle/>
                    <a:p>
                      <a:r>
                        <a:rPr sz="1800" b="0" lang="en-US">
                          <a:latin typeface="Arial"/>
                        </a:rPr>
                        <a:t>2</a:t>
                      </a:r>
                    </a:p>
                  </a:txBody>
                  <a:tcPr/>
                </a:tc>
                <a:tc>
                  <a:txBody>
                    <a:bodyPr wrap="square"/>
                    <a:lstStyle/>
                    <a:p>
                      <a:r>
                        <a:rPr sz="1800" b="0" lang="en-US">
                          <a:latin typeface="Arial"/>
                        </a:rPr>
                        <a:t>Task now says "the course's list of names and terms is part of the input; ask for it if it is missing"</a:t>
                      </a:r>
                    </a:p>
                  </a:txBody>
                  <a:tcPr/>
                </a:tc>
                <a:tc>
                  <a:txBody>
                    <a:bodyPr wrap="square"/>
                    <a:lstStyle/>
                    <a:p>
                      <a:r>
                        <a:rPr sz="1800" b="0" lang="en-US">
                          <a:latin typeface="Arial"/>
                        </a:rPr>
                        <a:t>Version 1 never asked for the list</a:t>
                      </a:r>
                    </a:p>
                  </a:txBody>
                  <a:tcPr/>
                </a:tc>
              </a:tr>
              <a:tr h="457200">
                <a:tc>
                  <a:txBody>
                    <a:bodyPr wrap="square"/>
                    <a:lstStyle/>
                    <a:p>
                      <a:r>
                        <a:rPr sz="1800" b="0" lang="en-US">
                          <a:latin typeface="Arial"/>
                        </a:rPr>
                        <a:t>3</a:t>
                      </a:r>
                    </a:p>
                  </a:txBody>
                  <a:tcPr/>
                </a:tc>
                <a:tc>
                  <a:txBody>
                    <a:bodyPr wrap="square"/>
                    <a:lstStyle/>
                    <a:p>
                      <a:r>
                        <a:rPr sz="1800" b="0" lang="en-US">
                          <a:latin typeface="Arial"/>
                        </a:rPr>
                        <a:t>Output format adds a "not sure" column</a:t>
                      </a:r>
                    </a:p>
                  </a:txBody>
                  <a:tcPr/>
                </a:tc>
                <a:tc>
                  <a:txBody>
                    <a:bodyPr wrap="square"/>
                    <a:lstStyle/>
                    <a:p>
                      <a:r>
                        <a:rPr sz="1800" b="0" lang="en-US">
                          <a:latin typeface="Arial"/>
                        </a:rPr>
                        <a:t>Version 2 presented every guess as certain</a:t>
                      </a:r>
                    </a:p>
                  </a:txBody>
                  <a:tcPr/>
                </a:tc>
              </a:tr>
              <a:tr h="457200">
                <a:tc>
                  <a:txBody>
                    <a:bodyPr wrap="square"/>
                    <a:lstStyle/>
                    <a:p>
                      <a:r>
                        <a:rPr sz="1800" b="0" lang="en-US">
                          <a:latin typeface="Arial"/>
                        </a:rPr>
                        <a:t>4</a:t>
                      </a:r>
                    </a:p>
                  </a:txBody>
                  <a:tcPr/>
                </a:tc>
                <a:tc>
                  <a:txBody>
                    <a:bodyPr wrap="square"/>
                    <a:lstStyle/>
                    <a:p>
                      <a:r>
                        <a:rPr sz="1800" b="0" lang="en-US">
                          <a:latin typeface="Arial"/>
                        </a:rPr>
                        <a:t>Human review adds "listen again to every caption marked not sure"</a:t>
                      </a:r>
                    </a:p>
                  </a:txBody>
                  <a:tcPr/>
                </a:tc>
                <a:tc>
                  <a:txBody>
                    <a:bodyPr wrap="square"/>
                    <a:lstStyle/>
                    <a:p>
                      <a:r>
                        <a:rPr sz="1800" b="0" lang="en-US">
                          <a:latin typeface="Arial"/>
                        </a:rPr>
                        <a:t>Version 3's not-sure items needed a person, and nobody was told</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7: revise, one change at a time (3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Ways agents commonly go wrong, and the one change that fixes each:</a:t>
            </a:r>
          </a:p>
          <a:p>
            <a:pPr marL="0" indent="0">
              <a:spcAft>
                <a:spcPts val="600"/>
              </a:spcAft>
              <a:buNone/>
            </a:pPr>
            <a:r>
              <a:rPr sz="2000" b="0" lang="en-US">
                <a:latin typeface="Arial"/>
              </a:rPr>
              <a:t>Each row is one thing an agent does wrong, and the one change that fixes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7: revise, one change at a time (4 of 5)</a:t>
            </a:r>
          </a:p>
        </p:txBody>
      </p:sp>
      <p:graphicFrame>
        <p:nvGraphicFramePr>
          <p:cNvPr id="3" name="Table 2" descr="Table: Step 7: revise, one change at a time. Columns: It does this, Change this."/>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It does this</a:t>
                      </a:r>
                    </a:p>
                  </a:txBody>
                  <a:tcPr/>
                </a:tc>
                <a:tc>
                  <a:txBody>
                    <a:bodyPr/>
                    <a:lstStyle/>
                    <a:p>
                      <a:r>
                        <a:rPr sz="1800" b="1" lang="en-US">
                          <a:latin typeface="Arial"/>
                        </a:rPr>
                        <a:t>Change this</a:t>
                      </a:r>
                    </a:p>
                  </a:txBody>
                  <a:tcPr/>
                </a:tc>
              </a:tr>
              <a:tr h="457200">
                <a:tc>
                  <a:txBody>
                    <a:bodyPr wrap="square"/>
                    <a:lstStyle/>
                    <a:p>
                      <a:r>
                        <a:rPr sz="1800" b="0" lang="en-US">
                          <a:latin typeface="Arial"/>
                        </a:rPr>
                        <a:t>Guesses when evidence is missing</a:t>
                      </a:r>
                    </a:p>
                  </a:txBody>
                  <a:tcPr/>
                </a:tc>
                <a:tc>
                  <a:txBody>
                    <a:bodyPr wrap="square"/>
                    <a:lstStyle/>
                    <a:p>
                      <a:r>
                        <a:rPr sz="1800" b="0" lang="en-US">
                          <a:latin typeface="Arial"/>
                        </a:rPr>
                        <a:t>Trusted guidance: "If the evidence is missing, ask for it. Do not guess"</a:t>
                      </a:r>
                    </a:p>
                  </a:txBody>
                  <a:tcPr/>
                </a:tc>
              </a:tr>
              <a:tr h="457200">
                <a:tc>
                  <a:txBody>
                    <a:bodyPr wrap="square"/>
                    <a:lstStyle/>
                    <a:p>
                      <a:r>
                        <a:rPr sz="1800" b="0" lang="en-US">
                          <a:latin typeface="Arial"/>
                        </a:rPr>
                        <a:t>Gives a lecture instead of a result</a:t>
                      </a:r>
                    </a:p>
                  </a:txBody>
                  <a:tcPr/>
                </a:tc>
                <a:tc>
                  <a:txBody>
                    <a:bodyPr wrap="square"/>
                    <a:lstStyle/>
                    <a:p>
                      <a:r>
                        <a:rPr sz="1800" b="0" lang="en-US">
                          <a:latin typeface="Arial"/>
                        </a:rPr>
                        <a:t>Output format: describe the exact shape, and shorten the Example</a:t>
                      </a:r>
                    </a:p>
                  </a:txBody>
                  <a:tcPr/>
                </a:tc>
              </a:tr>
              <a:tr h="457200">
                <a:tc>
                  <a:txBody>
                    <a:bodyPr wrap="square"/>
                    <a:lstStyle/>
                    <a:p>
                      <a:r>
                        <a:rPr sz="1800" b="0" lang="en-US">
                          <a:latin typeface="Arial"/>
                        </a:rPr>
                        <a:t>Cites WCAG with no links, or the wrong version</a:t>
                      </a:r>
                    </a:p>
                  </a:txBody>
                  <a:tcPr/>
                </a:tc>
                <a:tc>
                  <a:txBody>
                    <a:bodyPr wrap="square"/>
                    <a:lstStyle/>
                    <a:p>
                      <a:r>
                        <a:rPr sz="1800" b="0" lang="en-US">
                          <a:latin typeface="Arial"/>
                        </a:rPr>
                        <a:t>Trusted guidance: list the criteria by number, name and link</a:t>
                      </a:r>
                    </a:p>
                  </a:txBody>
                  <a:tcPr/>
                </a:tc>
              </a:tr>
              <a:tr h="457200">
                <a:tc>
                  <a:txBody>
                    <a:bodyPr wrap="square"/>
                    <a:lstStyle/>
                    <a:p>
                      <a:r>
                        <a:rPr sz="1800" b="0" lang="en-US">
                          <a:latin typeface="Arial"/>
                        </a:rPr>
                        <a:t>Says "compliant"</a:t>
                      </a:r>
                    </a:p>
                  </a:txBody>
                  <a:tcPr/>
                </a:tc>
                <a:tc>
                  <a:txBody>
                    <a:bodyPr wrap="square"/>
                    <a:lstStyle/>
                    <a:p>
                      <a:r>
                        <a:rPr sz="1800" b="0" lang="en-US">
                          <a:latin typeface="Arial"/>
                        </a:rPr>
                        <a:t>Check the Never rules are there, word for word</a:t>
                      </a:r>
                    </a:p>
                  </a:txBody>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7: revise, one change at a time (5 of 5)</a:t>
            </a:r>
          </a:p>
        </p:txBody>
      </p:sp>
      <p:graphicFrame>
        <p:nvGraphicFramePr>
          <p:cNvPr id="3" name="Table 2" descr="Table: Step 7: revise, one change at a time. Columns: It does this, Change this."/>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It does this</a:t>
                      </a:r>
                    </a:p>
                  </a:txBody>
                  <a:tcPr/>
                </a:tc>
                <a:tc>
                  <a:txBody>
                    <a:bodyPr/>
                    <a:lstStyle/>
                    <a:p>
                      <a:r>
                        <a:rPr sz="1800" b="1" lang="en-US">
                          <a:latin typeface="Arial"/>
                        </a:rPr>
                        <a:t>Change this</a:t>
                      </a:r>
                    </a:p>
                  </a:txBody>
                  <a:tcPr/>
                </a:tc>
              </a:tr>
              <a:tr h="457200">
                <a:tc>
                  <a:txBody>
                    <a:bodyPr wrap="square"/>
                    <a:lstStyle/>
                    <a:p>
                      <a:r>
                        <a:rPr sz="1800" b="0" lang="en-US">
                          <a:latin typeface="Arial"/>
                        </a:rPr>
                        <a:t>Does two jobs</a:t>
                      </a:r>
                    </a:p>
                  </a:txBody>
                  <a:tcPr/>
                </a:tc>
                <a:tc>
                  <a:txBody>
                    <a:bodyPr wrap="square"/>
                    <a:lstStyle/>
                    <a:p>
                      <a:r>
                        <a:rPr sz="1800" b="0" lang="en-US">
                          <a:latin typeface="Arial"/>
                        </a:rPr>
                        <a:t>Task: cut to one; make the second job its own agent</a:t>
                      </a:r>
                    </a:p>
                  </a:txBody>
                  <a:tcPr/>
                </a:tc>
              </a:tr>
              <a:tr h="457200">
                <a:tc>
                  <a:txBody>
                    <a:bodyPr wrap="square"/>
                    <a:lstStyle/>
                    <a:p>
                      <a:r>
                        <a:rPr sz="1800" b="0" lang="en-US">
                          <a:latin typeface="Arial"/>
                        </a:rPr>
                        <a:t>The review step is vague</a:t>
                      </a:r>
                    </a:p>
                  </a:txBody>
                  <a:tcPr/>
                </a:tc>
                <a:tc>
                  <a:txBody>
                    <a:bodyPr wrap="square"/>
                    <a:lstStyle/>
                    <a:p>
                      <a:r>
                        <a:rPr sz="1800" b="0" lang="en-US">
                          <a:latin typeface="Arial"/>
                        </a:rPr>
                        <a:t>Human review: name the role and what they check</a:t>
                      </a:r>
                    </a:p>
                  </a:txBody>
                  <a:tcPr/>
                </a:tc>
              </a:tr>
              <a:tr h="457200">
                <a:tc>
                  <a:txBody>
                    <a:bodyPr wrap="square"/>
                    <a:lstStyle/>
                    <a:p>
                      <a:r>
                        <a:rPr sz="1800" b="0" lang="en-US">
                          <a:latin typeface="Arial"/>
                        </a:rPr>
                        <a:t>Gets too long to read</a:t>
                      </a:r>
                    </a:p>
                  </a:txBody>
                  <a:tcPr/>
                </a:tc>
                <a:tc>
                  <a:txBody>
                    <a:bodyPr wrap="square"/>
                    <a:lstStyle/>
                    <a:p>
                      <a:r>
                        <a:rPr sz="1800" b="0" lang="en-US">
                          <a:latin typeface="Arial"/>
                        </a:rPr>
                        <a:t>Move reference material into a </a:t>
                      </a:r>
                      <a:r>
                        <a:rPr sz="1800" b="0" lang="en-US">
                          <a:latin typeface="Consolas"/>
                        </a:rPr>
                        <a:t>references</a:t>
                      </a:r>
                      <a:r>
                        <a:rPr sz="1800" b="0" lang="en-US">
                          <a:latin typeface="Arial"/>
                        </a:rPr>
                        <a:t> folder (below)</a:t>
                      </a: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7: revise, one change at a time: When the file gets long</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Keep </a:t>
            </a:r>
            <a:r>
              <a:rPr sz="2000" b="0" lang="en-US">
                <a:latin typeface="Consolas"/>
              </a:rPr>
              <a:t>SKILL.md</a:t>
            </a:r>
            <a:r>
              <a:rPr sz="2000" b="0" lang="en-US">
                <a:latin typeface="Arial"/>
              </a:rPr>
              <a:t> short enough to read in five minutes (principle 11). The Agent Skills format asks for under 500 lines. Long material, such as a vendor's style guide or your office's procedure, goes in a </a:t>
            </a:r>
            <a:r>
              <a:rPr sz="2000" b="0" lang="en-US">
                <a:latin typeface="Consolas"/>
              </a:rPr>
              <a:t>references</a:t>
            </a:r>
            <a:r>
              <a:rPr sz="2000" b="0" lang="en-US">
                <a:latin typeface="Arial"/>
              </a:rPr>
              <a:t> folder beside </a:t>
            </a:r>
            <a:r>
              <a:rPr sz="2000" b="0" lang="en-US">
                <a:latin typeface="Consolas"/>
              </a:rPr>
              <a:t>SKILL.md</a:t>
            </a:r>
            <a:r>
              <a:rPr sz="2000" b="0" lang="en-US">
                <a:latin typeface="Arial"/>
              </a:rPr>
              <a:t>. Point to it from the instructions, for example "For the vendor's spelling rules, read references/vendor-style.md". The assistant opens that file only when the instructions send it there.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7: revise, one change at a time: When to split one agent into two</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Split it when the Task has grown a second job, when two readers need two different formats, or when the Example no longer fits in ten lines. Dev later wrote a second agent that drafts the note to the instructor about the same captions: same evidence, different reader, different job.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7: revise, one change at a time: Step 7 check</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You have at least three versions, each with one change you can name.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8: install it and share it (1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same file works everywhere; only the place changes. Each row is one tool, where the file goes, and how you use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8: install it and share it (2 of 5)</a:t>
            </a:r>
          </a:p>
        </p:txBody>
      </p:sp>
      <p:graphicFrame>
        <p:nvGraphicFramePr>
          <p:cNvPr id="3" name="Table 2" descr="Table: Step 8: install it and share it. Columns: Tool, Put the file here, Then."/>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800" b="1" lang="en-US">
                          <a:latin typeface="Arial"/>
                        </a:rPr>
                        <a:t>Tool</a:t>
                      </a:r>
                    </a:p>
                  </a:txBody>
                  <a:tcPr/>
                </a:tc>
                <a:tc>
                  <a:txBody>
                    <a:bodyPr/>
                    <a:lstStyle/>
                    <a:p>
                      <a:r>
                        <a:rPr sz="1800" b="1" lang="en-US">
                          <a:latin typeface="Arial"/>
                        </a:rPr>
                        <a:t>Put the file here</a:t>
                      </a:r>
                    </a:p>
                  </a:txBody>
                  <a:tcPr/>
                </a:tc>
                <a:tc>
                  <a:txBody>
                    <a:bodyPr/>
                    <a:lstStyle/>
                    <a:p>
                      <a:r>
                        <a:rPr sz="1800" b="1" lang="en-US">
                          <a:latin typeface="Arial"/>
                        </a:rPr>
                        <a:t>Then</a:t>
                      </a:r>
                    </a:p>
                  </a:txBody>
                  <a:tcPr/>
                </a:tc>
              </a:tr>
              <a:tr h="457200">
                <a:tc>
                  <a:txBody>
                    <a:bodyPr wrap="square"/>
                    <a:lstStyle/>
                    <a:p>
                      <a:r>
                        <a:rPr sz="1800" b="0" lang="en-US">
                          <a:latin typeface="Arial"/>
                        </a:rPr>
                        <a:t>VS Code with GitHub Copilot, on a computer or at vscode.dev</a:t>
                      </a:r>
                    </a:p>
                  </a:txBody>
                  <a:tcPr/>
                </a:tc>
                <a:tc>
                  <a:txBody>
                    <a:bodyPr wrap="square"/>
                    <a:lstStyle/>
                    <a:p>
                      <a:r>
                        <a:rPr sz="1800" b="0" lang="en-US">
                          <a:latin typeface="Consolas"/>
                        </a:rPr>
                        <a:t>.github/skills/&lt;name&gt;/SKILL.md</a:t>
                      </a:r>
                      <a:r>
                        <a:rPr sz="1800" b="0" lang="en-US">
                          <a:latin typeface="Arial"/>
                        </a:rPr>
                        <a:t> in the folder you open</a:t>
                      </a:r>
                    </a:p>
                  </a:txBody>
                  <a:tcPr/>
                </a:tc>
                <a:tc>
                  <a:txBody>
                    <a:bodyPr wrap="square"/>
                    <a:lstStyle/>
                    <a:p>
                      <a:r>
                        <a:rPr sz="1800" b="0" lang="en-US">
                          <a:latin typeface="Arial"/>
                        </a:rPr>
                        <a:t>Type </a:t>
                      </a:r>
                      <a:r>
                        <a:rPr sz="1800" b="0" lang="en-US">
                          <a:latin typeface="Consolas"/>
                        </a:rPr>
                        <a:t>/</a:t>
                      </a:r>
                      <a:r>
                        <a:rPr sz="1800" b="0" lang="en-US">
                          <a:latin typeface="Arial"/>
                        </a:rPr>
                        <a:t> and the agent's name in Copilot Chat</a:t>
                      </a:r>
                    </a:p>
                  </a:txBody>
                  <a:tcPr/>
                </a:tc>
              </a:tr>
              <a:tr h="457200">
                <a:tc>
                  <a:txBody>
                    <a:bodyPr wrap="square"/>
                    <a:lstStyle/>
                    <a:p>
                      <a:r>
                        <a:rPr sz="1800" b="0" lang="en-US">
                          <a:latin typeface="Arial"/>
                        </a:rPr>
                        <a:t>GitHub Copilot CLI</a:t>
                      </a:r>
                    </a:p>
                  </a:txBody>
                  <a:tcPr/>
                </a:tc>
                <a:tc>
                  <a:txBody>
                    <a:bodyPr wrap="square"/>
                    <a:lstStyle/>
                    <a:p>
                      <a:r>
                        <a:rPr sz="1800" b="0" lang="en-US">
                          <a:latin typeface="Consolas"/>
                        </a:rPr>
                        <a:t>.github/skills/&lt;name&gt;/SKILL.md</a:t>
                      </a:r>
                      <a:r>
                        <a:rPr sz="1800" b="0" lang="en-US">
                          <a:latin typeface="Arial"/>
                        </a:rPr>
                        <a:t> in the project, or </a:t>
                      </a:r>
                      <a:r>
                        <a:rPr sz="1800" b="0" lang="en-US">
                          <a:latin typeface="Consolas"/>
                        </a:rPr>
                        <a:t>~/.agents/skills/&lt;name&gt;/SKILL.md</a:t>
                      </a:r>
                      <a:r>
                        <a:rPr sz="1800" b="0" lang="en-US">
                          <a:latin typeface="Arial"/>
                        </a:rPr>
                        <a:t> for every project</a:t>
                      </a:r>
                    </a:p>
                  </a:txBody>
                  <a:tcPr/>
                </a:tc>
                <a:tc>
                  <a:txBody>
                    <a:bodyPr wrap="square"/>
                    <a:lstStyle/>
                    <a:p>
                      <a:r>
                        <a:rPr sz="1800" b="0" lang="en-US">
                          <a:latin typeface="Arial"/>
                        </a:rPr>
                        <a:t>It appears by name</a:t>
                      </a:r>
                    </a:p>
                  </a:txBody>
                  <a:tcPr/>
                </a:tc>
              </a:tr>
              <a:tr h="457200">
                <a:tc>
                  <a:txBody>
                    <a:bodyPr wrap="square"/>
                    <a:lstStyle/>
                    <a:p>
                      <a:r>
                        <a:rPr sz="1800" b="0" lang="en-US">
                          <a:latin typeface="Arial"/>
                        </a:rPr>
                        <a:t>Claude Code</a:t>
                      </a:r>
                    </a:p>
                  </a:txBody>
                  <a:tcPr/>
                </a:tc>
                <a:tc>
                  <a:txBody>
                    <a:bodyPr wrap="square"/>
                    <a:lstStyle/>
                    <a:p>
                      <a:r>
                        <a:rPr sz="1800" b="0" lang="en-US">
                          <a:latin typeface="Consolas"/>
                        </a:rPr>
                        <a:t>.claude/skills/&lt;name&gt;/SKILL.md</a:t>
                      </a:r>
                      <a:r>
                        <a:rPr sz="1800" b="0" lang="en-US">
                          <a:latin typeface="Arial"/>
                        </a:rPr>
                        <a:t>, or </a:t>
                      </a:r>
                      <a:r>
                        <a:rPr sz="1800" b="0" lang="en-US">
                          <a:latin typeface="Consolas"/>
                        </a:rPr>
                        <a:t>~/.claude/skills/&lt;name&gt;/SKILL.md</a:t>
                      </a:r>
                      <a:r>
                        <a:rPr sz="1800" b="0" lang="en-US">
                          <a:latin typeface="Arial"/>
                        </a:rPr>
                        <a:t> for every project</a:t>
                      </a:r>
                    </a:p>
                  </a:txBody>
                  <a:tcPr/>
                </a:tc>
                <a:tc>
                  <a:txBody>
                    <a:bodyPr wrap="square"/>
                    <a:lstStyle/>
                    <a:p>
                      <a:r>
                        <a:rPr sz="1800" b="0" lang="en-US">
                          <a:latin typeface="Arial"/>
                        </a:rPr>
                        <a:t>It appears by name</a:t>
                      </a:r>
                    </a:p>
                  </a:txBody>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8: install it and share it (3 of 5)</a:t>
            </a:r>
          </a:p>
        </p:txBody>
      </p:sp>
      <p:graphicFrame>
        <p:nvGraphicFramePr>
          <p:cNvPr id="3" name="Table 2" descr="Table: Step 8: install it and share it. Columns: Tool, Put the file here, Then."/>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800" b="1" lang="en-US">
                          <a:latin typeface="Arial"/>
                        </a:rPr>
                        <a:t>Tool</a:t>
                      </a:r>
                    </a:p>
                  </a:txBody>
                  <a:tcPr/>
                </a:tc>
                <a:tc>
                  <a:txBody>
                    <a:bodyPr/>
                    <a:lstStyle/>
                    <a:p>
                      <a:r>
                        <a:rPr sz="1800" b="1" lang="en-US">
                          <a:latin typeface="Arial"/>
                        </a:rPr>
                        <a:t>Put the file here</a:t>
                      </a:r>
                    </a:p>
                  </a:txBody>
                  <a:tcPr/>
                </a:tc>
                <a:tc>
                  <a:txBody>
                    <a:bodyPr/>
                    <a:lstStyle/>
                    <a:p>
                      <a:r>
                        <a:rPr sz="1800" b="1" lang="en-US">
                          <a:latin typeface="Arial"/>
                        </a:rPr>
                        <a:t>Then</a:t>
                      </a:r>
                    </a:p>
                  </a:txBody>
                  <a:tcPr/>
                </a:tc>
              </a:tr>
              <a:tr h="457200">
                <a:tc>
                  <a:txBody>
                    <a:bodyPr wrap="square"/>
                    <a:lstStyle/>
                    <a:p>
                      <a:r>
                        <a:rPr sz="1800" b="0" lang="en-US">
                          <a:latin typeface="Arial"/>
                        </a:rPr>
                        <a:t>Codex</a:t>
                      </a:r>
                    </a:p>
                  </a:txBody>
                  <a:tcPr/>
                </a:tc>
                <a:tc>
                  <a:txBody>
                    <a:bodyPr wrap="square"/>
                    <a:lstStyle/>
                    <a:p>
                      <a:r>
                        <a:rPr sz="1800" b="0" lang="en-US">
                          <a:latin typeface="Consolas"/>
                        </a:rPr>
                        <a:t>.agents/skills/&lt;name&gt;/SKILL.md</a:t>
                      </a:r>
                      <a:r>
                        <a:rPr sz="1800" b="0" lang="en-US">
                          <a:latin typeface="Arial"/>
                        </a:rPr>
                        <a:t>, or </a:t>
                      </a:r>
                      <a:r>
                        <a:rPr sz="1800" b="0" lang="en-US">
                          <a:latin typeface="Consolas"/>
                        </a:rPr>
                        <a:t>~/.agents/skills/&lt;name&gt;/SKILL.md</a:t>
                      </a:r>
                    </a:p>
                  </a:txBody>
                  <a:tcPr/>
                </a:tc>
                <a:tc>
                  <a:txBody>
                    <a:bodyPr wrap="square"/>
                    <a:lstStyle/>
                    <a:p>
                      <a:r>
                        <a:rPr sz="1800" b="0" lang="en-US">
                          <a:latin typeface="Arial"/>
                        </a:rPr>
                        <a:t>It appears by name</a:t>
                      </a:r>
                    </a:p>
                  </a:txBody>
                  <a:tcPr/>
                </a:tc>
              </a:tr>
              <a:tr h="457200">
                <a:tc>
                  <a:txBody>
                    <a:bodyPr wrap="square"/>
                    <a:lstStyle/>
                    <a:p>
                      <a:r>
                        <a:rPr sz="1800" b="0" lang="en-US">
                          <a:latin typeface="Arial"/>
                        </a:rPr>
                        <a:t>Gemini CLI</a:t>
                      </a:r>
                    </a:p>
                  </a:txBody>
                  <a:tcPr/>
                </a:tc>
                <a:tc>
                  <a:txBody>
                    <a:bodyPr wrap="square"/>
                    <a:lstStyle/>
                    <a:p>
                      <a:r>
                        <a:rPr sz="1800" b="0" lang="en-US">
                          <a:latin typeface="Consolas"/>
                        </a:rPr>
                        <a:t>.gemini/skills/&lt;name&gt;/SKILL.md</a:t>
                      </a:r>
                      <a:r>
                        <a:rPr sz="1800" b="0" lang="en-US">
                          <a:latin typeface="Arial"/>
                        </a:rPr>
                        <a:t>, or </a:t>
                      </a:r>
                      <a:r>
                        <a:rPr sz="1800" b="0" lang="en-US">
                          <a:latin typeface="Consolas"/>
                        </a:rPr>
                        <a:t>.agents/skills/&lt;name&gt;/SKILL.md</a:t>
                      </a:r>
                    </a:p>
                  </a:txBody>
                  <a:tcPr/>
                </a:tc>
                <a:tc>
                  <a:txBody>
                    <a:bodyPr wrap="square"/>
                    <a:lstStyle/>
                    <a:p>
                      <a:r>
                        <a:rPr sz="1800" b="0" lang="en-US">
                          <a:latin typeface="Arial"/>
                        </a:rPr>
                        <a:t>It appears by name</a:t>
                      </a:r>
                    </a:p>
                  </a:txBody>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8: install it and share it (4 of 5)</a:t>
            </a:r>
          </a:p>
        </p:txBody>
      </p:sp>
      <p:graphicFrame>
        <p:nvGraphicFramePr>
          <p:cNvPr id="3" name="Table 2" descr="Table: Step 8: install it and share it. Columns: Tool, Put the file here, Then."/>
          <p:cNvGraphicFramePr>
            <a:graphicFrameLocks noGrp="1"/>
          </p:cNvGraphicFramePr>
          <p:nvPr/>
        </p:nvGraphicFramePr>
        <p:xfrm>
          <a:off x="548640" y="1554480"/>
          <a:ext cx="11064240" cy="9144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800" b="1" lang="en-US">
                          <a:latin typeface="Arial"/>
                        </a:rPr>
                        <a:t>Tool</a:t>
                      </a:r>
                    </a:p>
                  </a:txBody>
                  <a:tcPr/>
                </a:tc>
                <a:tc>
                  <a:txBody>
                    <a:bodyPr/>
                    <a:lstStyle/>
                    <a:p>
                      <a:r>
                        <a:rPr sz="1800" b="1" lang="en-US">
                          <a:latin typeface="Arial"/>
                        </a:rPr>
                        <a:t>Put the file here</a:t>
                      </a:r>
                    </a:p>
                  </a:txBody>
                  <a:tcPr/>
                </a:tc>
                <a:tc>
                  <a:txBody>
                    <a:bodyPr/>
                    <a:lstStyle/>
                    <a:p>
                      <a:r>
                        <a:rPr sz="1800" b="1" lang="en-US">
                          <a:latin typeface="Arial"/>
                        </a:rPr>
                        <a:t>Then</a:t>
                      </a:r>
                    </a:p>
                  </a:txBody>
                  <a:tcPr/>
                </a:tc>
              </a:tr>
              <a:tr h="457200">
                <a:tc>
                  <a:txBody>
                    <a:bodyPr wrap="square"/>
                    <a:lstStyle/>
                    <a:p>
                      <a:r>
                        <a:rPr sz="1800" b="0" lang="en-US">
                          <a:latin typeface="Arial"/>
                        </a:rPr>
                        <a:t>ChatGPT, Claude, Gemini, Copilot on github.com, or a campus assistant, in a browser</a:t>
                      </a:r>
                    </a:p>
                  </a:txBody>
                  <a:tcPr/>
                </a:tc>
                <a:tc>
                  <a:txBody>
                    <a:bodyPr wrap="square"/>
                    <a:lstStyle/>
                    <a:p>
                      <a:r>
                        <a:rPr sz="1800" b="0" lang="en-US">
                          <a:latin typeface="Arial"/>
                        </a:rPr>
                        <a:t>Paste the whole file as your first message, or into a project's or custom assistant's instructions</a:t>
                      </a:r>
                    </a:p>
                  </a:txBody>
                  <a:tcPr/>
                </a:tc>
                <a:tc>
                  <a:txBody>
                    <a:bodyPr wrap="square"/>
                    <a:lstStyle/>
                    <a:p>
                      <a:r>
                        <a:rPr sz="1800" b="0" lang="en-US">
                          <a:latin typeface="Arial"/>
                        </a:rPr>
                        <a:t>Ask in the same conversation</a:t>
                      </a:r>
                    </a:p>
                  </a:txBody>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8: install it and share it (5 of 5)</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In ChatGPT on the web and on a phone, a skill works only when it comes in a plugin from ChatGPT's directory, so pasting is the way in for your own agent. In the ChatGPT desktop app, standalone skills work too.</a:t>
            </a:r>
          </a:p>
          <a:p>
            <a:pPr marL="0" indent="0">
              <a:spcAft>
                <a:spcPts val="600"/>
              </a:spcAft>
              <a:buNone/>
            </a:pPr>
            <a:r>
              <a:rPr sz="2000" b="0" lang="en-US">
                <a:latin typeface="Arial"/>
              </a:rPr>
              <a:t>If the agent does not appear, check three things: the folder name matches </a:t>
            </a:r>
            <a:r>
              <a:rPr sz="2000" b="0" lang="en-US">
                <a:latin typeface="Consolas"/>
              </a:rPr>
              <a:t>name</a:t>
            </a:r>
            <a:r>
              <a:rPr sz="2000" b="0" lang="en-US">
                <a:latin typeface="Arial"/>
              </a:rPr>
              <a:t> exactly; the header starts and ends with three dashes; you started a new chat after installing it.</a:t>
            </a:r>
          </a:p>
          <a:p>
            <a:pPr marL="0" indent="0">
              <a:spcAft>
                <a:spcPts val="600"/>
              </a:spcAft>
              <a:buNone/>
            </a:pPr>
            <a:r>
              <a:rPr sz="2000" b="0" lang="en-US">
                <a:latin typeface="Arial"/>
              </a:rPr>
              <a:t>To share it, open letitglow.app/ahg/share, choose your newest version, and press the button. It goes into the AHG 2026 collection on GitHub, committed in your name, and into the Accessibility Agents project with you credited.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 8: install it and share it: Step 8 check</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agent answers by name where you work, and you know where its newest version is.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Keeping it good</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pPr>
            <a:r>
              <a:rPr sz="2000" b="0" lang="en-US">
                <a:latin typeface="Arial"/>
              </a:rPr>
              <a:t>Re-run it whenever a standard, a policy or your vendor's contract changes, and update Trusted guidance first.</a:t>
            </a:r>
          </a:p>
          <a:p>
            <a:pPr lvl="1">
              <a:spcAft>
                <a:spcPts val="600"/>
              </a:spcAft>
            </a:pPr>
            <a:r>
              <a:rPr sz="2000" b="0" lang="en-US">
                <a:latin typeface="Arial"/>
              </a:rPr>
              <a:t>Keep a short changelog at the end of the file: version, date, the one change.</a:t>
            </a:r>
          </a:p>
          <a:p>
            <a:pPr lvl="1">
              <a:spcAft>
                <a:spcPts val="600"/>
              </a:spcAft>
            </a:pPr>
            <a:r>
              <a:rPr sz="2000" b="0" lang="en-US">
                <a:latin typeface="Arial"/>
              </a:rPr>
              <a:t>When someone else's agent does part of your job better, use theirs and give credit. Accessibility Agents has 113 skills you can read and borrow from; </a:t>
            </a:r>
            <a:r>
              <a:rPr sz="2000" b="0" lang="en-US">
                <a:latin typeface="Consolas"/>
              </a:rPr>
              <a:t>accessibility-agents.md</a:t>
            </a:r>
            <a:r>
              <a:rPr sz="2000" b="0" lang="en-US">
                <a:latin typeface="Arial"/>
              </a:rPr>
              <a:t> in this kit says how to get them.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Practice</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Three exercises, each with a model answer. Try each one before you read the answer.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Practice: Exercise 1: a description that says when</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Rewrite this description so an assistant knows when to use it: "Helps with PDFs."</a:t>
            </a:r>
          </a:p>
          <a:p>
            <a:pPr marL="0" indent="0">
              <a:spcAft>
                <a:spcPts val="600"/>
              </a:spcAft>
              <a:buNone/>
            </a:pPr>
            <a:r>
              <a:rPr sz="2000" b="0" lang="en-US">
                <a:latin typeface="Arial"/>
              </a:rPr>
              <a:t>Model answer: "Plans fixes for an untagged or scanned course PDF from Acrobat's Accessibility Checker report. Use when a course PDF fails Acrobat's check or cannot be read aloud."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Practice: Exercise 2: one job, not two</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This Task has two jobs. Split it: "Review the syllabus for accessibility and write an email to the instructor."</a:t>
            </a:r>
          </a:p>
          <a:p>
            <a:pPr marL="0" indent="0">
              <a:spcAft>
                <a:spcPts val="600"/>
              </a:spcAft>
              <a:buNone/>
            </a:pPr>
            <a:r>
              <a:rPr sz="2000" b="0" lang="en-US">
                <a:latin typeface="Arial"/>
              </a:rPr>
              <a:t>Model answer: agent 1, "Given a checker's report on a syllabus, list each barrier with its WCAG 2.2 criterion and fix." Agent 2, "Given that list, write a short, kind note to the instructor teaching the one habit behind most of it." The second is Jordan's faculty coach in </a:t>
            </a:r>
            <a:r>
              <a:rPr sz="2000" b="0" lang="en-US">
                <a:latin typeface="Consolas"/>
              </a:rPr>
              <a:t>examples/</a:t>
            </a:r>
            <a:r>
              <a:rPr sz="2000" b="0" lang="en-US">
                <a:latin typeface="Arial"/>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Practice: Exercise 3: a review step with a name on it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This Human review is too vague. Fix it: "Someone should check this."</a:t>
            </a:r>
          </a:p>
          <a:p>
            <a:pPr marL="0" indent="0">
              <a:spcAft>
                <a:spcPts val="600"/>
              </a:spcAft>
              <a:buNone/>
            </a:pPr>
            <a:r>
              <a:rPr sz="2000" b="0" lang="en-US">
                <a:latin typeface="Arial"/>
              </a:rPr>
              <a:t>Model answer: "The alternate format specialist checks the converted text against the original, page by page, before it goes to the student. End every answer with a 'Before you send this' checklist."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One-page checklist (1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Go down this list before you share an agent.</a:t>
            </a:r>
          </a:p>
          <a:p>
            <a:pPr lvl="1">
              <a:spcAft>
                <a:spcPts val="600"/>
              </a:spcAft>
            </a:pPr>
            <a:r>
              <a:rPr sz="2000" b="0" lang="en-US">
                <a:latin typeface="Arial"/>
              </a:rPr>
              <a:t>[ ] One job: given what, produce what, for whom.</a:t>
            </a:r>
          </a:p>
          <a:p>
            <a:pPr lvl="1">
              <a:spcAft>
                <a:spcPts val="600"/>
              </a:spcAft>
            </a:pPr>
            <a:r>
              <a:rPr sz="2000" b="0" lang="en-US">
                <a:latin typeface="Arial"/>
              </a:rPr>
              <a:t>[ ] </a:t>
            </a:r>
            <a:r>
              <a:rPr sz="2000" b="0" lang="en-US">
                <a:latin typeface="Consolas"/>
              </a:rPr>
              <a:t>name</a:t>
            </a:r>
            <a:r>
              <a:rPr sz="2000" b="0" lang="en-US">
                <a:latin typeface="Arial"/>
              </a:rPr>
              <a:t>: lowercase, hyphens, at most 64 characters, matches the folder.</a:t>
            </a:r>
          </a:p>
          <a:p>
            <a:pPr lvl="1">
              <a:spcAft>
                <a:spcPts val="600"/>
              </a:spcAft>
            </a:pPr>
            <a:r>
              <a:rPr sz="2000" b="0" lang="en-US">
                <a:latin typeface="Arial"/>
              </a:rPr>
              <a:t>[ ] </a:t>
            </a:r>
            <a:r>
              <a:rPr sz="2000" b="0" lang="en-US">
                <a:latin typeface="Consolas"/>
              </a:rPr>
              <a:t>description</a:t>
            </a:r>
            <a:r>
              <a:rPr sz="2000" b="0" lang="en-US">
                <a:latin typeface="Arial"/>
              </a:rPr>
              <a:t>: what it does, then "Use when".</a:t>
            </a:r>
          </a:p>
          <a:p>
            <a:pPr lvl="1">
              <a:spcAft>
                <a:spcPts val="600"/>
              </a:spcAft>
            </a:pPr>
            <a:r>
              <a:rPr sz="2000" b="0" lang="en-US">
                <a:latin typeface="Arial"/>
              </a:rPr>
              <a:t>[ ] Role names a role and who it works for.</a:t>
            </a:r>
          </a:p>
          <a:p>
            <a:pPr lvl="1">
              <a:spcAft>
                <a:spcPts val="600"/>
              </a:spcAft>
            </a:pPr>
            <a:r>
              <a:rPr sz="2000" b="0" lang="en-US">
                <a:latin typeface="Arial"/>
              </a:rPr>
              <a:t>[ ] Task names the input and the output.</a:t>
            </a:r>
          </a:p>
          <a:p>
            <a:pPr lvl="1">
              <a:spcAft>
                <a:spcPts val="600"/>
              </a:spcAft>
            </a:pPr>
            <a:r>
              <a:rPr sz="2000" b="0" lang="en-US">
                <a:latin typeface="Arial"/>
              </a:rPr>
              <a:t>[ ] Trusted guidance links its sources and says to work only from evidence.</a:t>
            </a:r>
          </a:p>
          <a:p>
            <a:pPr lvl="1">
              <a:spcAft>
                <a:spcPts val="600"/>
              </a:spcAft>
            </a:pPr>
            <a:r>
              <a:rPr sz="2000" b="0" lang="en-US">
                <a:latin typeface="Arial"/>
              </a:rPr>
              <a:t>[ ] Output format is shaped for the reader.</a:t>
            </a:r>
          </a:p>
          <a:p>
            <a:pPr lvl="1">
              <a:spcAft>
                <a:spcPts val="600"/>
              </a:spcAft>
            </a:pPr>
            <a:r>
              <a:rPr sz="2000" b="0" lang="en-US">
                <a:latin typeface="Arial"/>
              </a:rPr>
              <a:t>[ ] One short example of a good answer.</a:t>
            </a:r>
          </a:p>
          <a:p>
            <a:pPr lvl="1">
              <a:spcAft>
                <a:spcPts val="600"/>
              </a:spcAft>
            </a:pPr>
            <a:r>
              <a:rPr sz="2000" b="0" lang="en-US">
                <a:latin typeface="Arial"/>
              </a:rPr>
              <a:t>[ ] Human review names who checks what, and ends with a checklist.</a:t>
            </a:r>
          </a:p>
          <a:p>
            <a:pPr lvl="1">
              <a:spcAft>
                <a:spcPts val="600"/>
              </a:spcAft>
            </a:pPr>
            <a:r>
              <a:rPr sz="2000" b="0" lang="en-US">
                <a:latin typeface="Arial"/>
              </a:rPr>
              <a:t>[ ] The three Never rules, word for word.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One-page checklist (2 of 2)</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pPr>
            <a:r>
              <a:rPr sz="2000" b="0" lang="en-US">
                <a:latin typeface="Arial"/>
              </a:rPr>
              <a:t>[ ] Short enough to read in five minutes; long material in </a:t>
            </a:r>
            <a:r>
              <a:rPr sz="2000" b="0" lang="en-US">
                <a:latin typeface="Consolas"/>
              </a:rPr>
              <a:t>references</a:t>
            </a:r>
            <a:r>
              <a:rPr sz="2000" b="0" lang="en-US">
                <a:latin typeface="Arial"/>
              </a:rPr>
              <a:t>.</a:t>
            </a:r>
          </a:p>
          <a:p>
            <a:pPr lvl="1">
              <a:spcAft>
                <a:spcPts val="600"/>
              </a:spcAft>
            </a:pPr>
            <a:r>
              <a:rPr sz="2000" b="0" lang="en-US">
                <a:latin typeface="Arial"/>
              </a:rPr>
              <a:t>[ ] Tried with no evidence, grounded, then revised one change at a time.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template (1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Copy this into a new file named </a:t>
            </a:r>
            <a:r>
              <a:rPr sz="2000" b="0" lang="en-US">
                <a:latin typeface="Consolas"/>
              </a:rPr>
              <a:t>SKILL.md</a:t>
            </a:r>
            <a:r>
              <a:rPr sz="2000" b="0" lang="en-US">
                <a:latin typeface="Arial"/>
              </a:rPr>
              <a:t>, in a folder with the same name as </a:t>
            </a:r>
            <a:r>
              <a:rPr sz="2000" b="0" lang="en-US">
                <a:latin typeface="Consolas"/>
              </a:rPr>
              <a:t>name</a:t>
            </a:r>
            <a:r>
              <a:rPr sz="2000" b="0" lang="en-US">
                <a:latin typeface="Arial"/>
              </a:rPr>
              <a:t>.</a:t>
            </a:r>
          </a:p>
          <a:p>
            <a:pPr marL="0" indent="0">
              <a:spcAft>
                <a:spcPts val="600"/>
              </a:spcAft>
              <a:buNone/>
            </a:pPr>
            <a:r>
              <a:rPr sz="1800" b="0" lang="en-US">
                <a:latin typeface="Consolas"/>
              </a:rPr>
              <a:t>---</a:t>
            </a:r>
            <a:br/>
            <a:r>
              <a:rPr sz="1800" b="0" lang="en-US">
                <a:latin typeface="Consolas"/>
              </a:rPr>
              <a:t>name: my-agent-name</a:t>
            </a:r>
            <a:br/>
            <a:r>
              <a:rPr sz="1800" b="0" lang="en-US">
                <a:latin typeface="Consolas"/>
              </a:rPr>
              <a:t>description: "What this agent does, for whom, in one sentence. Use when: the situation that calls for it."</a:t>
            </a:r>
            <a:br/>
            <a:r>
              <a:rPr sz="1800" b="0" lang="en-US">
                <a:latin typeface="Consolas"/>
              </a:rPr>
              <a:t>license: MIT</a:t>
            </a:r>
            <a:br/>
            <a:r>
              <a:rPr sz="1800" b="0" lang="en-US">
                <a:latin typeface="Consolas"/>
              </a:rPr>
              <a:t>metadata:</a:t>
            </a:r>
            <a:br/>
            <a:r>
              <a:rPr sz="1800" b="0" lang="en-US">
                <a:latin typeface="Consolas"/>
              </a:rPr>
              <a:t>  title: "My Agent Title"</a:t>
            </a:r>
            <a:br/>
            <a:r>
              <a:rPr sz="1800" b="0" lang="en-US">
                <a:latin typeface="Consolas"/>
              </a:rPr>
              <a:t>  author: "Your Name, Your Institution"</a:t>
            </a:r>
            <a:br/>
            <a:r>
              <a:rPr sz="1800" b="0" lang="en-US">
                <a:latin typeface="Consolas"/>
              </a:rPr>
              <a:t>  version: "1"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template (2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a:t>
            </a:r>
            <a:br/>
            <a:r>
              <a:rPr sz="1800" b="0" lang="en-US">
                <a:latin typeface="Consolas"/>
              </a:rPr>
              <a:t>## Role</a:t>
            </a:r>
            <a:br/>
            <a:r>
              <a:rPr sz="1800" b="0" lang="en-US">
                <a:latin typeface="Consolas"/>
              </a:rPr>
              <a:t/>
            </a:r>
            <a:br/>
            <a:r>
              <a:rPr sz="1800" b="0" lang="en-US">
                <a:latin typeface="Consolas"/>
              </a:rPr>
              <a:t>Who this agent is, and who it works for.</a:t>
            </a:r>
            <a:br/>
            <a:r>
              <a:rPr sz="1800" b="0" lang="en-US">
                <a:latin typeface="Consolas"/>
              </a:rPr>
              <a:t/>
            </a:r>
            <a:br/>
            <a:r>
              <a:rPr sz="1800" b="0" lang="en-US">
                <a:latin typeface="Consolas"/>
              </a:rPr>
              <a:t>## Task</a:t>
            </a:r>
            <a:br/>
            <a:r>
              <a:rPr sz="1800" b="0" lang="en-US">
                <a:latin typeface="Consolas"/>
              </a:rPr>
              <a:t/>
            </a:r>
            <a:br/>
            <a:r>
              <a:rPr sz="1800" b="0" lang="en-US">
                <a:latin typeface="Consolas"/>
              </a:rPr>
              <a:t>What it is given, and what it gives back. One job.</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template (3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a:r>
            <a:br/>
            <a:r>
              <a:rPr sz="1800" b="0" lang="en-US">
                <a:latin typeface="Consolas"/>
              </a:rPr>
              <a:t>## Trusted guidance</a:t>
            </a:r>
            <a:br/>
            <a:r>
              <a:rPr sz="1800" b="0" lang="en-US">
                <a:latin typeface="Consolas"/>
              </a:rPr>
              <a:t/>
            </a:r>
            <a:br/>
            <a:r>
              <a:rPr sz="1800" b="0" lang="en-US">
                <a:latin typeface="Consolas"/>
              </a:rPr>
              <a:t>The sources it must use and cite, by name and link:</a:t>
            </a:r>
            <a:br/>
            <a:r>
              <a:rPr sz="1800" b="0" lang="en-US">
                <a:latin typeface="Consolas"/>
              </a:rPr>
              <a:t/>
            </a:r>
            <a:br/>
            <a:r>
              <a:rPr sz="1800" b="0" lang="en-US">
                <a:latin typeface="Consolas"/>
              </a:rPr>
              <a:t>- [WCAG 2.2](https://www.w3.org/TR/WCAG22/)</a:t>
            </a:r>
            <a:br/>
            <a:r>
              <a:rPr sz="1800" b="0" lang="en-US">
                <a:latin typeface="Consolas"/>
              </a:rPr>
              <a:t>- [Understanding WCAG 2.2](https://www.w3.org/WAI/WCAG22/Understanding/)</a:t>
            </a:r>
            <a:br/>
            <a:r>
              <a:rPr sz="1800" b="0" lang="en-US">
                <a:latin typeface="Consolas"/>
              </a:rPr>
              <a:t>- Your own policy, style guide or procedure.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template (4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a:r>
            <a:br/>
            <a:r>
              <a:rPr sz="1800" b="0" lang="en-US">
                <a:latin typeface="Consolas"/>
              </a:rPr>
              <a:t>Work only from the evidence you are given. If something is not in the</a:t>
            </a:r>
            <a:br/>
            <a:r>
              <a:rPr sz="1800" b="0" lang="en-US">
                <a:latin typeface="Consolas"/>
              </a:rPr>
              <a:t>evidence, say you cannot see it. Do not guess.</a:t>
            </a:r>
            <a:br/>
            <a:r>
              <a:rPr sz="1800" b="0" lang="en-US">
                <a:latin typeface="Consolas"/>
              </a:rPr>
              <a:t/>
            </a:r>
            <a:br/>
            <a:r>
              <a:rPr sz="1800" b="0" lang="en-US">
                <a:latin typeface="Consolas"/>
              </a:rPr>
              <a:t>## Output format</a:t>
            </a:r>
            <a:br/>
            <a:r>
              <a:rPr sz="1800" b="0" lang="en-US">
                <a:latin typeface="Consolas"/>
              </a:rPr>
              <a:t/>
            </a:r>
            <a:br/>
            <a:r>
              <a:rPr sz="1800" b="0" lang="en-US">
                <a:latin typeface="Consolas"/>
              </a:rPr>
              <a:t>What comes back, in what shape, for the person who reads it.</a:t>
            </a:r>
            <a:br/>
            <a:r>
              <a:rPr sz="1800" b="0" lang="en-US">
                <a:latin typeface="Consolas"/>
              </a:rPr>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template (5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Example</a:t>
            </a:r>
            <a:br/>
            <a:r>
              <a:rPr sz="1800" b="0" lang="en-US">
                <a:latin typeface="Consolas"/>
              </a:rPr>
              <a:t/>
            </a:r>
            <a:br/>
            <a:r>
              <a:rPr sz="1800" b="0" lang="en-US">
                <a:latin typeface="Consolas"/>
              </a:rPr>
              <a:t>One short example of a good answer, using a fictional case.</a:t>
            </a:r>
            <a:br/>
            <a:r>
              <a:rPr sz="1800" b="0" lang="en-US">
                <a:latin typeface="Consolas"/>
              </a:rPr>
              <a:t/>
            </a:r>
            <a:br/>
            <a:r>
              <a:rPr sz="1800" b="0" lang="en-US">
                <a:latin typeface="Consolas"/>
              </a:rPr>
              <a:t>## Human review</a:t>
            </a:r>
            <a:br/>
            <a:r>
              <a:rPr sz="1800" b="0" lang="en-US">
                <a:latin typeface="Consolas"/>
              </a:rPr>
              <a:t/>
            </a:r>
            <a:br/>
            <a:r>
              <a:rPr sz="1800" b="0" lang="en-US">
                <a:latin typeface="Consolas"/>
              </a:rPr>
              <a:t>Who checks what before anything goes out. End every answer with a "Before</a:t>
            </a:r>
            <a:br/>
            <a:r>
              <a:rPr sz="1800" b="0" lang="en-US">
                <a:latin typeface="Consolas"/>
              </a:rPr>
              <a:t>you send this" checklist for that person.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template (6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a:r>
            <a:br/>
            <a:r>
              <a:rPr sz="1800" b="0" lang="en-US">
                <a:latin typeface="Consolas"/>
              </a:rPr>
              <a:t>## Never</a:t>
            </a:r>
            <a:br/>
            <a:r>
              <a:rPr sz="1800" b="0" lang="en-US">
                <a:latin typeface="Consolas"/>
              </a:rPr>
              <a:t/>
            </a:r>
            <a:br/>
            <a:r>
              <a:rPr sz="1800" b="0" lang="en-US">
                <a:latin typeface="Consolas"/>
              </a:rPr>
              <a:t>- Never ask for, or use, student names, records, accommodation details or</a:t>
            </a:r>
            <a:br/>
            <a:r>
              <a:rPr sz="1800" b="0" lang="en-US">
                <a:latin typeface="Consolas"/>
              </a:rPr>
              <a:t>  health information.</a:t>
            </a:r>
            <a:br/>
            <a:r>
              <a:rPr sz="1800" b="0" lang="en-US">
                <a:latin typeface="Consolas"/>
              </a:rPr>
              <a:t>- Never say a document is "compliant" or "accessible". Say what you checked,</a:t>
            </a:r>
            <a:br/>
            <a:r>
              <a:rPr sz="1800" b="0" lang="en-US">
                <a:latin typeface="Consolas"/>
              </a:rPr>
              <a:t>  what you found, and what a person still needs to check.</a:t>
            </a:r>
            <a:br/>
            <a:r>
              <a:rPr sz="1800" b="0" lang="en-US">
                <a:latin typeface="Consolas"/>
              </a:rPr>
              <a:t>- Never invent a finding that is not in the evidence.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Sources (1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Checked on 29 October 2026.</a:t>
            </a:r>
          </a:p>
          <a:p>
            <a:pPr lvl="1">
              <a:spcAft>
                <a:spcPts val="600"/>
              </a:spcAft>
            </a:pPr>
            <a:r>
              <a:rPr sz="2000" b="0" lang="en-US">
                <a:latin typeface="Arial"/>
                <a:hlinkClick r:id="rId2"/>
              </a:rPr>
              <a:t>Agent Skills specification</a:t>
            </a:r>
            <a:r>
              <a:rPr sz="2000" b="0" lang="en-US">
                <a:latin typeface="Arial"/>
              </a:rPr>
              <a:t>: the file format, </a:t>
            </a:r>
            <a:r>
              <a:rPr sz="2000" b="0" lang="en-US">
                <a:latin typeface="Consolas"/>
              </a:rPr>
              <a:t>name</a:t>
            </a:r>
            <a:r>
              <a:rPr sz="2000" b="0" lang="en-US">
                <a:latin typeface="Arial"/>
              </a:rPr>
              <a:t> (at most 64 characters, matching its folder), </a:t>
            </a:r>
            <a:r>
              <a:rPr sz="2000" b="0" lang="en-US">
                <a:latin typeface="Consolas"/>
              </a:rPr>
              <a:t>description</a:t>
            </a:r>
            <a:r>
              <a:rPr sz="2000" b="0" lang="en-US">
                <a:latin typeface="Arial"/>
              </a:rPr>
              <a:t> (at most 1,024 characters), the advice to keep </a:t>
            </a:r>
            <a:r>
              <a:rPr sz="2000" b="0" lang="en-US">
                <a:latin typeface="Consolas"/>
              </a:rPr>
              <a:t>SKILL.md</a:t>
            </a:r>
            <a:r>
              <a:rPr sz="2000" b="0" lang="en-US">
                <a:latin typeface="Arial"/>
              </a:rPr>
              <a:t> under 500 lines, and the </a:t>
            </a:r>
            <a:r>
              <a:rPr sz="2000" b="0" lang="en-US">
                <a:latin typeface="Consolas"/>
              </a:rPr>
              <a:t>references</a:t>
            </a:r>
            <a:r>
              <a:rPr sz="2000" b="0" lang="en-US">
                <a:latin typeface="Arial"/>
              </a:rPr>
              <a:t> folder.</a:t>
            </a:r>
          </a:p>
          <a:p>
            <a:pPr lvl="1">
              <a:spcAft>
                <a:spcPts val="600"/>
              </a:spcAft>
            </a:pPr>
            <a:r>
              <a:rPr sz="2000" b="0" lang="en-US">
                <a:latin typeface="Arial"/>
                <a:hlinkClick r:id="rId3"/>
              </a:rPr>
              <a:t>VS Code: use Agent Skills</a:t>
            </a:r>
            <a:r>
              <a:rPr sz="2000" b="0" lang="en-US">
                <a:latin typeface="Arial"/>
              </a:rPr>
              <a:t>: where VS Code finds skills, typing </a:t>
            </a:r>
            <a:r>
              <a:rPr sz="2000" b="0" lang="en-US">
                <a:latin typeface="Consolas"/>
              </a:rPr>
              <a:t>/</a:t>
            </a:r>
            <a:r>
              <a:rPr sz="2000" b="0" lang="en-US">
                <a:latin typeface="Arial"/>
              </a:rPr>
              <a:t> to use one, and how a skill is loaded in three steps, name and description first.</a:t>
            </a:r>
          </a:p>
          <a:p>
            <a:pPr lvl="1">
              <a:spcAft>
                <a:spcPts val="600"/>
              </a:spcAft>
            </a:pPr>
            <a:r>
              <a:rPr sz="2000" b="0" lang="en-US">
                <a:latin typeface="Arial"/>
                <a:hlinkClick r:id="rId4"/>
              </a:rPr>
              <a:t>GitHub Docs: about agent skills</a:t>
            </a:r>
            <a:r>
              <a:rPr sz="2000" b="0" lang="en-US">
                <a:latin typeface="Arial"/>
              </a:rPr>
              <a:t>, </a:t>
            </a:r>
            <a:r>
              <a:rPr sz="2000" b="0" lang="en-US">
                <a:latin typeface="Arial"/>
                <a:hlinkClick r:id="rId5"/>
              </a:rPr>
              <a:t>Claude Code: skills</a:t>
            </a:r>
            <a:r>
              <a:rPr sz="2000" b="0" lang="en-US">
                <a:latin typeface="Arial"/>
              </a:rPr>
              <a:t>, </a:t>
            </a:r>
            <a:r>
              <a:rPr sz="2000" b="0" lang="en-US">
                <a:latin typeface="Arial"/>
                <a:hlinkClick r:id="rId6"/>
              </a:rPr>
              <a:t>Codex: build skills</a:t>
            </a:r>
            <a:r>
              <a:rPr sz="2000" b="0" lang="en-US">
                <a:latin typeface="Arial"/>
              </a:rPr>
              <a:t> and </a:t>
            </a:r>
            <a:r>
              <a:rPr sz="2000" b="0" lang="en-US">
                <a:latin typeface="Arial"/>
                <a:hlinkClick r:id="rId7"/>
              </a:rPr>
              <a:t>Gemini CLI: skills</a:t>
            </a:r>
            <a:r>
              <a:rPr sz="2000" b="0" lang="en-US">
                <a:latin typeface="Arial"/>
              </a:rPr>
              <a:t>: where each tool finds skills, and where ChatGPT reads them.</a:t>
            </a:r>
          </a:p>
          <a:p>
            <a:pPr lvl="1">
              <a:spcAft>
                <a:spcPts val="600"/>
              </a:spcAft>
            </a:pPr>
            <a:r>
              <a:rPr sz="2000" b="0" lang="en-US">
                <a:latin typeface="Arial"/>
                <a:hlinkClick r:id="rId8"/>
              </a:rPr>
              <a:t>WCAG 2.2</a:t>
            </a:r>
            <a:r>
              <a:rPr sz="2000" b="0" lang="en-US">
                <a:latin typeface="Arial"/>
              </a:rPr>
              <a:t> and </a:t>
            </a:r>
            <a:r>
              <a:rPr sz="2000" b="0" lang="en-US">
                <a:latin typeface="Arial"/>
                <a:hlinkClick r:id="rId9"/>
              </a:rPr>
              <a:t>Understanding 1.2.2 Captions (Prerecorded)</a:t>
            </a:r>
            <a:r>
              <a:rPr sz="2000" b="0" lang="en-US">
                <a:latin typeface="Arial"/>
              </a:rPr>
              <a:t>.</a:t>
            </a:r>
          </a:p>
          <a:p>
            <a:pPr lvl="1">
              <a:spcAft>
                <a:spcPts val="600"/>
              </a:spcAft>
            </a:pPr>
            <a:r>
              <a:rPr sz="2000" b="0" lang="en-US">
                <a:latin typeface="Arial"/>
                <a:hlinkClick r:id="rId10"/>
              </a:rPr>
              <a:t>W3C WAI: captions and subtitles</a:t>
            </a:r>
            <a:r>
              <a:rPr sz="2000" b="0" lang="en-US">
                <a:latin typeface="Arial"/>
              </a:rPr>
              <a: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Sources (2 of 2)</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pPr>
            <a:r>
              <a:rPr sz="2000" b="0" lang="en-US">
                <a:latin typeface="Consolas"/>
              </a:rPr>
              <a:t>agent-file-principles.md</a:t>
            </a:r>
            <a:r>
              <a:rPr sz="2000" b="0" lang="en-US">
                <a:latin typeface="Arial"/>
              </a:rPr>
              <a:t> in this kit: the twelve principles and the review questions this tutorial follows.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Write your own accessibility agent: a tutorial</dc:title>
  <dc:subject>A start-to-finish tutorial for writing, testing, grounding and sharing an accessibility agent, in any AI assistant, after the AHG 2026 workshop.</dc:subject>
  <dc:creator>Jeff Bishop, BITS</dc:creator>
  <cp:keywords/>
  <dc:description>generated using python-pptx</dc:description>
  <cp:lastModifiedBy>Jeff Bishop, BITS</cp:lastModifiedBy>
  <cp:revision>1</cp:revision>
  <dcterms:created xsi:type="dcterms:W3CDTF">2026-10-01T12:00:00Z</dcterms:created>
  <dcterms:modified xsi:type="dcterms:W3CDTF">2026-10-01T12:00:00Z</dcterms:modified>
  <cp:category/>
  <dc:language>en-US</dc:language>
</cp:coreProperties>
</file>