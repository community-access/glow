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Community-Access/accessibility-agen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731520" y="1463040"/>
            <a:ext cx="10698480" cy="2011680"/>
          </a:xfrm>
        </p:spPr>
        <p:txBody>
          <a:bodyPr wrap="square"/>
          <a:lstStyle/>
          <a:p>
            <a:r>
              <a:rPr sz="4000" b="1" lang="en-US">
                <a:latin typeface="Arial"/>
              </a:rPr>
              <a:t>Accessibility Agents in this kit</a:t>
            </a:r>
          </a:p>
        </p:txBody>
      </p:sp>
      <p:sp>
        <p:nvSpPr>
          <p:cNvPr id="3" name="Subtitle 2"/>
          <p:cNvSpPr>
            <a:spLocks noGrp="1"/>
          </p:cNvSpPr>
          <p:nvPr>
            <p:ph type="subTitle" idx="1"/>
          </p:nvPr>
        </p:nvSpPr>
        <p:spPr>
          <a:xfrm>
            <a:off x="731520" y="3657600"/>
            <a:ext cx="10698480" cy="2194560"/>
          </a:xfrm>
        </p:spPr>
        <p:txBody>
          <a:bodyPr wrap="square"/>
          <a:lstStyle/>
          <a:p>
            <a:r>
              <a:rPr sz="2400" b="0" lang="en-US">
                <a:latin typeface="Arial"/>
              </a:rPr>
              <a:t>Which Accessibility Agents skills work fully in the AHG 2026 kit, and which need the full 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About this document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This kit carries all 113 Accessibility Agents skills, from commit </a:t>
            </a:r>
            <a:r>
              <a:rPr sz="2000" b="0" lang="en-US">
                <a:latin typeface="Consolas"/>
              </a:rPr>
              <a:t>2f4fe22</a:t>
            </a:r>
            <a:r>
              <a:rPr sz="2000" b="0" lang="en-US">
                <a:latin typeface="Arial"/>
              </a:rPr>
              <a:t> of </a:t>
            </a:r>
            <a:r>
              <a:rPr sz="2000" b="0" lang="en-US">
                <a:latin typeface="Arial"/>
                <a:hlinkClick r:id="rId2"/>
              </a:rPr>
              <a:t>Accessibility Agents</a:t>
            </a:r>
            <a:r>
              <a:rPr sz="2000" b="0" lang="en-US">
                <a:latin typeface="Arial"/>
              </a:rPr>
              <a:t>, in </a:t>
            </a:r>
            <a:r>
              <a:rPr sz="2000" b="0" lang="en-US">
                <a:latin typeface="Consolas"/>
              </a:rPr>
              <a:t>.github/skills</a:t>
            </a:r>
            <a:r>
              <a:rPr sz="2000" b="0" lang="en-US">
                <a:latin typeface="Arial"/>
              </a:rPr>
              <a:t>. Open the kit in VS Code, on a computer or at vscode.dev, and they are there: start a new chat and ask for one by name. Nothing to install.</a:t>
            </a:r>
          </a:p>
          <a:p>
            <a:pPr marL="0" indent="0">
              <a:spcAft>
                <a:spcPts val="600"/>
              </a:spcAft>
              <a:buNone/>
            </a:pPr>
            <a:r>
              <a:rPr sz="2000" b="0" lang="en-US">
                <a:latin typeface="Arial"/>
              </a:rPr>
              <a:t>They are under the project's MIT licence, which is in </a:t>
            </a:r>
            <a:r>
              <a:rPr sz="2000" b="0" lang="en-US">
                <a:latin typeface="Consolas"/>
              </a:rPr>
              <a:t>accessibility-agents-LICENSE.txt</a:t>
            </a:r>
            <a:r>
              <a:rPr sz="2000" b="0" lang="en-US">
                <a:latin typeface="Arial"/>
              </a:rPr>
              <a:t> in this kit.</a:t>
            </a:r>
          </a:p>
          <a:p>
            <a:pPr marL="0" indent="0">
              <a:spcAft>
                <a:spcPts val="600"/>
              </a:spcAft>
              <a:buNone/>
            </a:pPr>
            <a:r>
              <a:rPr sz="2000" b="0" lang="en-US">
                <a:latin typeface="Arial"/>
              </a:rPr>
              <a:t>The kit cannot carry the project's scanner tools, its scripts or its hooks. So every skill below works, but some work differently here. The full version, with everything, is one click away in Codespaces: </a:t>
            </a:r>
            <a:r>
              <a:rPr sz="2000" b="0" lang="en-US">
                <a:latin typeface="Consolas"/>
              </a:rPr>
              <a:t>accessibility-agents.md</a:t>
            </a:r>
            <a:r>
              <a:rPr sz="2000" b="0" lang="en-US">
                <a:latin typeface="Arial"/>
              </a:rPr>
              <a:t> in this kit says how.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(1 of 14)</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72 skills need nothing the kit lacks. Each row is one you can ask for by name, and what it does; the rest are specialists they call for you.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(2 of 14)</a:t>
            </a:r>
          </a:p>
        </p:txBody>
      </p:sp>
      <p:graphicFrame>
        <p:nvGraphicFramePr>
          <p:cNvPr id="3" name="Table 2" descr="Table: Works fully in the kit. Columns: Skill, What it doe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What it does</a:t>
                      </a:r>
                    </a:p>
                  </a:txBody>
                  <a:tcPr/>
                </a:tc>
              </a:tr>
              <a:tr h="457200">
                <a:tc>
                  <a:txBody>
                    <a:bodyPr wrap="square"/>
                    <a:lstStyle/>
                    <a:p>
                      <a:r>
                        <a:rPr sz="1800" b="0" lang="en-US">
                          <a:latin typeface="Consolas"/>
                        </a:rPr>
                        <a:t>a11y-tool-builder</a:t>
                      </a:r>
                    </a:p>
                  </a:txBody>
                  <a:tcPr/>
                </a:tc>
                <a:tc>
                  <a:txBody>
                    <a:bodyPr wrap="square"/>
                    <a:lstStyle/>
                    <a:p>
                      <a:r>
                        <a:rPr sz="1800" b="0" lang="en-US">
                          <a:latin typeface="Arial"/>
                        </a:rPr>
                        <a:t>Build accessibility scanners, rule engines, parsers and report generators.</a:t>
                      </a:r>
                    </a:p>
                  </a:txBody>
                  <a:tcPr/>
                </a:tc>
              </a:tr>
              <a:tr h="457200">
                <a:tc>
                  <a:txBody>
                    <a:bodyPr wrap="square"/>
                    <a:lstStyle/>
                    <a:p>
                      <a:r>
                        <a:rPr sz="1800" b="0" lang="en-US">
                          <a:latin typeface="Consolas"/>
                        </a:rPr>
                        <a:t>accessibility-regression-detector</a:t>
                      </a:r>
                    </a:p>
                  </a:txBody>
                  <a:tcPr/>
                </a:tc>
                <a:tc>
                  <a:txBody>
                    <a:bodyPr wrap="square"/>
                    <a:lstStyle/>
                    <a:p>
                      <a:r>
                        <a:rPr sz="1800" b="0" lang="en-US">
                          <a:latin typeface="Arial"/>
                        </a:rPr>
                        <a:t>Compare audits across commits to find new, fixed and regressed issues.</a:t>
                      </a:r>
                    </a:p>
                  </a:txBody>
                  <a:tcPr/>
                </a:tc>
              </a:tr>
              <a:tr h="457200">
                <a:tc>
                  <a:txBody>
                    <a:bodyPr wrap="square"/>
                    <a:lstStyle/>
                    <a:p>
                      <a:r>
                        <a:rPr sz="1800" b="0" lang="en-US">
                          <a:latin typeface="Consolas"/>
                        </a:rPr>
                        <a:t>accessibility-statement</a:t>
                      </a:r>
                    </a:p>
                  </a:txBody>
                  <a:tcPr/>
                </a:tc>
                <a:tc>
                  <a:txBody>
                    <a:bodyPr wrap="square"/>
                    <a:lstStyle/>
                    <a:p>
                      <a:r>
                        <a:rPr sz="1800" b="0" lang="en-US">
                          <a:latin typeface="Arial"/>
                        </a:rPr>
                        <a:t>Generate a W3C or EU model accessibility statement from audit results.</a:t>
                      </a:r>
                    </a:p>
                  </a:txBody>
                  <a:tcPr/>
                </a:tc>
              </a:tr>
              <a:tr h="457200">
                <a:tc>
                  <a:txBody>
                    <a:bodyPr wrap="square"/>
                    <a:lstStyle/>
                    <a:p>
                      <a:r>
                        <a:rPr sz="1800" b="0" lang="en-US">
                          <a:latin typeface="Consolas"/>
                        </a:rPr>
                        <a:t>alt-text-headings</a:t>
                      </a:r>
                    </a:p>
                  </a:txBody>
                  <a:tcPr/>
                </a:tc>
                <a:tc>
                  <a:txBody>
                    <a:bodyPr wrap="square"/>
                    <a:lstStyle/>
                    <a:p>
                      <a:r>
                        <a:rPr sz="1800" b="0" lang="en-US">
                          <a:latin typeface="Arial"/>
                        </a:rPr>
                        <a:t>Alt text, SVGs, figures, charts, heading order, page titles and landmarks.</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(3 of 14)</a:t>
            </a:r>
          </a:p>
        </p:txBody>
      </p:sp>
      <p:graphicFrame>
        <p:nvGraphicFramePr>
          <p:cNvPr id="3" name="Table 2" descr="Table: Works fully in the kit. Columns: Skill, What it doe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What it does</a:t>
                      </a:r>
                    </a:p>
                  </a:txBody>
                  <a:tcPr/>
                </a:tc>
              </a:tr>
              <a:tr h="457200">
                <a:tc>
                  <a:txBody>
                    <a:bodyPr wrap="square"/>
                    <a:lstStyle/>
                    <a:p>
                      <a:r>
                        <a:rPr sz="1800" b="0" lang="en-US">
                          <a:latin typeface="Consolas"/>
                        </a:rPr>
                        <a:t>analytics</a:t>
                      </a:r>
                    </a:p>
                  </a:txBody>
                  <a:tcPr/>
                </a:tc>
                <a:tc>
                  <a:txBody>
                    <a:bodyPr wrap="square"/>
                    <a:lstStyle/>
                    <a:p>
                      <a:r>
                        <a:rPr sz="1800" b="0" lang="en-US">
                          <a:latin typeface="Arial"/>
                        </a:rPr>
                        <a:t>GitHub metrics: velocity, review turnaround, churn and bottlenecks.</a:t>
                      </a:r>
                    </a:p>
                  </a:txBody>
                  <a:tcPr/>
                </a:tc>
              </a:tr>
              <a:tr h="457200">
                <a:tc>
                  <a:txBody>
                    <a:bodyPr wrap="square"/>
                    <a:lstStyle/>
                    <a:p>
                      <a:r>
                        <a:rPr sz="1800" b="0" lang="en-US">
                          <a:latin typeface="Consolas"/>
                        </a:rPr>
                        <a:t>aria-specialist</a:t>
                      </a:r>
                    </a:p>
                  </a:txBody>
                  <a:tcPr/>
                </a:tc>
                <a:tc>
                  <a:txBody>
                    <a:bodyPr wrap="square"/>
                    <a:lstStyle/>
                    <a:p>
                      <a:r>
                        <a:rPr sz="1800" b="0" lang="en-US">
                          <a:latin typeface="Arial"/>
                        </a:rPr>
                        <a:t>ARIA roles, states and properties for custom widgets and dynamic content.</a:t>
                      </a:r>
                    </a:p>
                  </a:txBody>
                  <a:tcPr/>
                </a:tc>
              </a:tr>
              <a:tr h="457200">
                <a:tc>
                  <a:txBody>
                    <a:bodyPr wrap="square"/>
                    <a:lstStyle/>
                    <a:p>
                      <a:r>
                        <a:rPr sz="1800" b="0" lang="en-US">
                          <a:latin typeface="Consolas"/>
                        </a:rPr>
                        <a:t>cognitive-accessibility</a:t>
                      </a:r>
                    </a:p>
                  </a:txBody>
                  <a:tcPr/>
                </a:tc>
                <a:tc>
                  <a:txBody>
                    <a:bodyPr wrap="square"/>
                    <a:lstStyle/>
                    <a:p>
                      <a:r>
                        <a:rPr sz="1800" b="0" lang="en-US">
                          <a:latin typeface="Arial"/>
                        </a:rPr>
                        <a:t>Plain language, WCAG 2.2 cognitive criteria, COGA guidance and auth UX.</a:t>
                      </a:r>
                    </a:p>
                  </a:txBody>
                  <a:tcPr/>
                </a:tc>
              </a:tr>
              <a:tr h="457200">
                <a:tc>
                  <a:txBody>
                    <a:bodyPr wrap="square"/>
                    <a:lstStyle/>
                    <a:p>
                      <a:r>
                        <a:rPr sz="1800" b="0" lang="en-US">
                          <a:latin typeface="Consolas"/>
                        </a:rPr>
                        <a:t>compliance-mapping</a:t>
                      </a:r>
                    </a:p>
                  </a:txBody>
                  <a:tcPr/>
                </a:tc>
                <a:tc>
                  <a:txBody>
                    <a:bodyPr wrap="square"/>
                    <a:lstStyle/>
                    <a:p>
                      <a:r>
                        <a:rPr sz="1800" b="0" lang="en-US">
                          <a:latin typeface="Arial"/>
                        </a:rPr>
                        <a:t>Map findings to Section 508, EN 301 549, EAA, ADA, AODA; build a VPAT.</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(4 of 14)</a:t>
            </a:r>
          </a:p>
        </p:txBody>
      </p:sp>
      <p:graphicFrame>
        <p:nvGraphicFramePr>
          <p:cNvPr id="3" name="Table 2" descr="Table: Works fully in the kit. Columns: Skill, What it doe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What it does</a:t>
                      </a:r>
                    </a:p>
                  </a:txBody>
                  <a:tcPr/>
                </a:tc>
              </a:tr>
              <a:tr h="457200">
                <a:tc>
                  <a:txBody>
                    <a:bodyPr wrap="square"/>
                    <a:lstStyle/>
                    <a:p>
                      <a:r>
                        <a:rPr sz="1800" b="0" lang="en-US">
                          <a:latin typeface="Consolas"/>
                        </a:rPr>
                        <a:t>contrast-master</a:t>
                      </a:r>
                    </a:p>
                  </a:txBody>
                  <a:tcPr/>
                </a:tc>
                <a:tc>
                  <a:txBody>
                    <a:bodyPr wrap="square"/>
                    <a:lstStyle/>
                    <a:p>
                      <a:r>
                        <a:rPr sz="1800" b="0" lang="en-US">
                          <a:latin typeface="Arial"/>
                        </a:rPr>
                        <a:t>Color contrast, themes, dark mode, non-text contrast and color-only meaning.</a:t>
                      </a:r>
                    </a:p>
                  </a:txBody>
                  <a:tcPr/>
                </a:tc>
              </a:tr>
              <a:tr h="457200">
                <a:tc>
                  <a:txBody>
                    <a:bodyPr wrap="square"/>
                    <a:lstStyle/>
                    <a:p>
                      <a:r>
                        <a:rPr sz="1800" b="0" lang="en-US">
                          <a:latin typeface="Consolas"/>
                        </a:rPr>
                        <a:t>contributions-hub</a:t>
                      </a:r>
                    </a:p>
                  </a:txBody>
                  <a:tcPr/>
                </a:tc>
                <a:tc>
                  <a:txBody>
                    <a:bodyPr wrap="square"/>
                    <a:lstStyle/>
                    <a:p>
                      <a:r>
                        <a:rPr sz="1800" b="0" lang="en-US">
                          <a:latin typeface="Arial"/>
                        </a:rPr>
                        <a:t>GitHub community: discussions, moderation, contributor health, CLAs.</a:t>
                      </a:r>
                    </a:p>
                  </a:txBody>
                  <a:tcPr/>
                </a:tc>
              </a:tr>
              <a:tr h="457200">
                <a:tc>
                  <a:txBody>
                    <a:bodyPr wrap="square"/>
                    <a:lstStyle/>
                    <a:p>
                      <a:r>
                        <a:rPr sz="1800" b="0" lang="en-US">
                          <a:latin typeface="Consolas"/>
                        </a:rPr>
                        <a:t>daily-briefing</a:t>
                      </a:r>
                    </a:p>
                  </a:txBody>
                  <a:tcPr/>
                </a:tc>
                <a:tc>
                  <a:txBody>
                    <a:bodyPr wrap="square"/>
                    <a:lstStyle/>
                    <a:p>
                      <a:r>
                        <a:rPr sz="1800" b="0" lang="en-US">
                          <a:latin typeface="Arial"/>
                        </a:rPr>
                        <a:t>Daily GitHub briefing: issues, PRs, reviews, releases and discussions.</a:t>
                      </a:r>
                    </a:p>
                  </a:txBody>
                  <a:tcPr/>
                </a:tc>
              </a:tr>
              <a:tr h="457200">
                <a:tc>
                  <a:txBody>
                    <a:bodyPr wrap="square"/>
                    <a:lstStyle/>
                    <a:p>
                      <a:r>
                        <a:rPr sz="1800" b="0" lang="en-US">
                          <a:latin typeface="Consolas"/>
                        </a:rPr>
                        <a:t>data-visualization-accessibility</a:t>
                      </a:r>
                    </a:p>
                  </a:txBody>
                  <a:tcPr/>
                </a:tc>
                <a:tc>
                  <a:txBody>
                    <a:bodyPr wrap="square"/>
                    <a:lstStyle/>
                    <a:p>
                      <a:r>
                        <a:rPr sz="1800" b="0" lang="en-US">
                          <a:latin typeface="Arial"/>
                        </a:rPr>
                        <a:t>Charts, graphs and dashboards: SVG ARIA, table alternatives, safe palettes.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(5 of 14)</a:t>
            </a:r>
          </a:p>
        </p:txBody>
      </p:sp>
      <p:graphicFrame>
        <p:nvGraphicFramePr>
          <p:cNvPr id="3" name="Table 2" descr="Table: Works fully in the kit. Columns: Skill, What it doe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What it does</a:t>
                      </a:r>
                    </a:p>
                  </a:txBody>
                  <a:tcPr/>
                </a:tc>
              </a:tr>
              <a:tr h="457200">
                <a:tc>
                  <a:txBody>
                    <a:bodyPr wrap="square"/>
                    <a:lstStyle/>
                    <a:p>
                      <a:r>
                        <a:rPr sz="1800" b="0" lang="en-US">
                          <a:latin typeface="Consolas"/>
                        </a:rPr>
                        <a:t>design-system-auditor</a:t>
                      </a:r>
                    </a:p>
                  </a:txBody>
                  <a:tcPr/>
                </a:tc>
                <a:tc>
                  <a:txBody>
                    <a:bodyPr wrap="square"/>
                    <a:lstStyle/>
                    <a:p>
                      <a:r>
                        <a:rPr sz="1800" b="0" lang="en-US">
                          <a:latin typeface="Arial"/>
                        </a:rPr>
                        <a:t>Check color, focus ring, spacing and motion tokens before they reach UI.</a:t>
                      </a:r>
                    </a:p>
                  </a:txBody>
                  <a:tcPr/>
                </a:tc>
              </a:tr>
              <a:tr h="457200">
                <a:tc>
                  <a:txBody>
                    <a:bodyPr wrap="square"/>
                    <a:lstStyle/>
                    <a:p>
                      <a:r>
                        <a:rPr sz="1800" b="0" lang="en-US">
                          <a:latin typeface="Consolas"/>
                        </a:rPr>
                        <a:t>desktop-a11y-specialist</a:t>
                      </a:r>
                    </a:p>
                  </a:txBody>
                  <a:tcPr/>
                </a:tc>
                <a:tc>
                  <a:txBody>
                    <a:bodyPr wrap="square"/>
                    <a:lstStyle/>
                    <a:p>
                      <a:r>
                        <a:rPr sz="1800" b="0" lang="en-US">
                          <a:latin typeface="Arial"/>
                        </a:rPr>
                        <a:t>Desktop a11y APIs: UI Automation, MSAA/IAccessible2, NSAccessibility, Qt Widgets.</a:t>
                      </a:r>
                    </a:p>
                  </a:txBody>
                  <a:tcPr/>
                </a:tc>
              </a:tr>
              <a:tr h="457200">
                <a:tc>
                  <a:txBody>
                    <a:bodyPr wrap="square"/>
                    <a:lstStyle/>
                    <a:p>
                      <a:r>
                        <a:rPr sz="1800" b="0" lang="en-US">
                          <a:latin typeface="Consolas"/>
                        </a:rPr>
                        <a:t>desktop-a11y-testing-coach</a:t>
                      </a:r>
                    </a:p>
                  </a:txBody>
                  <a:tcPr/>
                </a:tc>
                <a:tc>
                  <a:txBody>
                    <a:bodyPr wrap="square"/>
                    <a:lstStyle/>
                    <a:p>
                      <a:r>
                        <a:rPr sz="1800" b="0" lang="en-US">
                          <a:latin typeface="Arial"/>
                        </a:rPr>
                        <a:t>Test desktop apps with NVDA, JAWS, Narrator, VoiceOver and UIA tooling.</a:t>
                      </a:r>
                    </a:p>
                  </a:txBody>
                  <a:tcPr/>
                </a:tc>
              </a:tr>
              <a:tr h="457200">
                <a:tc>
                  <a:txBody>
                    <a:bodyPr wrap="square"/>
                    <a:lstStyle/>
                    <a:p>
                      <a:r>
                        <a:rPr sz="1800" b="0" lang="en-US">
                          <a:latin typeface="Consolas"/>
                        </a:rPr>
                        <a:t>email-accessibility</a:t>
                      </a:r>
                    </a:p>
                  </a:txBody>
                  <a:tcPr/>
                </a:tc>
                <a:tc>
                  <a:txBody>
                    <a:bodyPr wrap="square"/>
                    <a:lstStyle/>
                    <a:p>
                      <a:r>
                        <a:rPr sz="1800" b="0" lang="en-US">
                          <a:latin typeface="Arial"/>
                        </a:rPr>
                        <a:t>HTML email accessibility under email client rendering constraints.</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(6 of 14)</a:t>
            </a:r>
          </a:p>
        </p:txBody>
      </p:sp>
      <p:graphicFrame>
        <p:nvGraphicFramePr>
          <p:cNvPr id="3" name="Table 2" descr="Table: Works fully in the kit. Columns: Skill, What it doe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What it does</a:t>
                      </a:r>
                    </a:p>
                  </a:txBody>
                  <a:tcPr/>
                </a:tc>
              </a:tr>
              <a:tr h="457200">
                <a:tc>
                  <a:txBody>
                    <a:bodyPr wrap="square"/>
                    <a:lstStyle/>
                    <a:p>
                      <a:r>
                        <a:rPr sz="1800" b="0" lang="en-US">
                          <a:latin typeface="Consolas"/>
                        </a:rPr>
                        <a:t>epub-accessibility</a:t>
                      </a:r>
                    </a:p>
                  </a:txBody>
                  <a:tcPr/>
                </a:tc>
                <a:tc>
                  <a:txBody>
                    <a:bodyPr wrap="square"/>
                    <a:lstStyle/>
                    <a:p>
                      <a:r>
                        <a:rPr sz="1800" b="0" lang="en-US">
                          <a:latin typeface="Arial"/>
                        </a:rPr>
                        <a:t>Scan and fix .epub files: EPUB Accessibility 1.1, reading order, nav.</a:t>
                      </a:r>
                    </a:p>
                  </a:txBody>
                  <a:tcPr/>
                </a:tc>
              </a:tr>
              <a:tr h="457200">
                <a:tc>
                  <a:txBody>
                    <a:bodyPr wrap="square"/>
                    <a:lstStyle/>
                    <a:p>
                      <a:r>
                        <a:rPr sz="1800" b="0" lang="en-US">
                          <a:latin typeface="Consolas"/>
                        </a:rPr>
                        <a:t>excel-accessibility</a:t>
                      </a:r>
                    </a:p>
                  </a:txBody>
                  <a:tcPr/>
                </a:tc>
                <a:tc>
                  <a:txBody>
                    <a:bodyPr wrap="square"/>
                    <a:lstStyle/>
                    <a:p>
                      <a:r>
                        <a:rPr sz="1800" b="0" lang="en-US">
                          <a:latin typeface="Arial"/>
                        </a:rPr>
                        <a:t>Scan and fix .xlsx files: sheet names, table headers, alt text, merges.</a:t>
                      </a:r>
                    </a:p>
                  </a:txBody>
                  <a:tcPr/>
                </a:tc>
              </a:tr>
              <a:tr h="457200">
                <a:tc>
                  <a:txBody>
                    <a:bodyPr wrap="square"/>
                    <a:lstStyle/>
                    <a:p>
                      <a:r>
                        <a:rPr sz="1800" b="0" lang="en-US">
                          <a:latin typeface="Consolas"/>
                        </a:rPr>
                        <a:t>forms-specialist</a:t>
                      </a:r>
                    </a:p>
                  </a:txBody>
                  <a:tcPr/>
                </a:tc>
                <a:tc>
                  <a:txBody>
                    <a:bodyPr wrap="square"/>
                    <a:lstStyle/>
                    <a:p>
                      <a:r>
                        <a:rPr sz="1800" b="0" lang="en-US">
                          <a:latin typeface="Arial"/>
                        </a:rPr>
                        <a:t>Labels, validation, error handling, multi-step wizards and autocomplete.</a:t>
                      </a:r>
                    </a:p>
                  </a:txBody>
                  <a:tcPr/>
                </a:tc>
              </a:tr>
              <a:tr h="457200">
                <a:tc>
                  <a:txBody>
                    <a:bodyPr wrap="square"/>
                    <a:lstStyle/>
                    <a:p>
                      <a:r>
                        <a:rPr sz="1800" b="0" lang="en-US">
                          <a:latin typeface="Consolas"/>
                        </a:rPr>
                        <a:t>i18n-accessibility</a:t>
                      </a:r>
                    </a:p>
                  </a:txBody>
                  <a:tcPr/>
                </a:tc>
                <a:tc>
                  <a:txBody>
                    <a:bodyPr wrap="square"/>
                    <a:lstStyle/>
                    <a:p>
                      <a:r>
                        <a:rPr sz="1800" b="0" lang="en-US">
                          <a:latin typeface="Arial"/>
                        </a:rPr>
                        <a:t>Right-to-left and language: dir, lang tags, bidi text, icon mirroring.</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(7 of 14)</a:t>
            </a:r>
          </a:p>
        </p:txBody>
      </p:sp>
      <p:graphicFrame>
        <p:nvGraphicFramePr>
          <p:cNvPr id="3" name="Table 2" descr="Table: Works fully in the kit. Columns: Skill, What it doe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What it does</a:t>
                      </a:r>
                    </a:p>
                  </a:txBody>
                  <a:tcPr/>
                </a:tc>
              </a:tr>
              <a:tr h="457200">
                <a:tc>
                  <a:txBody>
                    <a:bodyPr wrap="square"/>
                    <a:lstStyle/>
                    <a:p>
                      <a:r>
                        <a:rPr sz="1800" b="0" lang="en-US">
                          <a:latin typeface="Consolas"/>
                        </a:rPr>
                        <a:t>insiders-a11y-tracker</a:t>
                      </a:r>
                    </a:p>
                  </a:txBody>
                  <a:tcPr/>
                </a:tc>
                <a:tc>
                  <a:txBody>
                    <a:bodyPr wrap="square"/>
                    <a:lstStyle/>
                    <a:p>
                      <a:r>
                        <a:rPr sz="1800" b="0" lang="en-US">
                          <a:latin typeface="Arial"/>
                        </a:rPr>
                        <a:t>Track accessibility changes in VS Code and other repos you follow.</a:t>
                      </a:r>
                    </a:p>
                  </a:txBody>
                  <a:tcPr/>
                </a:tc>
              </a:tr>
              <a:tr h="457200">
                <a:tc>
                  <a:txBody>
                    <a:bodyPr wrap="square"/>
                    <a:lstStyle/>
                    <a:p>
                      <a:r>
                        <a:rPr sz="1800" b="0" lang="en-US">
                          <a:latin typeface="Consolas"/>
                        </a:rPr>
                        <a:t>issue-tracker</a:t>
                      </a:r>
                    </a:p>
                  </a:txBody>
                  <a:tcPr/>
                </a:tc>
                <a:tc>
                  <a:txBody>
                    <a:bodyPr wrap="square"/>
                    <a:lstStyle/>
                    <a:p>
                      <a:r>
                        <a:rPr sz="1800" b="0" lang="en-US">
                          <a:latin typeface="Arial"/>
                        </a:rPr>
                        <a:t>GitHub issues: find, triage, review and respond, with written reports.</a:t>
                      </a:r>
                    </a:p>
                  </a:txBody>
                  <a:tcPr/>
                </a:tc>
              </a:tr>
              <a:tr h="457200">
                <a:tc>
                  <a:txBody>
                    <a:bodyPr wrap="square"/>
                    <a:lstStyle/>
                    <a:p>
                      <a:r>
                        <a:rPr sz="1800" b="0" lang="en-US">
                          <a:latin typeface="Consolas"/>
                        </a:rPr>
                        <a:t>keyboard-navigator</a:t>
                      </a:r>
                    </a:p>
                  </a:txBody>
                  <a:tcPr/>
                </a:tc>
                <a:tc>
                  <a:txBody>
                    <a:bodyPr wrap="square"/>
                    <a:lstStyle/>
                    <a:p>
                      <a:r>
                        <a:rPr sz="1800" b="0" lang="en-US">
                          <a:latin typeface="Arial"/>
                        </a:rPr>
                        <a:t>Tab order, focus management, shortcuts, skip links and focus visibility.</a:t>
                      </a:r>
                    </a:p>
                  </a:txBody>
                  <a:tcPr/>
                </a:tc>
              </a:tr>
              <a:tr h="457200">
                <a:tc>
                  <a:txBody>
                    <a:bodyPr wrap="square"/>
                    <a:lstStyle/>
                    <a:p>
                      <a:r>
                        <a:rPr sz="1800" b="0" lang="en-US">
                          <a:latin typeface="Consolas"/>
                        </a:rPr>
                        <a:t>link-checker</a:t>
                      </a:r>
                    </a:p>
                  </a:txBody>
                  <a:tcPr/>
                </a:tc>
                <a:tc>
                  <a:txBody>
                    <a:bodyPr wrap="square"/>
                    <a:lstStyle/>
                    <a:p>
                      <a:r>
                        <a:rPr sz="1800" b="0" lang="en-US">
                          <a:latin typeface="Arial"/>
                        </a:rPr>
                        <a:t>Find vague link text such as click here, read more or a bare URL.</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(8 of 14)</a:t>
            </a:r>
          </a:p>
        </p:txBody>
      </p:sp>
      <p:graphicFrame>
        <p:nvGraphicFramePr>
          <p:cNvPr id="3" name="Table 2" descr="Table: Works fully in the kit. Columns: Skill, What it doe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What it does</a:t>
                      </a:r>
                    </a:p>
                  </a:txBody>
                  <a:tcPr/>
                </a:tc>
              </a:tr>
              <a:tr h="457200">
                <a:tc>
                  <a:txBody>
                    <a:bodyPr wrap="square"/>
                    <a:lstStyle/>
                    <a:p>
                      <a:r>
                        <a:rPr sz="1800" b="0" lang="en-US">
                          <a:latin typeface="Consolas"/>
                        </a:rPr>
                        <a:t>live-region-controller</a:t>
                      </a:r>
                    </a:p>
                  </a:txBody>
                  <a:tcPr/>
                </a:tc>
                <a:tc>
                  <a:txBody>
                    <a:bodyPr wrap="square"/>
                    <a:lstStyle/>
                    <a:p>
                      <a:r>
                        <a:rPr sz="1800" b="0" lang="en-US">
                          <a:latin typeface="Arial"/>
                        </a:rPr>
                        <a:t>Announce dynamic updates: live regions, toasts, loading states and results.</a:t>
                      </a:r>
                    </a:p>
                  </a:txBody>
                  <a:tcPr/>
                </a:tc>
              </a:tr>
              <a:tr h="457200">
                <a:tc>
                  <a:txBody>
                    <a:bodyPr wrap="square"/>
                    <a:lstStyle/>
                    <a:p>
                      <a:r>
                        <a:rPr sz="1800" b="0" lang="en-US">
                          <a:latin typeface="Consolas"/>
                        </a:rPr>
                        <a:t>media-accessibility</a:t>
                      </a:r>
                    </a:p>
                  </a:txBody>
                  <a:tcPr/>
                </a:tc>
                <a:tc>
                  <a:txBody>
                    <a:bodyPr wrap="square"/>
                    <a:lstStyle/>
                    <a:p>
                      <a:r>
                        <a:rPr sz="1800" b="0" lang="en-US">
                          <a:latin typeface="Arial"/>
                        </a:rPr>
                        <a:t>Captions, transcripts, audio description and accessible media players.</a:t>
                      </a:r>
                    </a:p>
                  </a:txBody>
                  <a:tcPr/>
                </a:tc>
              </a:tr>
              <a:tr h="457200">
                <a:tc>
                  <a:txBody>
                    <a:bodyPr wrap="square"/>
                    <a:lstStyle/>
                    <a:p>
                      <a:r>
                        <a:rPr sz="1800" b="0" lang="en-US">
                          <a:latin typeface="Consolas"/>
                        </a:rPr>
                        <a:t>mobile-accessibility</a:t>
                      </a:r>
                    </a:p>
                  </a:txBody>
                  <a:tcPr/>
                </a:tc>
                <a:tc>
                  <a:txBody>
                    <a:bodyPr wrap="square"/>
                    <a:lstStyle/>
                    <a:p>
                      <a:r>
                        <a:rPr sz="1800" b="0" lang="en-US">
                          <a:latin typeface="Arial"/>
                        </a:rPr>
                        <a:t>React Native, Expo, iOS and Android: labels, roles and touch targets.</a:t>
                      </a:r>
                    </a:p>
                  </a:txBody>
                  <a:tcPr/>
                </a:tc>
              </a:tr>
              <a:tr h="457200">
                <a:tc>
                  <a:txBody>
                    <a:bodyPr wrap="square"/>
                    <a:lstStyle/>
                    <a:p>
                      <a:r>
                        <a:rPr sz="1800" b="0" lang="en-US">
                          <a:latin typeface="Consolas"/>
                        </a:rPr>
                        <a:t>modal-specialist</a:t>
                      </a:r>
                    </a:p>
                  </a:txBody>
                  <a:tcPr/>
                </a:tc>
                <a:tc>
                  <a:txBody>
                    <a:bodyPr wrap="square"/>
                    <a:lstStyle/>
                    <a:p>
                      <a:r>
                        <a:rPr sz="1800" b="0" lang="en-US">
                          <a:latin typeface="Arial"/>
                        </a:rPr>
                        <a:t>Dialogs, drawers, popovers and overlays: focus trap, return and dismissal.</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(9 of 14)</a:t>
            </a:r>
          </a:p>
        </p:txBody>
      </p:sp>
      <p:graphicFrame>
        <p:nvGraphicFramePr>
          <p:cNvPr id="3" name="Table 2" descr="Table: Works fully in the kit. Columns: Skill, What it does."/>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What it does</a:t>
                      </a:r>
                    </a:p>
                  </a:txBody>
                  <a:tcPr/>
                </a:tc>
              </a:tr>
              <a:tr h="457200">
                <a:tc>
                  <a:txBody>
                    <a:bodyPr wrap="square"/>
                    <a:lstStyle/>
                    <a:p>
                      <a:r>
                        <a:rPr sz="1800" b="0" lang="en-US">
                          <a:latin typeface="Consolas"/>
                        </a:rPr>
                        <a:t>nvda-addon-specialist</a:t>
                      </a:r>
                    </a:p>
                  </a:txBody>
                  <a:tcPr/>
                </a:tc>
                <a:tc>
                  <a:txBody>
                    <a:bodyPr wrap="square"/>
                    <a:lstStyle/>
                    <a:p>
                      <a:r>
                        <a:rPr sz="1800" b="0" lang="en-US">
                          <a:latin typeface="Arial"/>
                        </a:rPr>
                        <a:t>NVDA add-ons: plugin types, manifest, events, scripts and packaging.</a:t>
                      </a:r>
                    </a:p>
                  </a:txBody>
                  <a:tcPr/>
                </a:tc>
              </a:tr>
              <a:tr h="457200">
                <a:tc>
                  <a:txBody>
                    <a:bodyPr wrap="square"/>
                    <a:lstStyle/>
                    <a:p>
                      <a:r>
                        <a:rPr sz="1800" b="0" lang="en-US">
                          <a:latin typeface="Consolas"/>
                        </a:rPr>
                        <a:t>office-remediator</a:t>
                      </a:r>
                    </a:p>
                  </a:txBody>
                  <a:tcPr/>
                </a:tc>
                <a:tc>
                  <a:txBody>
                    <a:bodyPr wrap="square"/>
                    <a:lstStyle/>
                    <a:p>
                      <a:r>
                        <a:rPr sz="1800" b="0" lang="en-US">
                          <a:latin typeface="Arial"/>
                        </a:rPr>
                        <a:t>Fix .docx, .xlsx and .pptx programmatically via python-docx and friends.</a:t>
                      </a:r>
                    </a:p>
                  </a:txBody>
                  <a:tcPr/>
                </a:tc>
              </a:tr>
              <a:tr h="457200">
                <a:tc>
                  <a:txBody>
                    <a:bodyPr wrap="square"/>
                    <a:lstStyle/>
                    <a:p>
                      <a:r>
                        <a:rPr sz="1800" b="0" lang="en-US">
                          <a:latin typeface="Consolas"/>
                        </a:rPr>
                        <a:t>osaf-community</a:t>
                      </a:r>
                    </a:p>
                  </a:txBody>
                  <a:tcPr/>
                </a:tc>
                <a:tc>
                  <a:txBody>
                    <a:bodyPr wrap="square"/>
                    <a:lstStyle/>
                    <a:p>
                      <a:r>
                        <a:rPr sz="1800" b="0" lang="en-US">
                          <a:latin typeface="Arial"/>
                        </a:rPr>
                        <a:t>Open Source Accessibility Framework Community phase: reports, participation, recognition, progress, resources.</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(10 of 14)</a:t>
            </a:r>
          </a:p>
        </p:txBody>
      </p:sp>
      <p:graphicFrame>
        <p:nvGraphicFramePr>
          <p:cNvPr id="3" name="Table 2" descr="Table: Works fully in the kit. Columns: Skill, What it does."/>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What it does</a:t>
                      </a:r>
                    </a:p>
                  </a:txBody>
                  <a:tcPr/>
                </a:tc>
              </a:tr>
              <a:tr h="457200">
                <a:tc>
                  <a:txBody>
                    <a:bodyPr wrap="square"/>
                    <a:lstStyle/>
                    <a:p>
                      <a:r>
                        <a:rPr sz="1800" b="0" lang="en-US">
                          <a:latin typeface="Consolas"/>
                        </a:rPr>
                        <a:t>osaf-foundational</a:t>
                      </a:r>
                    </a:p>
                  </a:txBody>
                  <a:tcPr/>
                </a:tc>
                <a:tc>
                  <a:txBody>
                    <a:bodyPr wrap="square"/>
                    <a:lstStyle/>
                    <a:p>
                      <a:r>
                        <a:rPr sz="1800" b="0" lang="en-US">
                          <a:latin typeface="Arial"/>
                        </a:rPr>
                        <a:t>Open Source Accessibility Framework Foundational phase: ACCESSIBILITY.md and an accessibility label.</a:t>
                      </a:r>
                    </a:p>
                  </a:txBody>
                  <a:tcPr/>
                </a:tc>
              </a:tr>
              <a:tr h="457200">
                <a:tc>
                  <a:txBody>
                    <a:bodyPr wrap="square"/>
                    <a:lstStyle/>
                    <a:p>
                      <a:r>
                        <a:rPr sz="1800" b="0" lang="en-US">
                          <a:latin typeface="Consolas"/>
                        </a:rPr>
                        <a:t>osaf-testing</a:t>
                      </a:r>
                    </a:p>
                  </a:txBody>
                  <a:tcPr/>
                </a:tc>
                <a:tc>
                  <a:txBody>
                    <a:bodyPr wrap="square"/>
                    <a:lstStyle/>
                    <a:p>
                      <a:r>
                        <a:rPr sz="1800" b="0" lang="en-US">
                          <a:latin typeface="Arial"/>
                        </a:rPr>
                        <a:t>Open Source Accessibility Framework Testing phase: automated, keyboard, screen reader, manual and docs checks.</a:t>
                      </a:r>
                    </a:p>
                  </a:txBody>
                  <a:tcPr/>
                </a:tc>
              </a:tr>
              <a:tr h="457200">
                <a:tc>
                  <a:txBody>
                    <a:bodyPr wrap="square"/>
                    <a:lstStyle/>
                    <a:p>
                      <a:r>
                        <a:rPr sz="1800" b="0" lang="en-US">
                          <a:latin typeface="Consolas"/>
                        </a:rPr>
                        <a:t>osaf-workflow</a:t>
                      </a:r>
                    </a:p>
                  </a:txBody>
                  <a:tcPr/>
                </a:tc>
                <a:tc>
                  <a:txBody>
                    <a:bodyPr wrap="square"/>
                    <a:lstStyle/>
                    <a:p>
                      <a:r>
                        <a:rPr sz="1800" b="0" lang="en-US">
                          <a:latin typeface="Arial"/>
                        </a:rPr>
                        <a:t>Open Source Accessibility Framework Workflow phase: expectations, reporting, triage, PR template, labels, docs.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(11 of 14)</a:t>
            </a:r>
          </a:p>
        </p:txBody>
      </p:sp>
      <p:graphicFrame>
        <p:nvGraphicFramePr>
          <p:cNvPr id="3" name="Table 2" descr="Table: Works fully in the kit. Columns: Skill, What it doe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What it does</a:t>
                      </a:r>
                    </a:p>
                  </a:txBody>
                  <a:tcPr/>
                </a:tc>
              </a:tr>
              <a:tr h="457200">
                <a:tc>
                  <a:txBody>
                    <a:bodyPr wrap="square"/>
                    <a:lstStyle/>
                    <a:p>
                      <a:r>
                        <a:rPr sz="1800" b="0" lang="en-US">
                          <a:latin typeface="Consolas"/>
                        </a:rPr>
                        <a:t>performance-accessibility</a:t>
                      </a:r>
                    </a:p>
                  </a:txBody>
                  <a:tcPr/>
                </a:tc>
                <a:tc>
                  <a:txBody>
                    <a:bodyPr wrap="square"/>
                    <a:lstStyle/>
                    <a:p>
                      <a:r>
                        <a:rPr sz="1800" b="0" lang="en-US">
                          <a:latin typeface="Arial"/>
                        </a:rPr>
                        <a:t>Lazy loading, skeletons, layout shift and loading states for AT users.</a:t>
                      </a:r>
                    </a:p>
                  </a:txBody>
                  <a:tcPr/>
                </a:tc>
              </a:tr>
              <a:tr h="457200">
                <a:tc>
                  <a:txBody>
                    <a:bodyPr wrap="square"/>
                    <a:lstStyle/>
                    <a:p>
                      <a:r>
                        <a:rPr sz="1800" b="0" lang="en-US">
                          <a:latin typeface="Consolas"/>
                        </a:rPr>
                        <a:t>powerpoint-accessibility</a:t>
                      </a:r>
                    </a:p>
                  </a:txBody>
                  <a:tcPr/>
                </a:tc>
                <a:tc>
                  <a:txBody>
                    <a:bodyPr wrap="square"/>
                    <a:lstStyle/>
                    <a:p>
                      <a:r>
                        <a:rPr sz="1800" b="0" lang="en-US">
                          <a:latin typeface="Arial"/>
                        </a:rPr>
                        <a:t>Scan and fix .pptx files: slide titles, alt text and reading order.</a:t>
                      </a:r>
                    </a:p>
                  </a:txBody>
                  <a:tcPr/>
                </a:tc>
              </a:tr>
              <a:tr h="457200">
                <a:tc>
                  <a:txBody>
                    <a:bodyPr wrap="square"/>
                    <a:lstStyle/>
                    <a:p>
                      <a:r>
                        <a:rPr sz="1800" b="0" lang="en-US">
                          <a:latin typeface="Consolas"/>
                        </a:rPr>
                        <a:t>pr-review</a:t>
                      </a:r>
                    </a:p>
                  </a:txBody>
                  <a:tcPr/>
                </a:tc>
                <a:tc>
                  <a:txBody>
                    <a:bodyPr wrap="square"/>
                    <a:lstStyle/>
                    <a:p>
                      <a:r>
                        <a:rPr sz="1800" b="0" lang="en-US">
                          <a:latin typeface="Arial"/>
                        </a:rPr>
                        <a:t>Review pull requests: diffs, comments, context and written review docs.</a:t>
                      </a:r>
                    </a:p>
                  </a:txBody>
                  <a:tcPr/>
                </a:tc>
              </a:tr>
              <a:tr h="457200">
                <a:tc>
                  <a:txBody>
                    <a:bodyPr wrap="square"/>
                    <a:lstStyle/>
                    <a:p>
                      <a:r>
                        <a:rPr sz="1800" b="0" lang="en-US">
                          <a:latin typeface="Consolas"/>
                        </a:rPr>
                        <a:t>python-specialist</a:t>
                      </a:r>
                    </a:p>
                  </a:txBody>
                  <a:tcPr/>
                </a:tc>
                <a:tc>
                  <a:txBody>
                    <a:bodyPr wrap="square"/>
                    <a:lstStyle/>
                    <a:p>
                      <a:r>
                        <a:rPr sz="1800" b="0" lang="en-US">
                          <a:latin typeface="Arial"/>
                        </a:rPr>
                        <a:t>Python debugging, packaging, testing, typing, async and performance.</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(12 of 14)</a:t>
            </a:r>
          </a:p>
        </p:txBody>
      </p:sp>
      <p:graphicFrame>
        <p:nvGraphicFramePr>
          <p:cNvPr id="3" name="Table 2" descr="Table: Works fully in the kit. Columns: Skill, What it doe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What it does</a:t>
                      </a:r>
                    </a:p>
                  </a:txBody>
                  <a:tcPr/>
                </a:tc>
              </a:tr>
              <a:tr h="457200">
                <a:tc>
                  <a:txBody>
                    <a:bodyPr wrap="square"/>
                    <a:lstStyle/>
                    <a:p>
                      <a:r>
                        <a:rPr sz="1800" b="0" lang="en-US">
                          <a:latin typeface="Consolas"/>
                        </a:rPr>
                        <a:t>repo-admin</a:t>
                      </a:r>
                    </a:p>
                  </a:txBody>
                  <a:tcPr/>
                </a:tc>
                <a:tc>
                  <a:txBody>
                    <a:bodyPr wrap="square"/>
                    <a:lstStyle/>
                    <a:p>
                      <a:r>
                        <a:rPr sz="1800" b="0" lang="en-US">
                          <a:latin typeface="Arial"/>
                        </a:rPr>
                        <a:t>Repo admin: collaborators, branch protection, webhooks and labels.</a:t>
                      </a:r>
                    </a:p>
                  </a:txBody>
                  <a:tcPr/>
                </a:tc>
              </a:tr>
              <a:tr h="457200">
                <a:tc>
                  <a:txBody>
                    <a:bodyPr wrap="square"/>
                    <a:lstStyle/>
                    <a:p>
                      <a:r>
                        <a:rPr sz="1800" b="0" lang="en-US">
                          <a:latin typeface="Consolas"/>
                        </a:rPr>
                        <a:t>screen-reader-lab</a:t>
                      </a:r>
                    </a:p>
                  </a:txBody>
                  <a:tcPr/>
                </a:tc>
                <a:tc>
                  <a:txBody>
                    <a:bodyPr wrap="square"/>
                    <a:lstStyle/>
                    <a:p>
                      <a:r>
                        <a:rPr sz="1800" b="0" lang="en-US">
                          <a:latin typeface="Arial"/>
                        </a:rPr>
                        <a:t>Simulate screen reader narration of HTML or JSX, step by step.</a:t>
                      </a:r>
                    </a:p>
                  </a:txBody>
                  <a:tcPr/>
                </a:tc>
              </a:tr>
              <a:tr h="457200">
                <a:tc>
                  <a:txBody>
                    <a:bodyPr wrap="square"/>
                    <a:lstStyle/>
                    <a:p>
                      <a:r>
                        <a:rPr sz="1800" b="0" lang="en-US">
                          <a:latin typeface="Consolas"/>
                        </a:rPr>
                        <a:t>tables-data-specialist</a:t>
                      </a:r>
                    </a:p>
                  </a:txBody>
                  <a:tcPr/>
                </a:tc>
                <a:tc>
                  <a:txBody>
                    <a:bodyPr wrap="square"/>
                    <a:lstStyle/>
                    <a:p>
                      <a:r>
                        <a:rPr sz="1800" b="0" lang="en-US">
                          <a:latin typeface="Arial"/>
                        </a:rPr>
                        <a:t>Data tables and grids: headers, scope, captions, sorting and complex tables.</a:t>
                      </a:r>
                    </a:p>
                  </a:txBody>
                  <a:tcPr/>
                </a:tc>
              </a:tr>
              <a:tr h="457200">
                <a:tc>
                  <a:txBody>
                    <a:bodyPr wrap="square"/>
                    <a:lstStyle/>
                    <a:p>
                      <a:r>
                        <a:rPr sz="1800" b="0" lang="en-US">
                          <a:latin typeface="Consolas"/>
                        </a:rPr>
                        <a:t>team-manager</a:t>
                      </a:r>
                    </a:p>
                  </a:txBody>
                  <a:tcPr/>
                </a:tc>
                <a:tc>
                  <a:txBody>
                    <a:bodyPr wrap="square"/>
                    <a:lstStyle/>
                    <a:p>
                      <a:r>
                        <a:rPr sz="1800" b="0" lang="en-US">
                          <a:latin typeface="Arial"/>
                        </a:rPr>
                        <a:t>GitHub org teams: create, staff, onboard, offboard and audit access.</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(13 of 14)</a:t>
            </a:r>
          </a:p>
        </p:txBody>
      </p:sp>
      <p:graphicFrame>
        <p:nvGraphicFramePr>
          <p:cNvPr id="3" name="Table 2" descr="Table: Works fully in the kit. Columns: Skill, What it doe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What it does</a:t>
                      </a:r>
                    </a:p>
                  </a:txBody>
                  <a:tcPr/>
                </a:tc>
              </a:tr>
              <a:tr h="457200">
                <a:tc>
                  <a:txBody>
                    <a:bodyPr wrap="square"/>
                    <a:lstStyle/>
                    <a:p>
                      <a:r>
                        <a:rPr sz="1800" b="0" lang="en-US">
                          <a:latin typeface="Consolas"/>
                        </a:rPr>
                        <a:t>template-builder</a:t>
                      </a:r>
                    </a:p>
                  </a:txBody>
                  <a:tcPr/>
                </a:tc>
                <a:tc>
                  <a:txBody>
                    <a:bodyPr wrap="square"/>
                    <a:lstStyle/>
                    <a:p>
                      <a:r>
                        <a:rPr sz="1800" b="0" lang="en-US">
                          <a:latin typeface="Arial"/>
                        </a:rPr>
                        <a:t>Build GitHub issue, PR and discussion templates from a guided wizard.</a:t>
                      </a:r>
                    </a:p>
                  </a:txBody>
                  <a:tcPr/>
                </a:tc>
              </a:tr>
              <a:tr h="457200">
                <a:tc>
                  <a:txBody>
                    <a:bodyPr wrap="square"/>
                    <a:lstStyle/>
                    <a:p>
                      <a:r>
                        <a:rPr sz="1800" b="0" lang="en-US">
                          <a:latin typeface="Consolas"/>
                        </a:rPr>
                        <a:t>text-quality-reviewer</a:t>
                      </a:r>
                    </a:p>
                  </a:txBody>
                  <a:tcPr/>
                </a:tc>
                <a:tc>
                  <a:txBody>
                    <a:bodyPr wrap="square"/>
                    <a:lstStyle/>
                    <a:p>
                      <a:r>
                        <a:rPr sz="1800" b="0" lang="en-US">
                          <a:latin typeface="Arial"/>
                        </a:rPr>
                        <a:t>Catch weak alt text, aria-labels and button names, and template leftovers.</a:t>
                      </a:r>
                    </a:p>
                  </a:txBody>
                  <a:tcPr/>
                </a:tc>
              </a:tr>
              <a:tr h="457200">
                <a:tc>
                  <a:txBody>
                    <a:bodyPr wrap="square"/>
                    <a:lstStyle/>
                    <a:p>
                      <a:r>
                        <a:rPr sz="1800" b="0" lang="en-US">
                          <a:latin typeface="Consolas"/>
                        </a:rPr>
                        <a:t>wcag-aaa</a:t>
                      </a:r>
                    </a:p>
                  </a:txBody>
                  <a:tcPr/>
                </a:tc>
                <a:tc>
                  <a:txBody>
                    <a:bodyPr wrap="square"/>
                    <a:lstStyle/>
                    <a:p>
                      <a:r>
                        <a:rPr sz="1800" b="0" lang="en-US">
                          <a:latin typeface="Arial"/>
                        </a:rPr>
                        <a:t>WCAG 2.2 Level AAA criteria that go beyond the AA target.</a:t>
                      </a:r>
                    </a:p>
                  </a:txBody>
                  <a:tcPr/>
                </a:tc>
              </a:tr>
              <a:tr h="457200">
                <a:tc>
                  <a:txBody>
                    <a:bodyPr wrap="square"/>
                    <a:lstStyle/>
                    <a:p>
                      <a:r>
                        <a:rPr sz="1800" b="0" lang="en-US">
                          <a:latin typeface="Consolas"/>
                        </a:rPr>
                        <a:t>wcag-guide</a:t>
                      </a:r>
                    </a:p>
                  </a:txBody>
                  <a:tcPr/>
                </a:tc>
                <a:tc>
                  <a:txBody>
                    <a:bodyPr wrap="square"/>
                    <a:lstStyle/>
                    <a:p>
                      <a:r>
                        <a:rPr sz="1800" b="0" lang="en-US">
                          <a:latin typeface="Arial"/>
                        </a:rPr>
                        <a:t>Explain WCAG 2.2 criteria, conformance levels and what changed.</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fully in the kit (14 of 14)</a:t>
            </a:r>
          </a:p>
        </p:txBody>
      </p:sp>
      <p:graphicFrame>
        <p:nvGraphicFramePr>
          <p:cNvPr id="3" name="Table 2" descr="Table: Works fully in the kit. Columns: Skill, What it doe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What it does</a:t>
                      </a:r>
                    </a:p>
                  </a:txBody>
                  <a:tcPr/>
                </a:tc>
              </a:tr>
              <a:tr h="457200">
                <a:tc>
                  <a:txBody>
                    <a:bodyPr wrap="square"/>
                    <a:lstStyle/>
                    <a:p>
                      <a:r>
                        <a:rPr sz="1800" b="0" lang="en-US">
                          <a:latin typeface="Consolas"/>
                        </a:rPr>
                        <a:t>wcag3-preview</a:t>
                      </a:r>
                    </a:p>
                  </a:txBody>
                  <a:tcPr/>
                </a:tc>
                <a:tc>
                  <a:txBody>
                    <a:bodyPr wrap="square"/>
                    <a:lstStyle/>
                    <a:p>
                      <a:r>
                        <a:rPr sz="1800" b="0" lang="en-US">
                          <a:latin typeface="Arial"/>
                        </a:rPr>
                        <a:t>WCAG 3.0 draft preview: core requirements, tiers, contrast and scope.</a:t>
                      </a:r>
                    </a:p>
                  </a:txBody>
                  <a:tcPr/>
                </a:tc>
              </a:tr>
              <a:tr h="457200">
                <a:tc>
                  <a:txBody>
                    <a:bodyPr wrap="square"/>
                    <a:lstStyle/>
                    <a:p>
                      <a:r>
                        <a:rPr sz="1800" b="0" lang="en-US">
                          <a:latin typeface="Consolas"/>
                        </a:rPr>
                        <a:t>web-component-specialist</a:t>
                      </a:r>
                    </a:p>
                  </a:txBody>
                  <a:tcPr/>
                </a:tc>
                <a:tc>
                  <a:txBody>
                    <a:bodyPr wrap="square"/>
                    <a:lstStyle/>
                    <a:p>
                      <a:r>
                        <a:rPr sz="1800" b="0" lang="en-US">
                          <a:latin typeface="Arial"/>
                        </a:rPr>
                        <a:t>Custom elements and shadow DOM: ElementInternals, cross-shadow ARIA, focus.</a:t>
                      </a:r>
                    </a:p>
                  </a:txBody>
                  <a:tcPr/>
                </a:tc>
              </a:tr>
              <a:tr h="457200">
                <a:tc>
                  <a:txBody>
                    <a:bodyPr wrap="square"/>
                    <a:lstStyle/>
                    <a:p>
                      <a:r>
                        <a:rPr sz="1800" b="0" lang="en-US">
                          <a:latin typeface="Consolas"/>
                        </a:rPr>
                        <a:t>word-accessibility</a:t>
                      </a:r>
                    </a:p>
                  </a:txBody>
                  <a:tcPr/>
                </a:tc>
                <a:tc>
                  <a:txBody>
                    <a:bodyPr wrap="square"/>
                    <a:lstStyle/>
                    <a:p>
                      <a:r>
                        <a:rPr sz="1800" b="0" lang="en-US">
                          <a:latin typeface="Arial"/>
                        </a:rPr>
                        <a:t>Scan and fix .docx files: title, headings, alt text, table headers.</a:t>
                      </a:r>
                    </a:p>
                  </a:txBody>
                  <a:tcPr/>
                </a:tc>
              </a:tr>
              <a:tr h="457200">
                <a:tc>
                  <a:txBody>
                    <a:bodyPr wrap="square"/>
                    <a:lstStyle/>
                    <a:p>
                      <a:r>
                        <a:rPr sz="1800" b="0" lang="en-US">
                          <a:latin typeface="Consolas"/>
                        </a:rPr>
                        <a:t>wxpython-specialist</a:t>
                      </a:r>
                    </a:p>
                  </a:txBody>
                  <a:tcPr/>
                </a:tc>
                <a:tc>
                  <a:txBody>
                    <a:bodyPr wrap="square"/>
                    <a:lstStyle/>
                    <a:p>
                      <a:r>
                        <a:rPr sz="1800" b="0" lang="en-US">
                          <a:latin typeface="Arial"/>
                        </a:rPr>
                        <a:t>wxPython GUI: sizers, events, AUI, custom controls and threading.</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(1 of 16)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Each row is one skill that relies on something the kit cannot carry, and what it does instead.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(2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a11y-core</a:t>
                      </a:r>
                    </a:p>
                  </a:txBody>
                  <a:tcPr/>
                </a:tc>
                <a:tc>
                  <a:txBody>
                    <a:bodyPr wrap="square"/>
                    <a:lstStyle/>
                    <a:p>
                      <a:r>
                        <a:rPr sz="1800" b="0" lang="en-US">
                          <a:latin typeface="Arial"/>
                        </a:rPr>
                        <a:t>Its report scripts are not in the kit. It writes its findings directly instead.</a:t>
                      </a:r>
                    </a:p>
                  </a:txBody>
                  <a:tcPr/>
                </a:tc>
              </a:tr>
              <a:tr h="457200">
                <a:tc>
                  <a:txBody>
                    <a:bodyPr wrap="square"/>
                    <a:lstStyle/>
                    <a:p>
                      <a:r>
                        <a:rPr sz="1800" b="0" lang="en-US">
                          <a:latin typeface="Consolas"/>
                        </a:rPr>
                        <a:t>accessibility-lead</a:t>
                      </a:r>
                    </a:p>
                  </a:txBody>
                  <a:tcPr/>
                </a:tc>
                <a:tc>
                  <a:txBody>
                    <a:bodyPr wrap="square"/>
                    <a:lstStyle/>
                    <a:p>
                      <a:r>
                        <a:rPr sz="1800" b="0" lang="en-US">
                          <a:latin typeface="Arial"/>
                        </a:rPr>
                        <a:t>Its report scripts are not in the kit. It writes its findings directly instead.</a:t>
                      </a:r>
                    </a:p>
                  </a:txBody>
                  <a:tcPr/>
                </a:tc>
              </a:tr>
              <a:tr h="457200">
                <a:tc>
                  <a:txBody>
                    <a:bodyPr wrap="square"/>
                    <a:lstStyle/>
                    <a:p>
                      <a:r>
                        <a:rPr sz="1800" b="0" lang="en-US">
                          <a:latin typeface="Consolas"/>
                        </a:rPr>
                        <a:t>actions-manager</a:t>
                      </a:r>
                    </a:p>
                  </a:txBody>
                  <a:tcPr/>
                </a:tc>
                <a:tc>
                  <a:txBody>
                    <a:bodyPr wrap="square"/>
                    <a:lstStyle/>
                    <a:p>
                      <a:r>
                        <a:rPr sz="1800" b="0" lang="en-US">
                          <a:latin typeface="Arial"/>
                        </a:rPr>
                        <a:t>Needs the GitHub command-line tool. Use the full version in Codespaces.</a:t>
                      </a:r>
                    </a:p>
                  </a:txBody>
                  <a:tcPr/>
                </a:tc>
              </a:tr>
              <a:tr h="457200">
                <a:tc>
                  <a:txBody>
                    <a:bodyPr wrap="square"/>
                    <a:lstStyle/>
                    <a:p>
                      <a:r>
                        <a:rPr sz="1800" b="0" lang="en-US">
                          <a:latin typeface="Consolas"/>
                        </a:rPr>
                        <a:t>ci-accessibility</a:t>
                      </a:r>
                    </a:p>
                  </a:txBody>
                  <a:tcPr/>
                </a:tc>
                <a:tc>
                  <a:txBody>
                    <a:bodyPr wrap="square"/>
                    <a:lstStyle/>
                    <a:p>
                      <a:r>
                        <a:rPr sz="1800" b="0" lang="en-US">
                          <a:latin typeface="Arial"/>
                        </a:rPr>
                        <a:t>Its scanner tools are not in the kit. Give it your checker's results instead, or use the full version in Codespaces.</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(3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cross-document-analyzer</a:t>
                      </a:r>
                    </a:p>
                  </a:txBody>
                  <a:tcPr/>
                </a:tc>
                <a:tc>
                  <a:txBody>
                    <a:bodyPr wrap="square"/>
                    <a:lstStyle/>
                    <a:p>
                      <a:r>
                        <a:rPr sz="1800" b="0" lang="en-US">
                          <a:latin typeface="Arial"/>
                        </a:rPr>
                        <a:t>Its report scripts are not in the kit. It writes its findings directly instead.</a:t>
                      </a:r>
                    </a:p>
                  </a:txBody>
                  <a:tcPr/>
                </a:tc>
              </a:tr>
              <a:tr h="457200">
                <a:tc>
                  <a:txBody>
                    <a:bodyPr wrap="square"/>
                    <a:lstStyle/>
                    <a:p>
                      <a:r>
                        <a:rPr sz="1800" b="0" lang="en-US">
                          <a:latin typeface="Consolas"/>
                        </a:rPr>
                        <a:t>cross-page-analyzer</a:t>
                      </a:r>
                    </a:p>
                  </a:txBody>
                  <a:tcPr/>
                </a:tc>
                <a:tc>
                  <a:txBody>
                    <a:bodyPr wrap="square"/>
                    <a:lstStyle/>
                    <a:p>
                      <a:r>
                        <a:rPr sz="1800" b="0" lang="en-US">
                          <a:latin typeface="Arial"/>
                        </a:rPr>
                        <a:t>Its scanner tools are not in the kit. Give it your checker's results instead, or use the full version in Codespaces. Its report scripts are not in the kit. It writes its findings directly instead.</a:t>
                      </a:r>
                    </a:p>
                  </a:txBody>
                  <a:tcPr/>
                </a:tc>
              </a:tr>
              <a:tr h="457200">
                <a:tc>
                  <a:txBody>
                    <a:bodyPr wrap="square"/>
                    <a:lstStyle/>
                    <a:p>
                      <a:r>
                        <a:rPr sz="1800" b="0" lang="en-US">
                          <a:latin typeface="Consolas"/>
                        </a:rPr>
                        <a:t>developer-hub</a:t>
                      </a:r>
                    </a:p>
                  </a:txBody>
                  <a:tcPr/>
                </a:tc>
                <a:tc>
                  <a:txBody>
                    <a:bodyPr wrap="square"/>
                    <a:lstStyle/>
                    <a:p>
                      <a:r>
                        <a:rPr sz="1800" b="0" lang="en-US">
                          <a:latin typeface="Arial"/>
                        </a:rPr>
                        <a:t>Its report scripts are not in the kit. It writes its findings directly instead.</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(4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document-accessibility-wizard</a:t>
                      </a:r>
                    </a:p>
                  </a:txBody>
                  <a:tcPr/>
                </a:tc>
                <a:tc>
                  <a:txBody>
                    <a:bodyPr wrap="square"/>
                    <a:lstStyle/>
                    <a:p>
                      <a:r>
                        <a:rPr sz="1800" b="0" lang="en-US">
                          <a:latin typeface="Arial"/>
                        </a:rPr>
                        <a:t>Its report scripts are not in the kit. It writes its findings directly instead.</a:t>
                      </a:r>
                    </a:p>
                  </a:txBody>
                  <a:tcPr/>
                </a:tc>
              </a:tr>
              <a:tr h="457200">
                <a:tc>
                  <a:txBody>
                    <a:bodyPr wrap="square"/>
                    <a:lstStyle/>
                    <a:p>
                      <a:r>
                        <a:rPr sz="1800" b="0" lang="en-US">
                          <a:latin typeface="Consolas"/>
                        </a:rPr>
                        <a:t>epub-scan-config</a:t>
                      </a:r>
                    </a:p>
                  </a:txBody>
                  <a:tcPr/>
                </a:tc>
                <a:tc>
                  <a:txBody>
                    <a:bodyPr wrap="square"/>
                    <a:lstStyle/>
                    <a:p>
                      <a:r>
                        <a:rPr sz="1800" b="0" lang="en-US">
                          <a:latin typeface="Arial"/>
                        </a:rPr>
                        <a:t>Its scanner tools are not in the kit. Give it your checker's results instead, or use the full version in Codespaces.</a:t>
                      </a:r>
                    </a:p>
                  </a:txBody>
                  <a:tcPr/>
                </a:tc>
              </a:tr>
              <a:tr h="457200">
                <a:tc>
                  <a:txBody>
                    <a:bodyPr wrap="square"/>
                    <a:lstStyle/>
                    <a:p>
                      <a:r>
                        <a:rPr sz="1800" b="0" lang="en-US">
                          <a:latin typeface="Consolas"/>
                        </a:rPr>
                        <a:t>github-hub</a:t>
                      </a:r>
                    </a:p>
                  </a:txBody>
                  <a:tcPr/>
                </a:tc>
                <a:tc>
                  <a:txBody>
                    <a:bodyPr wrap="square"/>
                    <a:lstStyle/>
                    <a:p>
                      <a:r>
                        <a:rPr sz="1800" b="0" lang="en-US">
                          <a:latin typeface="Arial"/>
                        </a:rPr>
                        <a:t>Its report scripts are not in the kit. It writes its findings directly instead.</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(5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kb-ci-integration</a:t>
                      </a:r>
                    </a:p>
                  </a:txBody>
                  <a:tcPr/>
                </a:tc>
                <a:tc>
                  <a:txBody>
                    <a:bodyPr wrap="square"/>
                    <a:lstStyle/>
                    <a:p>
                      <a:r>
                        <a:rPr sz="1800" b="0" lang="en-US">
                          <a:latin typeface="Arial"/>
                        </a:rPr>
                        <a:t>Its scanner tools are not in the kit. Give it your checker's results instead, or use the full version in Codespaces.</a:t>
                      </a:r>
                    </a:p>
                  </a:txBody>
                  <a:tcPr/>
                </a:tc>
              </a:tr>
              <a:tr h="457200">
                <a:tc>
                  <a:txBody>
                    <a:bodyPr wrap="square"/>
                    <a:lstStyle/>
                    <a:p>
                      <a:r>
                        <a:rPr sz="1800" b="0" lang="en-US">
                          <a:latin typeface="Consolas"/>
                        </a:rPr>
                        <a:t>kb-design-system</a:t>
                      </a:r>
                    </a:p>
                  </a:txBody>
                  <a:tcPr/>
                </a:tc>
                <a:tc>
                  <a:txBody>
                    <a:bodyPr wrap="square"/>
                    <a:lstStyle/>
                    <a:p>
                      <a:r>
                        <a:rPr sz="1800" b="0" lang="en-US">
                          <a:latin typeface="Arial"/>
                        </a:rPr>
                        <a:t>Its scanner tools are not in the kit. Give it your checker's results instead, or use the full version in Codespaces.</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(6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kb-github-a11y-scanner</a:t>
                      </a:r>
                    </a:p>
                  </a:txBody>
                  <a:tcPr/>
                </a:tc>
                <a:tc>
                  <a:txBody>
                    <a:bodyPr wrap="square"/>
                    <a:lstStyle/>
                    <a:p>
                      <a:r>
                        <a:rPr sz="1800" b="0" lang="en-US">
                          <a:latin typeface="Arial"/>
                        </a:rPr>
                        <a:t>Its scanner tools are not in the kit. Give it your checker's results instead, or use the full version in Codespaces. Its report scripts are not in the kit. It writes its findings directly instead.</a:t>
                      </a:r>
                    </a:p>
                  </a:txBody>
                  <a:tcPr/>
                </a:tc>
              </a:tr>
              <a:tr h="457200">
                <a:tc>
                  <a:txBody>
                    <a:bodyPr wrap="square"/>
                    <a:lstStyle/>
                    <a:p>
                      <a:r>
                        <a:rPr sz="1800" b="0" lang="en-US">
                          <a:latin typeface="Consolas"/>
                        </a:rPr>
                        <a:t>kb-github-shared-instructions</a:t>
                      </a:r>
                    </a:p>
                  </a:txBody>
                  <a:tcPr/>
                </a:tc>
                <a:tc>
                  <a:txBody>
                    <a:bodyPr wrap="square"/>
                    <a:lstStyle/>
                    <a:p>
                      <a:r>
                        <a:rPr sz="1800" b="0" lang="en-US">
                          <a:latin typeface="Arial"/>
                        </a:rPr>
                        <a:t>Its scanner tools are not in the kit. Give it your checker's results instead, or use the full version in Codespaces.</a:t>
                      </a:r>
                    </a:p>
                  </a:txBody>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(7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kb-lighthouse-scanner</a:t>
                      </a:r>
                    </a:p>
                  </a:txBody>
                  <a:tcPr/>
                </a:tc>
                <a:tc>
                  <a:txBody>
                    <a:bodyPr wrap="square"/>
                    <a:lstStyle/>
                    <a:p>
                      <a:r>
                        <a:rPr sz="1800" b="0" lang="en-US">
                          <a:latin typeface="Arial"/>
                        </a:rPr>
                        <a:t>Its report scripts are not in the kit. It writes its findings directly instead.</a:t>
                      </a:r>
                    </a:p>
                  </a:txBody>
                  <a:tcPr/>
                </a:tc>
              </a:tr>
              <a:tr h="457200">
                <a:tc>
                  <a:txBody>
                    <a:bodyPr wrap="square"/>
                    <a:lstStyle/>
                    <a:p>
                      <a:r>
                        <a:rPr sz="1800" b="0" lang="en-US">
                          <a:latin typeface="Consolas"/>
                        </a:rPr>
                        <a:t>kb-markdown-accessibility</a:t>
                      </a:r>
                    </a:p>
                  </a:txBody>
                  <a:tcPr/>
                </a:tc>
                <a:tc>
                  <a:txBody>
                    <a:bodyPr wrap="square"/>
                    <a:lstStyle/>
                    <a:p>
                      <a:r>
                        <a:rPr sz="1800" b="0" lang="en-US">
                          <a:latin typeface="Arial"/>
                        </a:rPr>
                        <a:t>Its report scripts are not in the kit. It writes its findings directly instead.</a:t>
                      </a:r>
                    </a:p>
                  </a:txBody>
                  <a:tcPr/>
                </a:tc>
              </a:tr>
              <a:tr h="457200">
                <a:tc>
                  <a:txBody>
                    <a:bodyPr wrap="square"/>
                    <a:lstStyle/>
                    <a:p>
                      <a:r>
                        <a:rPr sz="1800" b="0" lang="en-US">
                          <a:latin typeface="Consolas"/>
                        </a:rPr>
                        <a:t>kb-open-source-accessibility-framework</a:t>
                      </a:r>
                    </a:p>
                  </a:txBody>
                  <a:tcPr/>
                </a:tc>
                <a:tc>
                  <a:txBody>
                    <a:bodyPr wrap="square"/>
                    <a:lstStyle/>
                    <a:p>
                      <a:r>
                        <a:rPr sz="1800" b="0" lang="en-US">
                          <a:latin typeface="Arial"/>
                        </a:rPr>
                        <a:t>Its report scripts are not in the kit. It writes its findings directly instead.</a:t>
                      </a:r>
                    </a:p>
                  </a:txBody>
                  <a:tcPr/>
                </a:tc>
              </a:tr>
              <a:tr h="457200">
                <a:tc>
                  <a:txBody>
                    <a:bodyPr wrap="square"/>
                    <a:lstStyle/>
                    <a:p>
                      <a:r>
                        <a:rPr sz="1800" b="0" lang="en-US">
                          <a:latin typeface="Consolas"/>
                        </a:rPr>
                        <a:t>kb-playwright-testing</a:t>
                      </a:r>
                    </a:p>
                  </a:txBody>
                  <a:tcPr/>
                </a:tc>
                <a:tc>
                  <a:txBody>
                    <a:bodyPr wrap="square"/>
                    <a:lstStyle/>
                    <a:p>
                      <a:r>
                        <a:rPr sz="1800" b="0" lang="en-US">
                          <a:latin typeface="Arial"/>
                        </a:rPr>
                        <a:t>Its scanner tools are not in the kit. Give it your checker's results instead, or use the full version in Codespaces.</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(8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kb-report-generation</a:t>
                      </a:r>
                    </a:p>
                  </a:txBody>
                  <a:tcPr/>
                </a:tc>
                <a:tc>
                  <a:txBody>
                    <a:bodyPr wrap="square"/>
                    <a:lstStyle/>
                    <a:p>
                      <a:r>
                        <a:rPr sz="1800" b="0" lang="en-US">
                          <a:latin typeface="Arial"/>
                        </a:rPr>
                        <a:t>Its report scripts are not in the kit. It writes its findings directly instead.</a:t>
                      </a:r>
                    </a:p>
                  </a:txBody>
                  <a:tcPr/>
                </a:tc>
              </a:tr>
              <a:tr h="457200">
                <a:tc>
                  <a:txBody>
                    <a:bodyPr wrap="square"/>
                    <a:lstStyle/>
                    <a:p>
                      <a:r>
                        <a:rPr sz="1800" b="0" lang="en-US">
                          <a:latin typeface="Consolas"/>
                        </a:rPr>
                        <a:t>kb-severity-mapping</a:t>
                      </a:r>
                    </a:p>
                  </a:txBody>
                  <a:tcPr/>
                </a:tc>
                <a:tc>
                  <a:txBody>
                    <a:bodyPr wrap="square"/>
                    <a:lstStyle/>
                    <a:p>
                      <a:r>
                        <a:rPr sz="1800" b="0" lang="en-US">
                          <a:latin typeface="Arial"/>
                        </a:rPr>
                        <a:t>Its scanner tools are not in the kit. Give it your checker's results instead, or use the full version in Codespaces. Its report scripts are not in the kit. It writes its findings directly instead.</a:t>
                      </a:r>
                    </a:p>
                  </a:txBody>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(9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kb-testing-strategy</a:t>
                      </a:r>
                    </a:p>
                  </a:txBody>
                  <a:tcPr/>
                </a:tc>
                <a:tc>
                  <a:txBody>
                    <a:bodyPr wrap="square"/>
                    <a:lstStyle/>
                    <a:p>
                      <a:r>
                        <a:rPr sz="1800" b="0" lang="en-US">
                          <a:latin typeface="Arial"/>
                        </a:rPr>
                        <a:t>Its scanner tools are not in the kit. Give it your checker's results instead, or use the full version in Codespaces.</a:t>
                      </a:r>
                    </a:p>
                  </a:txBody>
                  <a:tcPr/>
                </a:tc>
              </a:tr>
              <a:tr h="457200">
                <a:tc>
                  <a:txBody>
                    <a:bodyPr wrap="square"/>
                    <a:lstStyle/>
                    <a:p>
                      <a:r>
                        <a:rPr sz="1800" b="0" lang="en-US">
                          <a:latin typeface="Consolas"/>
                        </a:rPr>
                        <a:t>kb-web-scanning</a:t>
                      </a:r>
                    </a:p>
                  </a:txBody>
                  <a:tcPr/>
                </a:tc>
                <a:tc>
                  <a:txBody>
                    <a:bodyPr wrap="square"/>
                    <a:lstStyle/>
                    <a:p>
                      <a:r>
                        <a:rPr sz="1800" b="0" lang="en-US">
                          <a:latin typeface="Arial"/>
                        </a:rPr>
                        <a:t>Its scanner tools are not in the kit. Give it your checker's results instead, or use the full version in Codespaces.</a:t>
                      </a:r>
                    </a:p>
                  </a:txBody>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(10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kb-web-severity-scoring</a:t>
                      </a:r>
                    </a:p>
                  </a:txBody>
                  <a:tcPr/>
                </a:tc>
                <a:tc>
                  <a:txBody>
                    <a:bodyPr wrap="square"/>
                    <a:lstStyle/>
                    <a:p>
                      <a:r>
                        <a:rPr sz="1800" b="0" lang="en-US">
                          <a:latin typeface="Arial"/>
                        </a:rPr>
                        <a:t>Its scanner tools are not in the kit. Give it your checker's results instead, or use the full version in Codespaces. Its report scripts are not in the kit. It writes its findings directly instead.</a:t>
                      </a:r>
                    </a:p>
                  </a:txBody>
                  <a:tcPr/>
                </a:tc>
              </a:tr>
              <a:tr h="457200">
                <a:tc>
                  <a:txBody>
                    <a:bodyPr wrap="square"/>
                    <a:lstStyle/>
                    <a:p>
                      <a:r>
                        <a:rPr sz="1800" b="0" lang="en-US">
                          <a:latin typeface="Consolas"/>
                        </a:rPr>
                        <a:t>markdown-a11y-assistant</a:t>
                      </a:r>
                    </a:p>
                  </a:txBody>
                  <a:tcPr/>
                </a:tc>
                <a:tc>
                  <a:txBody>
                    <a:bodyPr wrap="square"/>
                    <a:lstStyle/>
                    <a:p>
                      <a:r>
                        <a:rPr sz="1800" b="0" lang="en-US">
                          <a:latin typeface="Arial"/>
                        </a:rPr>
                        <a:t>Its report scripts are not in the kit. It writes its findings directly instead.</a:t>
                      </a:r>
                    </a:p>
                  </a:txBody>
                  <a:tcPr/>
                </a:tc>
              </a:tr>
              <a:tr h="457200">
                <a:tc>
                  <a:txBody>
                    <a:bodyPr wrap="square"/>
                    <a:lstStyle/>
                    <a:p>
                      <a:r>
                        <a:rPr sz="1800" b="0" lang="en-US">
                          <a:latin typeface="Consolas"/>
                        </a:rPr>
                        <a:t>markdown-csv-reporter</a:t>
                      </a:r>
                    </a:p>
                  </a:txBody>
                  <a:tcPr/>
                </a:tc>
                <a:tc>
                  <a:txBody>
                    <a:bodyPr wrap="square"/>
                    <a:lstStyle/>
                    <a:p>
                      <a:r>
                        <a:rPr sz="1800" b="0" lang="en-US">
                          <a:latin typeface="Arial"/>
                        </a:rPr>
                        <a:t>Its report scripts are not in the kit. It writes its findings directly instead.</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(11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markdown-scanner</a:t>
                      </a:r>
                    </a:p>
                  </a:txBody>
                  <a:tcPr/>
                </a:tc>
                <a:tc>
                  <a:txBody>
                    <a:bodyPr wrap="square"/>
                    <a:lstStyle/>
                    <a:p>
                      <a:r>
                        <a:rPr sz="1800" b="0" lang="en-US">
                          <a:latin typeface="Arial"/>
                        </a:rPr>
                        <a:t>Its report scripts are not in the kit. It writes its findings directly instead.</a:t>
                      </a:r>
                    </a:p>
                  </a:txBody>
                  <a:tcPr/>
                </a:tc>
              </a:tr>
              <a:tr h="457200">
                <a:tc>
                  <a:txBody>
                    <a:bodyPr wrap="square"/>
                    <a:lstStyle/>
                    <a:p>
                      <a:r>
                        <a:rPr sz="1800" b="0" lang="en-US">
                          <a:latin typeface="Consolas"/>
                        </a:rPr>
                        <a:t>notifications-manager</a:t>
                      </a:r>
                    </a:p>
                  </a:txBody>
                  <a:tcPr/>
                </a:tc>
                <a:tc>
                  <a:txBody>
                    <a:bodyPr wrap="square"/>
                    <a:lstStyle/>
                    <a:p>
                      <a:r>
                        <a:rPr sz="1800" b="0" lang="en-US">
                          <a:latin typeface="Arial"/>
                        </a:rPr>
                        <a:t>Needs the GitHub command-line tool. Use the full version in Codespaces.</a:t>
                      </a:r>
                    </a:p>
                  </a:txBody>
                  <a:tcPr/>
                </a:tc>
              </a:tr>
              <a:tr h="457200">
                <a:tc>
                  <a:txBody>
                    <a:bodyPr wrap="square"/>
                    <a:lstStyle/>
                    <a:p>
                      <a:r>
                        <a:rPr sz="1800" b="0" lang="en-US">
                          <a:latin typeface="Consolas"/>
                        </a:rPr>
                        <a:t>office-scan-config</a:t>
                      </a:r>
                    </a:p>
                  </a:txBody>
                  <a:tcPr/>
                </a:tc>
                <a:tc>
                  <a:txBody>
                    <a:bodyPr wrap="square"/>
                    <a:lstStyle/>
                    <a:p>
                      <a:r>
                        <a:rPr sz="1800" b="0" lang="en-US">
                          <a:latin typeface="Arial"/>
                        </a:rPr>
                        <a:t>Its scanner tools are not in the kit. Give it your checker's results instead, or use the full version in Codespaces.</a:t>
                      </a:r>
                    </a:p>
                  </a:txBody>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(12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pdf-accessibility</a:t>
                      </a:r>
                    </a:p>
                  </a:txBody>
                  <a:tcPr/>
                </a:tc>
                <a:tc>
                  <a:txBody>
                    <a:bodyPr wrap="square"/>
                    <a:lstStyle/>
                    <a:p>
                      <a:r>
                        <a:rPr sz="1800" b="0" lang="en-US">
                          <a:latin typeface="Arial"/>
                        </a:rPr>
                        <a:t>Its scanner tools are not in the kit. Give it your checker's results instead, or use the full version in Codespaces.</a:t>
                      </a:r>
                    </a:p>
                  </a:txBody>
                  <a:tcPr/>
                </a:tc>
              </a:tr>
              <a:tr h="457200">
                <a:tc>
                  <a:txBody>
                    <a:bodyPr wrap="square"/>
                    <a:lstStyle/>
                    <a:p>
                      <a:r>
                        <a:rPr sz="1800" b="0" lang="en-US">
                          <a:latin typeface="Consolas"/>
                        </a:rPr>
                        <a:t>pdf-remediator</a:t>
                      </a:r>
                    </a:p>
                  </a:txBody>
                  <a:tcPr/>
                </a:tc>
                <a:tc>
                  <a:txBody>
                    <a:bodyPr wrap="square"/>
                    <a:lstStyle/>
                    <a:p>
                      <a:r>
                        <a:rPr sz="1800" b="0" lang="en-US">
                          <a:latin typeface="Arial"/>
                        </a:rPr>
                        <a:t>Its scanner tools are not in the kit. Give it your checker's results instead, or use the full version in Codespaces.</a:t>
                      </a:r>
                    </a:p>
                  </a:txBody>
                  <a:tcPr/>
                </a:tc>
              </a:tr>
              <a:tr h="457200">
                <a:tc>
                  <a:txBody>
                    <a:bodyPr wrap="square"/>
                    <a:lstStyle/>
                    <a:p>
                      <a:r>
                        <a:rPr sz="1800" b="0" lang="en-US">
                          <a:latin typeface="Consolas"/>
                        </a:rPr>
                        <a:t>pdf-scan-config</a:t>
                      </a:r>
                    </a:p>
                  </a:txBody>
                  <a:tcPr/>
                </a:tc>
                <a:tc>
                  <a:txBody>
                    <a:bodyPr wrap="square"/>
                    <a:lstStyle/>
                    <a:p>
                      <a:r>
                        <a:rPr sz="1800" b="0" lang="en-US">
                          <a:latin typeface="Arial"/>
                        </a:rPr>
                        <a:t>Its scanner tools are not in the kit. Give it your checker's results instead, or use the full version in Codespaces.</a:t>
                      </a:r>
                    </a:p>
                  </a:txBody>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(13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playwright-scanner</a:t>
                      </a:r>
                    </a:p>
                  </a:txBody>
                  <a:tcPr/>
                </a:tc>
                <a:tc>
                  <a:txBody>
                    <a:bodyPr wrap="square"/>
                    <a:lstStyle/>
                    <a:p>
                      <a:r>
                        <a:rPr sz="1800" b="0" lang="en-US">
                          <a:latin typeface="Arial"/>
                        </a:rPr>
                        <a:t>Its scanner tools are not in the kit. Give it your checker's results instead, or use the full version in Codespaces.</a:t>
                      </a:r>
                    </a:p>
                  </a:txBody>
                  <a:tcPr/>
                </a:tc>
              </a:tr>
              <a:tr h="457200">
                <a:tc>
                  <a:txBody>
                    <a:bodyPr wrap="square"/>
                    <a:lstStyle/>
                    <a:p>
                      <a:r>
                        <a:rPr sz="1800" b="0" lang="en-US">
                          <a:latin typeface="Consolas"/>
                        </a:rPr>
                        <a:t>playwright-verifier</a:t>
                      </a:r>
                    </a:p>
                  </a:txBody>
                  <a:tcPr/>
                </a:tc>
                <a:tc>
                  <a:txBody>
                    <a:bodyPr wrap="square"/>
                    <a:lstStyle/>
                    <a:p>
                      <a:r>
                        <a:rPr sz="1800" b="0" lang="en-US">
                          <a:latin typeface="Arial"/>
                        </a:rPr>
                        <a:t>Its scanner tools are not in the kit. Give it your checker's results instead, or use the full version in Codespaces.</a:t>
                      </a:r>
                    </a:p>
                  </a:txBody>
                  <a:tcPr/>
                </a:tc>
              </a:tr>
              <a:tr h="457200">
                <a:tc>
                  <a:txBody>
                    <a:bodyPr wrap="square"/>
                    <a:lstStyle/>
                    <a:p>
                      <a:r>
                        <a:rPr sz="1800" b="0" lang="en-US">
                          <a:latin typeface="Consolas"/>
                        </a:rPr>
                        <a:t>projects-manager</a:t>
                      </a:r>
                    </a:p>
                  </a:txBody>
                  <a:tcPr/>
                </a:tc>
                <a:tc>
                  <a:txBody>
                    <a:bodyPr wrap="square"/>
                    <a:lstStyle/>
                    <a:p>
                      <a:r>
                        <a:rPr sz="1800" b="0" lang="en-US">
                          <a:latin typeface="Arial"/>
                        </a:rPr>
                        <a:t>Needs the GitHub command-line tool. Use the full version in Codespaces.</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(14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release-manager</a:t>
                      </a:r>
                    </a:p>
                  </a:txBody>
                  <a:tcPr/>
                </a:tc>
                <a:tc>
                  <a:txBody>
                    <a:bodyPr wrap="square"/>
                    <a:lstStyle/>
                    <a:p>
                      <a:r>
                        <a:rPr sz="1800" b="0" lang="en-US">
                          <a:latin typeface="Arial"/>
                        </a:rPr>
                        <a:t>Needs the GitHub command-line tool. Use the full version in Codespaces.</a:t>
                      </a:r>
                    </a:p>
                  </a:txBody>
                  <a:tcPr/>
                </a:tc>
              </a:tr>
              <a:tr h="457200">
                <a:tc>
                  <a:txBody>
                    <a:bodyPr wrap="square"/>
                    <a:lstStyle/>
                    <a:p>
                      <a:r>
                        <a:rPr sz="1800" b="0" lang="en-US">
                          <a:latin typeface="Consolas"/>
                        </a:rPr>
                        <a:t>repo-manager</a:t>
                      </a:r>
                    </a:p>
                  </a:txBody>
                  <a:tcPr/>
                </a:tc>
                <a:tc>
                  <a:txBody>
                    <a:bodyPr wrap="square"/>
                    <a:lstStyle/>
                    <a:p>
                      <a:r>
                        <a:rPr sz="1800" b="0" lang="en-US">
                          <a:latin typeface="Arial"/>
                        </a:rPr>
                        <a:t>Needs the GitHub command-line tool. Use the full version in Codespaces.</a:t>
                      </a:r>
                    </a:p>
                  </a:txBody>
                  <a:tcPr/>
                </a:tc>
              </a:tr>
              <a:tr h="457200">
                <a:tc>
                  <a:txBody>
                    <a:bodyPr wrap="square"/>
                    <a:lstStyle/>
                    <a:p>
                      <a:r>
                        <a:rPr sz="1800" b="0" lang="en-US">
                          <a:latin typeface="Consolas"/>
                        </a:rPr>
                        <a:t>security-dashboard</a:t>
                      </a:r>
                    </a:p>
                  </a:txBody>
                  <a:tcPr/>
                </a:tc>
                <a:tc>
                  <a:txBody>
                    <a:bodyPr wrap="square"/>
                    <a:lstStyle/>
                    <a:p>
                      <a:r>
                        <a:rPr sz="1800" b="0" lang="en-US">
                          <a:latin typeface="Arial"/>
                        </a:rPr>
                        <a:t>Needs the GitHub command-line tool. Use the full version in Codespaces.</a:t>
                      </a:r>
                    </a:p>
                  </a:txBody>
                  <a:tcPr/>
                </a:tc>
              </a:tr>
              <a:tr h="457200">
                <a:tc>
                  <a:txBody>
                    <a:bodyPr wrap="square"/>
                    <a:lstStyle/>
                    <a:p>
                      <a:r>
                        <a:rPr sz="1800" b="0" lang="en-US">
                          <a:latin typeface="Consolas"/>
                        </a:rPr>
                        <a:t>testing-coach</a:t>
                      </a:r>
                    </a:p>
                  </a:txBody>
                  <a:tcPr/>
                </a:tc>
                <a:tc>
                  <a:txBody>
                    <a:bodyPr wrap="square"/>
                    <a:lstStyle/>
                    <a:p>
                      <a:r>
                        <a:rPr sz="1800" b="0" lang="en-US">
                          <a:latin typeface="Arial"/>
                        </a:rPr>
                        <a:t>Its scanner tools are not in the kit. Give it your checker's results instead, or use the full version in Codespaces.</a:t>
                      </a:r>
                    </a:p>
                  </a:txBody>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(15 of 16)</a:t>
            </a:r>
          </a:p>
        </p:txBody>
      </p:sp>
      <p:graphicFrame>
        <p:nvGraphicFramePr>
          <p:cNvPr id="3" name="Table 2" descr="Table: Works differently in the kit. Columns: Skill, In the kit."/>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Skill</a:t>
                      </a:r>
                    </a:p>
                  </a:txBody>
                  <a:tcPr/>
                </a:tc>
                <a:tc>
                  <a:txBody>
                    <a:bodyPr/>
                    <a:lstStyle/>
                    <a:p>
                      <a:r>
                        <a:rPr sz="1800" b="1" lang="en-US">
                          <a:latin typeface="Arial"/>
                        </a:rPr>
                        <a:t>In the kit</a:t>
                      </a:r>
                    </a:p>
                  </a:txBody>
                  <a:tcPr/>
                </a:tc>
              </a:tr>
              <a:tr h="457200">
                <a:tc>
                  <a:txBody>
                    <a:bodyPr wrap="square"/>
                    <a:lstStyle/>
                    <a:p>
                      <a:r>
                        <a:rPr sz="1800" b="0" lang="en-US">
                          <a:latin typeface="Consolas"/>
                        </a:rPr>
                        <a:t>web-accessibility-wizard</a:t>
                      </a:r>
                    </a:p>
                  </a:txBody>
                  <a:tcPr/>
                </a:tc>
                <a:tc>
                  <a:txBody>
                    <a:bodyPr wrap="square"/>
                    <a:lstStyle/>
                    <a:p>
                      <a:r>
                        <a:rPr sz="1800" b="0" lang="en-US">
                          <a:latin typeface="Arial"/>
                        </a:rPr>
                        <a:t>Its scanner tools are not in the kit. Give it your checker's results instead, or use the full version in Codespaces. Its report scripts are not in the kit. It writes its findings directly instead.</a:t>
                      </a:r>
                    </a:p>
                  </a:txBody>
                  <a:tcPr/>
                </a:tc>
              </a:tr>
              <a:tr h="457200">
                <a:tc>
                  <a:txBody>
                    <a:bodyPr wrap="square"/>
                    <a:lstStyle/>
                    <a:p>
                      <a:r>
                        <a:rPr sz="1800" b="0" lang="en-US">
                          <a:latin typeface="Consolas"/>
                        </a:rPr>
                        <a:t>web-csv-reporter</a:t>
                      </a:r>
                    </a:p>
                  </a:txBody>
                  <a:tcPr/>
                </a:tc>
                <a:tc>
                  <a:txBody>
                    <a:bodyPr wrap="square"/>
                    <a:lstStyle/>
                    <a:p>
                      <a:r>
                        <a:rPr sz="1800" b="0" lang="en-US">
                          <a:latin typeface="Arial"/>
                        </a:rPr>
                        <a:t>Its report scripts are not in the kit. It writes its findings directly instead.</a:t>
                      </a:r>
                    </a:p>
                  </a:txBody>
                  <a:tcPr/>
                </a:tc>
              </a:tr>
              <a:tr h="457200">
                <a:tc>
                  <a:txBody>
                    <a:bodyPr wrap="square"/>
                    <a:lstStyle/>
                    <a:p>
                      <a:r>
                        <a:rPr sz="1800" b="0" lang="en-US">
                          <a:latin typeface="Consolas"/>
                        </a:rPr>
                        <a:t>wiki-manager</a:t>
                      </a:r>
                    </a:p>
                  </a:txBody>
                  <a:tcPr/>
                </a:tc>
                <a:tc>
                  <a:txBody>
                    <a:bodyPr wrap="square"/>
                    <a:lstStyle/>
                    <a:p>
                      <a:r>
                        <a:rPr sz="1800" b="0" lang="en-US">
                          <a:latin typeface="Arial"/>
                        </a:rPr>
                        <a:t>Needs the GitHub command-line tool. Use the full version in Codespaces.</a:t>
                      </a:r>
                    </a:p>
                  </a:txBody>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Works differently in the kit (16 of 16)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Never trust a skill that says it scanned something when the scanners are not there. Give it your checker's results: Word's, PowerPoint's or Acrobat's Accessibility Checker, Accessibility Insights, or axe.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Accessibility Agents in this kit</dc:title>
  <dc:subject>Which Accessibility Agents skills work fully in the AHG 2026 kit, and which need the full version.</dc:subject>
  <dc:creator>Generated by scripts/vendor_accessibility_agents.py</dc:creator>
  <cp:keywords/>
  <dc:description>generated using python-pptx</dc:description>
  <cp:lastModifiedBy>Generated by scripts/vendor_accessibility_agents.py</cp:lastModifiedBy>
  <cp:revision>1</cp:revision>
  <dcterms:created xsi:type="dcterms:W3CDTF">2026-10-01T12:00:00Z</dcterms:created>
  <dcterms:modified xsi:type="dcterms:W3CDTF">2026-10-01T12:00:00Z</dcterms:modified>
  <cp:category/>
  <dc:language>en-US</dc:language>
</cp:coreProperties>
</file>