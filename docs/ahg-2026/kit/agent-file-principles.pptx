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gentskills.io/specification" TargetMode="External"/><Relationship Id="rId3" Type="http://schemas.openxmlformats.org/officeDocument/2006/relationships/hyperlink" Target="https://github.com/Community-Access/accessibility-agents/blob/main/docs/standards/agent-skills.md" TargetMode="External"/><Relationship Id="rId4" Type="http://schemas.openxmlformats.org/officeDocument/2006/relationships/hyperlink" Target="https://github.com/Community-Access/accessibility-agents/blob/main/docs/standards/citation-policy.md" TargetMode="External"/><Relationship Id="rId5" Type="http://schemas.openxmlformats.org/officeDocument/2006/relationships/hyperlink" Target="https://code.visualstudio.com/docs/copilot/customization/agent-skills" TargetMode="External"/><Relationship Id="rId6" Type="http://schemas.openxmlformats.org/officeDocument/2006/relationships/hyperlink" Target="https://www.w3.org/TR/WCAG22/" TargetMode="External"/><Relationship Id="rId7" Type="http://schemas.openxmlformats.org/officeDocument/2006/relationships/hyperlink" Target="https://www.w3.org/WAI/WCAG22/Understandi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What makes a good agent file</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The principles of a good accessibility agent file, and the checklist /review-my-agent uses, from the Agent Skills specification and the Accessibility Agents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An agent is a set of plain-English instructions in one file, </a:t>
            </a:r>
            <a:r>
              <a:rPr sz="2000" b="0" lang="en-US">
                <a:latin typeface="Consolas"/>
              </a:rPr>
              <a:t>SKILL.md</a:t>
            </a:r>
            <a:r>
              <a:rPr sz="2000" b="0" lang="en-US">
                <a:latin typeface="Arial"/>
              </a:rPr>
              <a:t>. This card is what every agent in the kit follows, and what </a:t>
            </a:r>
            <a:r>
              <a:rPr sz="2000" b="0" lang="en-US">
                <a:latin typeface="Consolas"/>
              </a:rPr>
              <a:t>/review-my-agent</a:t>
            </a:r>
            <a:r>
              <a:rPr sz="2000" b="0" lang="en-US">
                <a:latin typeface="Arial"/>
              </a:rPr>
              <a:t> checks yours against. Read it once in block 2. Come back to it every time you revise.</a:t>
            </a:r>
          </a:p>
          <a:p>
            <a:pPr marL="0" indent="0">
              <a:spcAft>
                <a:spcPts val="600"/>
              </a:spcAft>
              <a:buNone/>
            </a:pPr>
            <a:r>
              <a:rPr sz="2000" b="0" lang="en-US">
                <a:latin typeface="Arial"/>
              </a:rPr>
              <a:t>It follows the open Agent Skills format, the same one Accessibility Agents, GitHub Copilot, VS Code, Claude and ChatGPT read. The sources are at the end.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shape of the file (1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Every agent file has two parts: a short header between two lines of three dashes, then the instructions.</a:t>
            </a:r>
          </a:p>
          <a:p>
            <a:pPr marL="0" indent="0">
              <a:spcAft>
                <a:spcPts val="600"/>
              </a:spcAft>
              <a:buNone/>
            </a:pPr>
            <a:r>
              <a:rPr sz="2000" b="0" lang="en-US">
                <a:latin typeface="Arial"/>
              </a:rPr>
              <a:t>The header holds these fields.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shape of the file (2 of 4)</a:t>
            </a:r>
          </a:p>
        </p:txBody>
      </p:sp>
      <p:graphicFrame>
        <p:nvGraphicFramePr>
          <p:cNvPr id="3" name="Table 2" descr="Table: The shape of the file. Columns: Field, Needed, What it is."/>
          <p:cNvGraphicFramePr>
            <a:graphicFrameLocks noGrp="1"/>
          </p:cNvGraphicFramePr>
          <p:nvPr/>
        </p:nvGraphicFramePr>
        <p:xfrm>
          <a:off x="548640" y="1554480"/>
          <a:ext cx="11064240" cy="9144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Field</a:t>
                      </a:r>
                    </a:p>
                  </a:txBody>
                  <a:tcPr/>
                </a:tc>
                <a:tc>
                  <a:txBody>
                    <a:bodyPr/>
                    <a:lstStyle/>
                    <a:p>
                      <a:r>
                        <a:rPr sz="1800" b="1" lang="en-US">
                          <a:latin typeface="Arial"/>
                        </a:rPr>
                        <a:t>Needed</a:t>
                      </a:r>
                    </a:p>
                  </a:txBody>
                  <a:tcPr/>
                </a:tc>
                <a:tc>
                  <a:txBody>
                    <a:bodyPr/>
                    <a:lstStyle/>
                    <a:p>
                      <a:r>
                        <a:rPr sz="1800" b="1" lang="en-US">
                          <a:latin typeface="Arial"/>
                        </a:rPr>
                        <a:t>What it is</a:t>
                      </a:r>
                    </a:p>
                  </a:txBody>
                  <a:tcPr/>
                </a:tc>
              </a:tr>
              <a:tr h="457200">
                <a:tc>
                  <a:txBody>
                    <a:bodyPr wrap="square"/>
                    <a:lstStyle/>
                    <a:p>
                      <a:r>
                        <a:rPr sz="1800" b="0" lang="en-US">
                          <a:latin typeface="Consolas"/>
                        </a:rPr>
                        <a:t>name</a:t>
                      </a:r>
                    </a:p>
                  </a:txBody>
                  <a:tcPr/>
                </a:tc>
                <a:tc>
                  <a:txBody>
                    <a:bodyPr wrap="square"/>
                    <a:lstStyle/>
                    <a:p>
                      <a:r>
                        <a:rPr sz="1800" b="0" lang="en-US">
                          <a:latin typeface="Arial"/>
                        </a:rPr>
                        <a:t>Yes</a:t>
                      </a:r>
                    </a:p>
                  </a:txBody>
                  <a:tcPr/>
                </a:tc>
                <a:tc>
                  <a:txBody>
                    <a:bodyPr wrap="square"/>
                    <a:lstStyle/>
                    <a:p>
                      <a:r>
                        <a:rPr sz="1800" b="0" lang="en-US">
                          <a:latin typeface="Arial"/>
                        </a:rPr>
                        <a:t>A short name: lowercase letters, numbers and hyphens, at most 64 characters, like </a:t>
                      </a:r>
                      <a:r>
                        <a:rPr sz="1800" b="0" lang="en-US">
                          <a:latin typeface="Consolas"/>
                        </a:rPr>
                        <a:t>alternate-format-planner</a:t>
                      </a:r>
                      <a:r>
                        <a:rPr sz="1800" b="0" lang="en-US">
                          <a:latin typeface="Arial"/>
                        </a:rPr>
                        <a:t>. When the agent is installed, its folder has the same name</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shape of the file (3 of 4)</a:t>
            </a:r>
          </a:p>
        </p:txBody>
      </p:sp>
      <p:graphicFrame>
        <p:nvGraphicFramePr>
          <p:cNvPr id="3" name="Table 2" descr="Table: The shape of the file. Columns: Field, Needed, What it is."/>
          <p:cNvGraphicFramePr>
            <a:graphicFrameLocks noGrp="1"/>
          </p:cNvGraphicFramePr>
          <p:nvPr/>
        </p:nvGraphicFramePr>
        <p:xfrm>
          <a:off x="548640" y="155448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Field</a:t>
                      </a:r>
                    </a:p>
                  </a:txBody>
                  <a:tcPr/>
                </a:tc>
                <a:tc>
                  <a:txBody>
                    <a:bodyPr/>
                    <a:lstStyle/>
                    <a:p>
                      <a:r>
                        <a:rPr sz="1800" b="1" lang="en-US">
                          <a:latin typeface="Arial"/>
                        </a:rPr>
                        <a:t>Needed</a:t>
                      </a:r>
                    </a:p>
                  </a:txBody>
                  <a:tcPr/>
                </a:tc>
                <a:tc>
                  <a:txBody>
                    <a:bodyPr/>
                    <a:lstStyle/>
                    <a:p>
                      <a:r>
                        <a:rPr sz="1800" b="1" lang="en-US">
                          <a:latin typeface="Arial"/>
                        </a:rPr>
                        <a:t>What it is</a:t>
                      </a:r>
                    </a:p>
                  </a:txBody>
                  <a:tcPr/>
                </a:tc>
              </a:tr>
              <a:tr h="457200">
                <a:tc>
                  <a:txBody>
                    <a:bodyPr wrap="square"/>
                    <a:lstStyle/>
                    <a:p>
                      <a:r>
                        <a:rPr sz="1800" b="0" lang="en-US">
                          <a:latin typeface="Consolas"/>
                        </a:rPr>
                        <a:t>description</a:t>
                      </a:r>
                    </a:p>
                  </a:txBody>
                  <a:tcPr/>
                </a:tc>
                <a:tc>
                  <a:txBody>
                    <a:bodyPr wrap="square"/>
                    <a:lstStyle/>
                    <a:p>
                      <a:r>
                        <a:rPr sz="1800" b="0" lang="en-US">
                          <a:latin typeface="Arial"/>
                        </a:rPr>
                        <a:t>Yes</a:t>
                      </a:r>
                    </a:p>
                  </a:txBody>
                  <a:tcPr/>
                </a:tc>
                <a:tc>
                  <a:txBody>
                    <a:bodyPr wrap="square"/>
                    <a:lstStyle/>
                    <a:p>
                      <a:r>
                        <a:rPr sz="1800" b="0" lang="en-US">
                          <a:latin typeface="Arial"/>
                        </a:rPr>
                        <a:t>What the agent does and when to use it, in one or two sentences. At most 1,024 characters; aim for under 200</a:t>
                      </a:r>
                    </a:p>
                  </a:txBody>
                  <a:tcPr/>
                </a:tc>
              </a:tr>
              <a:tr h="457200">
                <a:tc>
                  <a:txBody>
                    <a:bodyPr wrap="square"/>
                    <a:lstStyle/>
                    <a:p>
                      <a:r>
                        <a:rPr sz="1800" b="0" lang="en-US">
                          <a:latin typeface="Consolas"/>
                        </a:rPr>
                        <a:t>license</a:t>
                      </a:r>
                    </a:p>
                  </a:txBody>
                  <a:tcPr/>
                </a:tc>
                <a:tc>
                  <a:txBody>
                    <a:bodyPr wrap="square"/>
                    <a:lstStyle/>
                    <a:p>
                      <a:r>
                        <a:rPr sz="1800" b="0" lang="en-US">
                          <a:latin typeface="Arial"/>
                        </a:rPr>
                        <a:t>No</a:t>
                      </a:r>
                    </a:p>
                  </a:txBody>
                  <a:tcPr/>
                </a:tc>
                <a:tc>
                  <a:txBody>
                    <a:bodyPr wrap="square"/>
                    <a:lstStyle/>
                    <a:p>
                      <a:r>
                        <a:rPr sz="1800" b="0" lang="en-US">
                          <a:latin typeface="Arial"/>
                        </a:rPr>
                        <a:t>How others may reuse it. Every workshop agent is </a:t>
                      </a:r>
                      <a:r>
                        <a:rPr sz="1800" b="0" lang="en-US">
                          <a:latin typeface="Consolas"/>
                        </a:rPr>
                        <a:t>MIT</a:t>
                      </a:r>
                    </a:p>
                  </a:txBody>
                  <a:tcPr/>
                </a:tc>
              </a:tr>
              <a:tr h="457200">
                <a:tc>
                  <a:txBody>
                    <a:bodyPr wrap="square"/>
                    <a:lstStyle/>
                    <a:p>
                      <a:r>
                        <a:rPr sz="1800" b="0" lang="en-US">
                          <a:latin typeface="Consolas"/>
                        </a:rPr>
                        <a:t>metadata</a:t>
                      </a:r>
                    </a:p>
                  </a:txBody>
                  <a:tcPr/>
                </a:tc>
                <a:tc>
                  <a:txBody>
                    <a:bodyPr wrap="square"/>
                    <a:lstStyle/>
                    <a:p>
                      <a:r>
                        <a:rPr sz="1800" b="0" lang="en-US">
                          <a:latin typeface="Arial"/>
                        </a:rPr>
                        <a:t>No</a:t>
                      </a:r>
                    </a:p>
                  </a:txBody>
                  <a:tcPr/>
                </a:tc>
                <a:tc>
                  <a:txBody>
                    <a:bodyPr wrap="square"/>
                    <a:lstStyle/>
                    <a:p>
                      <a:r>
                        <a:rPr sz="1800" b="0" lang="en-US">
                          <a:latin typeface="Arial"/>
                        </a:rPr>
                        <a:t>Anything else, as short labels. The workshop uses </a:t>
                      </a:r>
                      <a:r>
                        <a:rPr sz="1800" b="0" lang="en-US">
                          <a:latin typeface="Consolas"/>
                        </a:rPr>
                        <a:t>title</a:t>
                      </a:r>
                      <a:r>
                        <a:rPr sz="1800" b="0" lang="en-US">
                          <a:latin typeface="Arial"/>
                        </a:rPr>
                        <a:t>, </a:t>
                      </a:r>
                      <a:r>
                        <a:rPr sz="1800" b="0" lang="en-US">
                          <a:latin typeface="Consolas"/>
                        </a:rPr>
                        <a:t>author</a:t>
                      </a:r>
                      <a:r>
                        <a:rPr sz="1800" b="0" lang="en-US">
                          <a:latin typeface="Arial"/>
                        </a:rPr>
                        <a:t>, </a:t>
                      </a:r>
                      <a:r>
                        <a:rPr sz="1800" b="0" lang="en-US">
                          <a:latin typeface="Consolas"/>
                        </a:rPr>
                        <a:t>domain</a:t>
                      </a:r>
                      <a:r>
                        <a:rPr sz="1800" b="0" lang="en-US">
                          <a:latin typeface="Arial"/>
                        </a:rPr>
                        <a:t> and </a:t>
                      </a:r>
                      <a:r>
                        <a:rPr sz="1800" b="0" lang="en-US">
                          <a:latin typeface="Consolas"/>
                        </a:rPr>
                        <a:t>output</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shape of the file (4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instructions are headings, in this order: Role, Task, Trusted guidance, Output format, Example, Human review, Never. Every heading except Example is required to share your agent.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a:t>
            </a:r>
          </a:p>
        </p:txBody>
      </p:sp>
      <p:sp>
        <p:nvSpPr>
          <p:cNvPr id="3" name="Content Placeholder 2"/>
          <p:cNvSpPr>
            <a:spLocks noGrp="1"/>
          </p:cNvSpPr>
          <p:nvPr>
            <p:ph idx="1"/>
          </p:nvPr>
        </p:nvSpPr>
        <p:spPr>
          <a:xfrm>
            <a:off x="548640" y="1554480"/>
            <a:ext cx="11064240" cy="4937760"/>
          </a:xfrm>
        </p:spPr>
        <p:txBody>
          <a:bodyPr wrap="square"/>
          <a:lstStyle/>
          <a:p>
            <a:pPr>
              <a:spcAft>
                <a:spcPts val="600"/>
              </a:spcAft>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1. One job</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An agent that does one thing well beats one that does five things badly. If your Task has the word "and" in it twice, you probably have two agents.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2. A name that says what it is</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Lowercase, hyphens, no spaces: </a:t>
            </a:r>
            <a:r>
              <a:rPr sz="2000" b="0" lang="en-US">
                <a:latin typeface="Consolas"/>
              </a:rPr>
              <a:t>faculty-coach</a:t>
            </a:r>
            <a:r>
              <a:rPr sz="2000" b="0" lang="en-US">
                <a:latin typeface="Arial"/>
              </a:rPr>
              <a:t>, not </a:t>
            </a:r>
            <a:r>
              <a:rPr sz="2000" b="0" lang="en-US">
                <a:latin typeface="Consolas"/>
              </a:rPr>
              <a:t>My Agent v2</a:t>
            </a:r>
            <a:r>
              <a:rPr sz="2000" b="0" lang="en-US">
                <a:latin typeface="Arial"/>
              </a:rPr>
              <a:t>. When you install the agent, its folder must have exactly this name, or tools will not find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3. A description that says when to use it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description is the first thing an assistant reads, and often the only thing, when it decides whether to use your agent. Say what the agent does, then start a second sentence with "Use when". For example: "Plans alternate formats for a course document from a checker's report. Use when a student needs a course document in large print, audio or braille."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4. A role with a person in it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Say who the agent is, and who it works for: "You are an alternate format planner in a disability resource center. You work for the specialist who handles accommodation requests." The person it works for is who it writes for.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5. A task with an input and an output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Say what the agent is given and what it gives back: "Given a checker's report and the formats a student needs, produce a plan." An agent that does not know its input will guess at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6. Trusted guidance, named and linked</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Name the sources it must use and cite, with links: WCAG 2.2 criteria, your institution's policy, a style guide. Add the rule every workshop agent has: work only from the evidence given, and say so when something is not in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7. An output format shaped for the reader</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Describe the shape of the answer for the busy person who reads it: a numbered list most urgent first, a short email, a table with a status column. The best format is the one your reader already uses.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8. One example of a good answer</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Show one short example of what good looks like. An example teaches the shape, the tone and the length faster than any description. Keep it short, and use the fictional course, never a real student.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9. Human review, with a name on it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Say who checks the agent's work before anything goes out, and what they check. End every answer with a "Before you send this" checklist for that person. If nobody is named, nobody reviewed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10. Never: the lines it does not cross</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Every workshop agent keeps these three:</a:t>
            </a:r>
          </a:p>
          <a:p>
            <a:pPr lvl="1">
              <a:spcAft>
                <a:spcPts val="600"/>
              </a:spcAft>
            </a:pPr>
            <a:r>
              <a:rPr sz="2000" b="0" lang="en-US">
                <a:latin typeface="Arial"/>
              </a:rPr>
              <a:t>Never ask for, or use, student names, records, accommodation details or health information.</a:t>
            </a:r>
          </a:p>
          <a:p>
            <a:pPr lvl="1">
              <a:spcAft>
                <a:spcPts val="600"/>
              </a:spcAft>
            </a:pPr>
            <a:r>
              <a:rPr sz="2000" b="0" lang="en-US">
                <a:latin typeface="Arial"/>
              </a:rPr>
              <a:t>Never say a document is "compliant" or "accessible". Say what was checked, what was found, and what a person still needs to check.</a:t>
            </a:r>
          </a:p>
          <a:p>
            <a:pPr lvl="1">
              <a:spcAft>
                <a:spcPts val="600"/>
              </a:spcAft>
            </a:pPr>
            <a:r>
              <a:rPr sz="2000" b="0" lang="en-US">
                <a:latin typeface="Arial"/>
              </a:rPr>
              <a:t>Never invent a finding that is not in the evidence.</a:t>
            </a:r>
          </a:p>
          <a:p>
            <a:pPr marL="0" indent="0">
              <a:spcAft>
                <a:spcPts val="600"/>
              </a:spcAft>
              <a:buNone/>
            </a:pPr>
            <a:r>
              <a:rPr sz="2000" b="0" lang="en-US">
                <a:latin typeface="Arial"/>
              </a:rPr>
              <a:t>Add your own, such as "Never promise a date".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11. Short enough to read</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Keep the file short enough to read in five minutes. The Agent Skills format asks for under 500 lines; Accessibility Agents keeps every agent under 6 KB, about two pages. Long reference material goes in a separate file, in a </a:t>
            </a:r>
            <a:r>
              <a:rPr sz="2000" b="0" lang="en-US">
                <a:latin typeface="Consolas"/>
              </a:rPr>
              <a:t>references</a:t>
            </a:r>
            <a:r>
              <a:rPr sz="2000" b="0" lang="en-US">
                <a:latin typeface="Arial"/>
              </a:rPr>
              <a:t> folder beside </a:t>
            </a:r>
            <a:r>
              <a:rPr sz="2000" b="0" lang="en-US">
                <a:latin typeface="Consolas"/>
              </a:rPr>
              <a:t>SKILL.md</a:t>
            </a:r>
            <a:r>
              <a:rPr sz="2000" b="0" lang="en-US">
                <a:latin typeface="Arial"/>
              </a:rPr>
              <a:t>, which the agent opens only when it needs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twelve principles: 12. Tested, and revised one change at a time</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Nobody writes a good agent in one go. Try it on a real input, read where it guessed or went wrong, change one thing, and try again. Each change is a new version. Today you make at least three.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review checklist (1 of 2)</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Consolas"/>
              </a:rPr>
              <a:t>/review-my-agent</a:t>
            </a:r>
            <a:r>
              <a:rPr sz="2000" b="0" lang="en-US">
                <a:latin typeface="Arial"/>
              </a:rPr>
              <a:t>, and the same step on the browser path, asks these questions of your agent. Every "no" is a revision you could make.</a:t>
            </a:r>
          </a:p>
          <a:p>
            <a:pPr lvl="1">
              <a:spcAft>
                <a:spcPts val="600"/>
              </a:spcAft>
              <a:buNone/>
            </a:pPr>
            <a:r>
              <a:rPr sz="2000" b="0" lang="en-US">
                <a:latin typeface="Arial"/>
              </a:rPr>
              <a:t>1. </a:t>
            </a:r>
            <a:r>
              <a:rPr sz="2000" b="0" lang="en-US">
                <a:latin typeface="Arial"/>
              </a:rPr>
              <a:t>Does it do one job?</a:t>
            </a:r>
          </a:p>
          <a:p>
            <a:pPr lvl="1">
              <a:spcAft>
                <a:spcPts val="600"/>
              </a:spcAft>
              <a:buNone/>
            </a:pPr>
            <a:r>
              <a:rPr sz="2000" b="0" lang="en-US">
                <a:latin typeface="Arial"/>
              </a:rPr>
              <a:t>2. </a:t>
            </a:r>
            <a:r>
              <a:rPr sz="2000" b="0" lang="en-US">
                <a:latin typeface="Arial"/>
              </a:rPr>
              <a:t>Is the name lowercase, with hyphens, and under 64 characters?</a:t>
            </a:r>
          </a:p>
          <a:p>
            <a:pPr lvl="1">
              <a:spcAft>
                <a:spcPts val="600"/>
              </a:spcAft>
              <a:buNone/>
            </a:pPr>
            <a:r>
              <a:rPr sz="2000" b="0" lang="en-US">
                <a:latin typeface="Arial"/>
              </a:rPr>
              <a:t>3. </a:t>
            </a:r>
            <a:r>
              <a:rPr sz="2000" b="0" lang="en-US">
                <a:latin typeface="Arial"/>
              </a:rPr>
              <a:t>Does the description say what it does, and start a sentence with "Use when"?</a:t>
            </a:r>
          </a:p>
          <a:p>
            <a:pPr lvl="1">
              <a:spcAft>
                <a:spcPts val="600"/>
              </a:spcAft>
              <a:buNone/>
            </a:pPr>
            <a:r>
              <a:rPr sz="2000" b="0" lang="en-US">
                <a:latin typeface="Arial"/>
              </a:rPr>
              <a:t>4. </a:t>
            </a:r>
            <a:r>
              <a:rPr sz="2000" b="0" lang="en-US">
                <a:latin typeface="Arial"/>
              </a:rPr>
              <a:t>Does the Role say who it works for?</a:t>
            </a:r>
          </a:p>
          <a:p>
            <a:pPr lvl="1">
              <a:spcAft>
                <a:spcPts val="600"/>
              </a:spcAft>
              <a:buNone/>
            </a:pPr>
            <a:r>
              <a:rPr sz="2000" b="0" lang="en-US">
                <a:latin typeface="Arial"/>
              </a:rPr>
              <a:t>5. </a:t>
            </a:r>
            <a:r>
              <a:rPr sz="2000" b="0" lang="en-US">
                <a:latin typeface="Arial"/>
              </a:rPr>
              <a:t>Does the Task name its input and its output?</a:t>
            </a:r>
          </a:p>
          <a:p>
            <a:pPr lvl="1">
              <a:spcAft>
                <a:spcPts val="600"/>
              </a:spcAft>
              <a:buNone/>
            </a:pPr>
            <a:r>
              <a:rPr sz="2000" b="0" lang="en-US">
                <a:latin typeface="Arial"/>
              </a:rPr>
              <a:t>6. </a:t>
            </a:r>
            <a:r>
              <a:rPr sz="2000" b="0" lang="en-US">
                <a:latin typeface="Arial"/>
              </a:rPr>
              <a:t>Does Trusted guidance name and link its sources, and say to work only from evidence?</a:t>
            </a:r>
          </a:p>
          <a:p>
            <a:pPr lvl="1">
              <a:spcAft>
                <a:spcPts val="600"/>
              </a:spcAft>
              <a:buNone/>
            </a:pPr>
            <a:r>
              <a:rPr sz="2000" b="0" lang="en-US">
                <a:latin typeface="Arial"/>
              </a:rPr>
              <a:t>7. </a:t>
            </a:r>
            <a:r>
              <a:rPr sz="2000" b="0" lang="en-US">
                <a:latin typeface="Arial"/>
              </a:rPr>
              <a:t>Is the Output format shaped for the person who reads it?</a:t>
            </a:r>
          </a:p>
          <a:p>
            <a:pPr lvl="1">
              <a:spcAft>
                <a:spcPts val="600"/>
              </a:spcAft>
              <a:buNone/>
            </a:pPr>
            <a:r>
              <a:rPr sz="2000" b="0" lang="en-US">
                <a:latin typeface="Arial"/>
              </a:rPr>
              <a:t>8. </a:t>
            </a:r>
            <a:r>
              <a:rPr sz="2000" b="0" lang="en-US">
                <a:latin typeface="Arial"/>
              </a:rPr>
              <a:t>Is there one short example of a good answer?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The review checklist (2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9. </a:t>
            </a:r>
            <a:r>
              <a:rPr sz="2000" b="0" lang="en-US">
                <a:latin typeface="Arial"/>
              </a:rPr>
              <a:t>Does Human review name who checks, and end with a checklist?</a:t>
            </a:r>
          </a:p>
          <a:p>
            <a:pPr lvl="1">
              <a:spcAft>
                <a:spcPts val="600"/>
              </a:spcAft>
              <a:buNone/>
            </a:pPr>
            <a:r>
              <a:rPr sz="2000" b="0" lang="en-US">
                <a:latin typeface="Arial"/>
              </a:rPr>
              <a:t>10. </a:t>
            </a:r>
            <a:r>
              <a:rPr sz="2000" b="0" lang="en-US">
                <a:latin typeface="Arial"/>
              </a:rPr>
              <a:t>Are the three Never rules still there, word for word?</a:t>
            </a:r>
          </a:p>
          <a:p>
            <a:pPr lvl="1">
              <a:spcAft>
                <a:spcPts val="600"/>
              </a:spcAft>
              <a:buNone/>
            </a:pPr>
            <a:r>
              <a:rPr sz="2000" b="0" lang="en-US">
                <a:latin typeface="Arial"/>
              </a:rPr>
              <a:t>11. </a:t>
            </a:r>
            <a:r>
              <a:rPr sz="2000" b="0" lang="en-US">
                <a:latin typeface="Arial"/>
              </a:rPr>
              <a:t>Is it short enough to read in five minutes?</a:t>
            </a:r>
          </a:p>
          <a:p>
            <a:pPr lvl="1">
              <a:spcAft>
                <a:spcPts val="600"/>
              </a:spcAft>
              <a:buNone/>
            </a:pPr>
            <a:r>
              <a:rPr sz="2000" b="0" lang="en-US">
                <a:latin typeface="Arial"/>
              </a:rPr>
              <a:t>12. </a:t>
            </a:r>
            <a:r>
              <a:rPr sz="2000" b="0" lang="en-US">
                <a:latin typeface="Arial"/>
              </a:rPr>
              <a:t>After the last try, is there one change that would have made the answer better?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Where an agent file lives (1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same file works everywhere; only the place changes.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Where an agent file lives (2 of 4)</a:t>
            </a:r>
          </a:p>
        </p:txBody>
      </p:sp>
      <p:graphicFrame>
        <p:nvGraphicFramePr>
          <p:cNvPr id="3" name="Table 2" descr="Table: Where an agent file lives. Columns: Where, Put it here, Then."/>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Where</a:t>
                      </a:r>
                    </a:p>
                  </a:txBody>
                  <a:tcPr/>
                </a:tc>
                <a:tc>
                  <a:txBody>
                    <a:bodyPr/>
                    <a:lstStyle/>
                    <a:p>
                      <a:r>
                        <a:rPr sz="1800" b="1" lang="en-US">
                          <a:latin typeface="Arial"/>
                        </a:rPr>
                        <a:t>Put it here</a:t>
                      </a:r>
                    </a:p>
                  </a:txBody>
                  <a:tcPr/>
                </a:tc>
                <a:tc>
                  <a:txBody>
                    <a:bodyPr/>
                    <a:lstStyle/>
                    <a:p>
                      <a:r>
                        <a:rPr sz="1800" b="1" lang="en-US">
                          <a:latin typeface="Arial"/>
                        </a:rPr>
                        <a:t>Then</a:t>
                      </a:r>
                    </a:p>
                  </a:txBody>
                  <a:tcPr/>
                </a:tc>
              </a:tr>
              <a:tr h="457200">
                <a:tc>
                  <a:txBody>
                    <a:bodyPr wrap="square"/>
                    <a:lstStyle/>
                    <a:p>
                      <a:r>
                        <a:rPr sz="1800" b="0" lang="en-US">
                          <a:latin typeface="Arial"/>
                        </a:rPr>
                        <a:t>VS Code, on a computer or at vscode.dev</a:t>
                      </a:r>
                    </a:p>
                  </a:txBody>
                  <a:tcPr/>
                </a:tc>
                <a:tc>
                  <a:txBody>
                    <a:bodyPr wrap="square"/>
                    <a:lstStyle/>
                    <a:p>
                      <a:r>
                        <a:rPr sz="1800" b="0" lang="en-US">
                          <a:latin typeface="Consolas"/>
                        </a:rPr>
                        <a:t>.github/skills/&lt;name&gt;/SKILL.md</a:t>
                      </a:r>
                      <a:r>
                        <a:rPr sz="1800" b="0" lang="en-US">
                          <a:latin typeface="Arial"/>
                        </a:rPr>
                        <a:t> in the open folder</a:t>
                      </a:r>
                    </a:p>
                  </a:txBody>
                  <a:tcPr/>
                </a:tc>
                <a:tc>
                  <a:txBody>
                    <a:bodyPr wrap="square"/>
                    <a:lstStyle/>
                    <a:p>
                      <a:r>
                        <a:rPr sz="1800" b="0" lang="en-US">
                          <a:latin typeface="Arial"/>
                        </a:rPr>
                        <a:t>Type </a:t>
                      </a:r>
                      <a:r>
                        <a:rPr sz="1800" b="0" lang="en-US">
                          <a:latin typeface="Consolas"/>
                        </a:rPr>
                        <a:t>/&lt;name&gt;</a:t>
                      </a:r>
                      <a:r>
                        <a:rPr sz="1800" b="0" lang="en-US">
                          <a:latin typeface="Arial"/>
                        </a:rPr>
                        <a:t> in Copilot Chat. </a:t>
                      </a:r>
                      <a:r>
                        <a:rPr sz="1800" b="0" lang="en-US">
                          <a:latin typeface="Consolas"/>
                        </a:rPr>
                        <a:t>/install-my-agent</a:t>
                      </a:r>
                      <a:r>
                        <a:rPr sz="1800" b="0" lang="en-US">
                          <a:latin typeface="Arial"/>
                        </a:rPr>
                        <a:t> does this for you</a:t>
                      </a:r>
                    </a:p>
                  </a:txBody>
                  <a:tcPr/>
                </a:tc>
              </a:tr>
              <a:tr h="457200">
                <a:tc>
                  <a:txBody>
                    <a:bodyPr wrap="square"/>
                    <a:lstStyle/>
                    <a:p>
                      <a:r>
                        <a:rPr sz="1800" b="0" lang="en-US">
                          <a:latin typeface="Arial"/>
                        </a:rPr>
                        <a:t>GitHub Copilot CLI, Claude Code, Codex, Gemini CLI</a:t>
                      </a:r>
                    </a:p>
                  </a:txBody>
                  <a:tcPr/>
                </a:tc>
                <a:tc>
                  <a:txBody>
                    <a:bodyPr wrap="square"/>
                    <a:lstStyle/>
                    <a:p>
                      <a:r>
                        <a:rPr sz="1800" b="0" lang="en-US">
                          <a:latin typeface="Consolas"/>
                        </a:rPr>
                        <a:t>.agents/skills/&lt;name&gt;/SKILL.md</a:t>
                      </a:r>
                      <a:r>
                        <a:rPr sz="1800" b="0" lang="en-US">
                          <a:latin typeface="Arial"/>
                        </a:rPr>
                        <a:t>, or </a:t>
                      </a:r>
                      <a:r>
                        <a:rPr sz="1800" b="0" lang="en-US">
                          <a:latin typeface="Consolas"/>
                        </a:rPr>
                        <a:t>~/.agents/skills/&lt;name&gt;/SKILL.md</a:t>
                      </a:r>
                      <a:r>
                        <a:rPr sz="1800" b="0" lang="en-US">
                          <a:latin typeface="Arial"/>
                        </a:rPr>
                        <a:t> for every project</a:t>
                      </a:r>
                    </a:p>
                  </a:txBody>
                  <a:tcPr/>
                </a:tc>
                <a:tc>
                  <a:txBody>
                    <a:bodyPr wrap="square"/>
                    <a:lstStyle/>
                    <a:p>
                      <a:r>
                        <a:rPr sz="1800" b="0" lang="en-US">
                          <a:latin typeface="Arial"/>
                        </a:rPr>
                        <a:t>It appears by name</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Where an agent file lives (3 of 4)</a:t>
            </a:r>
          </a:p>
        </p:txBody>
      </p:sp>
      <p:graphicFrame>
        <p:nvGraphicFramePr>
          <p:cNvPr id="3" name="Table 2" descr="Table: Where an agent file lives. Columns: Where, Put it here, Then."/>
          <p:cNvGraphicFramePr>
            <a:graphicFrameLocks noGrp="1"/>
          </p:cNvGraphicFramePr>
          <p:nvPr/>
        </p:nvGraphicFramePr>
        <p:xfrm>
          <a:off x="548640" y="1554480"/>
          <a:ext cx="11064240" cy="1371600"/>
        </p:xfrm>
        <a:graphic>
          <a:graphicData uri="http://schemas.openxmlformats.org/drawingml/2006/table">
            <a:tbl>
              <a:tblPr firstRow="1" bandRow="1">
                <a:tableStyleId>{5C22544A-7EE6-4342-B048-85BDC9FD1C3A}</a:tableStyleId>
              </a:tblPr>
              <a:tblGrid>
                <a:gridCol w="3688080"/>
                <a:gridCol w="3688080"/>
                <a:gridCol w="3688080"/>
              </a:tblGrid>
              <a:tr h="457200">
                <a:tc>
                  <a:txBody>
                    <a:bodyPr/>
                    <a:lstStyle/>
                    <a:p>
                      <a:r>
                        <a:rPr sz="1800" b="1" lang="en-US">
                          <a:latin typeface="Arial"/>
                        </a:rPr>
                        <a:t>Where</a:t>
                      </a:r>
                    </a:p>
                  </a:txBody>
                  <a:tcPr/>
                </a:tc>
                <a:tc>
                  <a:txBody>
                    <a:bodyPr/>
                    <a:lstStyle/>
                    <a:p>
                      <a:r>
                        <a:rPr sz="1800" b="1" lang="en-US">
                          <a:latin typeface="Arial"/>
                        </a:rPr>
                        <a:t>Put it here</a:t>
                      </a:r>
                    </a:p>
                  </a:txBody>
                  <a:tcPr/>
                </a:tc>
                <a:tc>
                  <a:txBody>
                    <a:bodyPr/>
                    <a:lstStyle/>
                    <a:p>
                      <a:r>
                        <a:rPr sz="1800" b="1" lang="en-US">
                          <a:latin typeface="Arial"/>
                        </a:rPr>
                        <a:t>Then</a:t>
                      </a:r>
                    </a:p>
                  </a:txBody>
                  <a:tcPr/>
                </a:tc>
              </a:tr>
              <a:tr h="457200">
                <a:tc>
                  <a:txBody>
                    <a:bodyPr wrap="square"/>
                    <a:lstStyle/>
                    <a:p>
                      <a:r>
                        <a:rPr sz="1800" b="0" lang="en-US">
                          <a:latin typeface="Arial"/>
                        </a:rPr>
                        <a:t>ChatGPT, Claude, Gemini, or a campus assistant in a browser</a:t>
                      </a:r>
                    </a:p>
                  </a:txBody>
                  <a:tcPr/>
                </a:tc>
                <a:tc>
                  <a:txBody>
                    <a:bodyPr wrap="square"/>
                    <a:lstStyle/>
                    <a:p>
                      <a:r>
                        <a:rPr sz="1800" b="0" lang="en-US">
                          <a:latin typeface="Arial"/>
                        </a:rPr>
                        <a:t>Paste the whole file as your first message, or into a project's or custom assistant's instructions</a:t>
                      </a:r>
                    </a:p>
                  </a:txBody>
                  <a:tcPr/>
                </a:tc>
                <a:tc>
                  <a:txBody>
                    <a:bodyPr wrap="square"/>
                    <a:lstStyle/>
                    <a:p>
                      <a:r>
                        <a:rPr sz="1800" b="0" lang="en-US">
                          <a:latin typeface="Arial"/>
                        </a:rPr>
                        <a:t>Ask your question in the same conversation</a:t>
                      </a:r>
                    </a:p>
                  </a:txBody>
                  <a:tcPr/>
                </a:tc>
              </a:tr>
              <a:tr h="457200">
                <a:tc>
                  <a:txBody>
                    <a:bodyPr wrap="square"/>
                    <a:lstStyle/>
                    <a:p>
                      <a:r>
                        <a:rPr sz="1800" b="0" lang="en-US">
                          <a:latin typeface="Arial"/>
                        </a:rPr>
                        <a:t>The open-source collection</a:t>
                      </a:r>
                    </a:p>
                  </a:txBody>
                  <a:tcPr/>
                </a:tc>
                <a:tc>
                  <a:txBody>
                    <a:bodyPr wrap="square"/>
                    <a:lstStyle/>
                    <a:p>
                      <a:r>
                        <a:rPr sz="1800" b="0" lang="en-US">
                          <a:latin typeface="Arial"/>
                        </a:rPr>
                        <a:t>Share it at letitglow.app/ahg/share</a:t>
                      </a:r>
                    </a:p>
                  </a:txBody>
                  <a:tcPr/>
                </a:tc>
                <a:tc>
                  <a:txBody>
                    <a:bodyPr wrap="square"/>
                    <a:lstStyle/>
                    <a:p>
                      <a:r>
                        <a:rPr sz="1800" b="0" lang="en-US">
                          <a:latin typeface="Arial"/>
                        </a:rPr>
                        <a:t>It goes into Accessibility Agents with your name on it</a:t>
                      </a:r>
                    </a:p>
                  </a:txBody>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Where an agent file lives (4 of 4)</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Commands you start yourself, rather than ones the assistant should choose on its own, add </a:t>
            </a:r>
            <a:r>
              <a:rPr sz="2000" b="0" lang="en-US">
                <a:latin typeface="Consolas"/>
              </a:rPr>
              <a:t>disable-model-invocation: true</a:t>
            </a:r>
            <a:r>
              <a:rPr sz="2000" b="0" lang="en-US">
                <a:latin typeface="Arial"/>
              </a:rPr>
              <a:t> to the header. The kit's commands, such as </a:t>
            </a:r>
            <a:r>
              <a:rPr sz="2000" b="0" lang="en-US">
                <a:latin typeface="Consolas"/>
              </a:rPr>
              <a:t>/ready-check</a:t>
            </a:r>
            <a:r>
              <a:rPr sz="2000" b="0" lang="en-US">
                <a:latin typeface="Arial"/>
              </a:rPr>
              <a:t>, do.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Sources</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pPr>
            <a:r>
              <a:rPr sz="2000" b="0" lang="en-US">
                <a:latin typeface="Arial"/>
                <a:hlinkClick r:id="rId2"/>
              </a:rPr>
              <a:t>Agent Skills specification</a:t>
            </a:r>
            <a:r>
              <a:rPr sz="2000" b="0" lang="en-US">
                <a:latin typeface="Arial"/>
              </a:rPr>
              <a:t>: the file format, the header fields and their limits, and the advice to keep a file short and put the rest in </a:t>
            </a:r>
            <a:r>
              <a:rPr sz="2000" b="0" lang="en-US">
                <a:latin typeface="Consolas"/>
              </a:rPr>
              <a:t>references</a:t>
            </a:r>
            <a:r>
              <a:rPr sz="2000" b="0" lang="en-US">
                <a:latin typeface="Arial"/>
              </a:rPr>
              <a:t>.</a:t>
            </a:r>
          </a:p>
          <a:p>
            <a:pPr lvl="1">
              <a:spcAft>
                <a:spcPts val="600"/>
              </a:spcAft>
            </a:pPr>
            <a:r>
              <a:rPr sz="2000" b="0" lang="en-US">
                <a:latin typeface="Arial"/>
                <a:hlinkClick r:id="rId3"/>
              </a:rPr>
              <a:t>Accessibility Agents: Agent Skills standard</a:t>
            </a:r>
            <a:r>
              <a:rPr sz="2000" b="0" lang="en-US">
                <a:latin typeface="Arial"/>
              </a:rPr>
              <a:t>: how the project applies the format, its size limits, and where each tool finds skills.</a:t>
            </a:r>
          </a:p>
          <a:p>
            <a:pPr lvl="1">
              <a:spcAft>
                <a:spcPts val="600"/>
              </a:spcAft>
            </a:pPr>
            <a:r>
              <a:rPr sz="2000" b="0" lang="en-US">
                <a:latin typeface="Arial"/>
                <a:hlinkClick r:id="rId4"/>
              </a:rPr>
              <a:t>Accessibility Agents: citation policy</a:t>
            </a:r>
            <a:r>
              <a:rPr sz="2000" b="0" lang="en-US">
                <a:latin typeface="Arial"/>
              </a:rPr>
              <a:t>: why every finding cites a source.</a:t>
            </a:r>
          </a:p>
          <a:p>
            <a:pPr lvl="1">
              <a:spcAft>
                <a:spcPts val="600"/>
              </a:spcAft>
            </a:pPr>
            <a:r>
              <a:rPr sz="2000" b="0" lang="en-US">
                <a:latin typeface="Arial"/>
                <a:hlinkClick r:id="rId5"/>
              </a:rPr>
              <a:t>VS Code: agent skills</a:t>
            </a:r>
            <a:r>
              <a:rPr sz="2000" b="0" lang="en-US">
                <a:latin typeface="Arial"/>
              </a:rPr>
              <a:t>: where VS Code finds skills, and how they become commands.</a:t>
            </a:r>
          </a:p>
          <a:p>
            <a:pPr lvl="1">
              <a:spcAft>
                <a:spcPts val="600"/>
              </a:spcAft>
            </a:pPr>
            <a:r>
              <a:rPr sz="2000" b="0" lang="en-US">
                <a:latin typeface="Arial"/>
                <a:hlinkClick r:id="rId6"/>
              </a:rPr>
              <a:t>WCAG 2.2</a:t>
            </a:r>
            <a:r>
              <a:rPr sz="2000" b="0" lang="en-US">
                <a:latin typeface="Arial"/>
              </a:rPr>
              <a:t> and </a:t>
            </a:r>
            <a:r>
              <a:rPr sz="2000" b="0" lang="en-US">
                <a:latin typeface="Arial"/>
                <a:hlinkClick r:id="rId7"/>
              </a:rPr>
              <a:t>Understanding WCAG 2.2</a:t>
            </a:r>
            <a:r>
              <a:rPr sz="2000" b="0" lang="en-US">
                <a:latin typeface="Arial"/>
              </a:rPr>
              <a:t>: the standard every workshop agent cites.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makes a good agent file</dc:title>
  <dc:subject>The principles of a good accessibility agent file, and the checklist /review-my-agent uses, from the Agent Skills specification and the Accessibility Agents project.</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