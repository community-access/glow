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w3.org/WAI/WCAG22/Understanding/info-and-relationships.html" TargetMode="External"/><Relationship Id="rId3" Type="http://schemas.openxmlformats.org/officeDocument/2006/relationships/hyperlink" Target="https://www.w3.org/WAI/WCAG22/Understanding/link-purpose-in-context.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731520" y="1463040"/>
            <a:ext cx="10698480" cy="2011680"/>
          </a:xfrm>
        </p:spPr>
        <p:txBody>
          <a:bodyPr wrap="square"/>
          <a:lstStyle/>
          <a:p>
            <a:r>
              <a:rPr sz="4000" b="1" lang="en-US">
                <a:latin typeface="Arial"/>
              </a:rPr>
              <a:t>Worked example: Jordan's faculty coach</a:t>
            </a:r>
          </a:p>
        </p:txBody>
      </p:sp>
      <p:sp>
        <p:nvSpPr>
          <p:cNvPr id="3" name="Subtitle 2"/>
          <p:cNvSpPr>
            <a:spLocks noGrp="1"/>
          </p:cNvSpPr>
          <p:nvPr>
            <p:ph type="subTitle" idx="1"/>
          </p:nvPr>
        </p:nvSpPr>
        <p:spPr>
          <a:xfrm>
            <a:off x="731520" y="3657600"/>
            <a:ext cx="10698480" cy="2194560"/>
          </a:xfrm>
        </p:spPr>
        <p:txBody>
          <a:bodyPr wrap="square"/>
          <a:lstStyle/>
          <a:p>
            <a:r>
              <a:rPr sz="2400" b="0" lang="en-US">
                <a:latin typeface="Arial"/>
              </a:rPr>
              <a:t>Worked example: a faculty coach agent, from problem to 30-day plan.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About this document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Role card: Course content and faculty coaching.</a:t>
            </a:r>
          </a:p>
          <a:p>
            <a:pPr marL="0" indent="0">
              <a:spcAft>
                <a:spcPts val="600"/>
              </a:spcAft>
              <a:buNone/>
            </a:pPr>
            <a:r>
              <a:rPr sz="2000" b="0" lang="en-US">
                <a:latin typeface="Arial"/>
              </a:rPr>
              <a:t>Jordan Lee is an instructional designer at Mesa Ridge State University's Center for Teaching. There are three designers and roughly 1,900 courses. Jordan has done the math, and it does not end well for anybody's weekends.</a:t>
            </a:r>
          </a:p>
          <a:p>
            <a:pPr marL="0" indent="0">
              <a:spcAft>
                <a:spcPts val="600"/>
              </a:spcAft>
              <a:buNone/>
            </a:pPr>
            <a:r>
              <a:rPr sz="2000" b="0" lang="en-US">
                <a:latin typeface="Arial"/>
              </a:rPr>
              <a:t>The answers in step 4 are examples written for the workshop. On the day, everyone's own AI writes its 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1. The problem</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Dr. Whitfield's PSY 101 syllabus has thirteen kinds of barrier in it. Jordan could fix them all in an hour. Next semester there would be a new syllabus with the same thirteen, and 1,899 other courses waiting.</a:t>
            </a:r>
          </a:p>
          <a:p>
            <a:pPr marL="0" indent="0">
              <a:spcAft>
                <a:spcPts val="600"/>
              </a:spcAft>
              <a:buNone/>
            </a:pPr>
            <a:r>
              <a:rPr sz="2000" b="0" lang="en-US">
                <a:latin typeface="Arial"/>
              </a:rPr>
              <a:t>The fix that scales is not Jordan fixing the syllabus. It is Dr. Whitfield learning the one habit behind most of it, in a note short enough to be read between classes and kind enough to be read at 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2. Jordan's six answers (1 of 4)</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Each row is one question, and the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2. Jordan's six answers (2 of 4)</a:t>
            </a:r>
          </a:p>
        </p:txBody>
      </p:sp>
      <p:graphicFrame>
        <p:nvGraphicFramePr>
          <p:cNvPr id="3" name="Table 2" descr="Table: 2. Jordan's six answers. Columns: Question, Jordan's answer."/>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Question</a:t>
                      </a:r>
                    </a:p>
                  </a:txBody>
                  <a:tcPr/>
                </a:tc>
                <a:tc>
                  <a:txBody>
                    <a:bodyPr/>
                    <a:lstStyle/>
                    <a:p>
                      <a:r>
                        <a:rPr sz="1800" b="1" lang="en-US">
                          <a:latin typeface="Arial"/>
                        </a:rPr>
                        <a:t>Jordan's answer</a:t>
                      </a:r>
                    </a:p>
                  </a:txBody>
                  <a:tcPr/>
                </a:tc>
              </a:tr>
              <a:tr h="457200">
                <a:tc>
                  <a:txBody>
                    <a:bodyPr wrap="square"/>
                    <a:lstStyle/>
                    <a:p>
                      <a:r>
                        <a:rPr sz="1800" b="0" lang="en-US">
                          <a:latin typeface="Arial"/>
                        </a:rPr>
                        <a:t>Role: who is this agent?</a:t>
                      </a:r>
                    </a:p>
                  </a:txBody>
                  <a:tcPr/>
                </a:tc>
                <a:tc>
                  <a:txBody>
                    <a:bodyPr wrap="square"/>
                    <a:lstStyle/>
                    <a:p>
                      <a:r>
                        <a:rPr sz="1800" b="0" lang="en-US">
                          <a:latin typeface="Arial"/>
                        </a:rPr>
                        <a:t>A faculty coach at a university teaching center. Warm, brief, never scolding. Works for the instructional designer</a:t>
                      </a:r>
                    </a:p>
                  </a:txBody>
                  <a:tcPr/>
                </a:tc>
              </a:tr>
              <a:tr h="457200">
                <a:tc>
                  <a:txBody>
                    <a:bodyPr wrap="square"/>
                    <a:lstStyle/>
                    <a:p>
                      <a:r>
                        <a:rPr sz="1800" b="0" lang="en-US">
                          <a:latin typeface="Arial"/>
                        </a:rPr>
                        <a:t>Task: the one job</a:t>
                      </a:r>
                    </a:p>
                  </a:txBody>
                  <a:tcPr/>
                </a:tc>
                <a:tc>
                  <a:txBody>
                    <a:bodyPr wrap="square"/>
                    <a:lstStyle/>
                    <a:p>
                      <a:r>
                        <a:rPr sz="1800" b="0" lang="en-US">
                          <a:latin typeface="Arial"/>
                        </a:rPr>
                        <a:t>Given a checker's report on a faculty member's document, write a short note that teaches the one habit that would prevent most of the barriers, and lists the rest briefly</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2. Jordan's six answers (3 of 4)</a:t>
            </a:r>
          </a:p>
        </p:txBody>
      </p:sp>
      <p:graphicFrame>
        <p:nvGraphicFramePr>
          <p:cNvPr id="3" name="Table 2" descr="Table: 2. Jordan's six answers. Columns: Question, Jordan's answer."/>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Question</a:t>
                      </a:r>
                    </a:p>
                  </a:txBody>
                  <a:tcPr/>
                </a:tc>
                <a:tc>
                  <a:txBody>
                    <a:bodyPr/>
                    <a:lstStyle/>
                    <a:p>
                      <a:r>
                        <a:rPr sz="1800" b="1" lang="en-US">
                          <a:latin typeface="Arial"/>
                        </a:rPr>
                        <a:t>Jordan's answer</a:t>
                      </a:r>
                    </a:p>
                  </a:txBody>
                  <a:tcPr/>
                </a:tc>
              </a:tr>
              <a:tr h="457200">
                <a:tc>
                  <a:txBody>
                    <a:bodyPr wrap="square"/>
                    <a:lstStyle/>
                    <a:p>
                      <a:r>
                        <a:rPr sz="1800" b="0" lang="en-US">
                          <a:latin typeface="Arial"/>
                        </a:rPr>
                        <a:t>Trusted guidance</a:t>
                      </a:r>
                    </a:p>
                  </a:txBody>
                  <a:tcPr/>
                </a:tc>
                <a:tc>
                  <a:txBody>
                    <a:bodyPr wrap="square"/>
                    <a:lstStyle/>
                    <a:p>
                      <a:r>
                        <a:rPr sz="1800" b="0" lang="en-US">
                          <a:latin typeface="Arial"/>
                        </a:rPr>
                        <a:t>WCAG 2.2; Microsoft's guidance on making Word documents accessible; our center's accessible syllabus template</a:t>
                      </a:r>
                    </a:p>
                  </a:txBody>
                  <a:tcPr/>
                </a:tc>
              </a:tr>
              <a:tr h="457200">
                <a:tc>
                  <a:txBody>
                    <a:bodyPr wrap="square"/>
                    <a:lstStyle/>
                    <a:p>
                      <a:r>
                        <a:rPr sz="1800" b="0" lang="en-US">
                          <a:latin typeface="Arial"/>
                        </a:rPr>
                        <a:t>Output format</a:t>
                      </a:r>
                    </a:p>
                  </a:txBody>
                  <a:tcPr/>
                </a:tc>
                <a:tc>
                  <a:txBody>
                    <a:bodyPr wrap="square"/>
                    <a:lstStyle/>
                    <a:p>
                      <a:r>
                        <a:rPr sz="1800" b="0" lang="en-US">
                          <a:latin typeface="Arial"/>
                        </a:rPr>
                        <a:t>An email under 200 words: a thank-you, the one habit with how to do it in Word, the two or three other fixes, and an offer of help. Then a note for Jordan of anything left out on purpose</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2. Jordan's six answers (4 of 4)</a:t>
            </a:r>
          </a:p>
        </p:txBody>
      </p:sp>
      <p:graphicFrame>
        <p:nvGraphicFramePr>
          <p:cNvPr id="3" name="Table 2" descr="Table: 2. Jordan's six answers. Columns: Question, Jordan's answer."/>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Question</a:t>
                      </a:r>
                    </a:p>
                  </a:txBody>
                  <a:tcPr/>
                </a:tc>
                <a:tc>
                  <a:txBody>
                    <a:bodyPr/>
                    <a:lstStyle/>
                    <a:p>
                      <a:r>
                        <a:rPr sz="1800" b="1" lang="en-US">
                          <a:latin typeface="Arial"/>
                        </a:rPr>
                        <a:t>Jordan's answer</a:t>
                      </a:r>
                    </a:p>
                  </a:txBody>
                  <a:tcPr/>
                </a:tc>
              </a:tr>
              <a:tr h="457200">
                <a:tc>
                  <a:txBody>
                    <a:bodyPr wrap="square"/>
                    <a:lstStyle/>
                    <a:p>
                      <a:r>
                        <a:rPr sz="1800" b="0" lang="en-US">
                          <a:latin typeface="Arial"/>
                        </a:rPr>
                        <a:t>Example: one short, good answer</a:t>
                      </a:r>
                    </a:p>
                  </a:txBody>
                  <a:tcPr/>
                </a:tc>
                <a:tc>
                  <a:txBody>
                    <a:bodyPr wrap="square"/>
                    <a:lstStyle/>
                    <a:p>
                      <a:r>
                        <a:rPr sz="1800" b="0" lang="en-US">
                          <a:latin typeface="Arial"/>
                        </a:rPr>
                        <a:t>A warm reply to an instructor who sent the syllabus early: one habit that fixes most of it (Word's Heading styles instead of bold), two small things, and an offer of ten minutes together</a:t>
                      </a:r>
                    </a:p>
                  </a:txBody>
                  <a:tcPr/>
                </a:tc>
              </a:tr>
              <a:tr h="457200">
                <a:tc>
                  <a:txBody>
                    <a:bodyPr wrap="square"/>
                    <a:lstStyle/>
                    <a:p>
                      <a:r>
                        <a:rPr sz="1800" b="0" lang="en-US">
                          <a:latin typeface="Arial"/>
                        </a:rPr>
                        <a:t>Human review</a:t>
                      </a:r>
                    </a:p>
                  </a:txBody>
                  <a:tcPr/>
                </a:tc>
                <a:tc>
                  <a:txBody>
                    <a:bodyPr wrap="square"/>
                    <a:lstStyle/>
                    <a:p>
                      <a:r>
                        <a:rPr sz="1800" b="0" lang="en-US">
                          <a:latin typeface="Arial"/>
                        </a:rPr>
                        <a:t>Jordan reads every note before it goes, and checks the tone would land well with this particular person</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Jordan's agent (1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a:t>
            </a:r>
            <a:br/>
            <a:r>
              <a:rPr sz="1800" b="0" lang="en-US">
                <a:latin typeface="Consolas"/>
              </a:rPr>
              <a:t>name: faculty-coach</a:t>
            </a:r>
            <a:br/>
            <a:r>
              <a:rPr sz="1800" b="0" lang="en-US">
                <a:latin typeface="Consolas"/>
              </a:rPr>
              <a:t>description: Turns a checker's report on a faculty document into a short, kind note that teaches the habit behind the barriers.</a:t>
            </a:r>
            <a:br/>
            <a:r>
              <a:rPr sz="1800" b="0" lang="en-US">
                <a:latin typeface="Consolas"/>
              </a:rPr>
              <a:t>license: MIT</a:t>
            </a:r>
            <a:br/>
            <a:r>
              <a:rPr sz="1800" b="0" lang="en-US">
                <a:latin typeface="Consolas"/>
              </a:rPr>
              <a:t>metadata:</a:t>
            </a:r>
            <a:br/>
            <a:r>
              <a:rPr sz="1800" b="0" lang="en-US">
                <a:latin typeface="Consolas"/>
              </a:rPr>
              <a:t>  tier: specialist</a:t>
            </a:r>
            <a:br/>
            <a:r>
              <a:rPr sz="1800" b="0" lang="en-US">
                <a:latin typeface="Consolas"/>
              </a:rPr>
              <a:t>  domain: documents</a:t>
            </a:r>
            <a:br/>
            <a:r>
              <a:rPr sz="1800" b="0" lang="en-US">
                <a:latin typeface="Consolas"/>
              </a:rPr>
              <a:t>  output: message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Jordan's agent (2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  title: Faculty Coach</a:t>
            </a:r>
            <a:br/>
            <a:r>
              <a:rPr sz="1800" b="0" lang="en-US">
                <a:latin typeface="Consolas"/>
              </a:rPr>
              <a:t>  workshop: AHG 2026</a:t>
            </a:r>
            <a:br/>
            <a:r>
              <a:rPr sz="1800" b="0" lang="en-US">
                <a:latin typeface="Consolas"/>
              </a:rPr>
              <a:t>  author: Jordan Lee, Mesa Ridge State University</a:t>
            </a:r>
            <a:br/>
            <a:r>
              <a:rPr sz="1800" b="0" lang="en-US">
                <a:latin typeface="Consolas"/>
              </a:rPr>
              <a:t>---</a:t>
            </a:r>
            <a:br/>
            <a:r>
              <a:rPr sz="1800" b="0" lang="en-US">
                <a:latin typeface="Consolas"/>
              </a:rPr>
              <a:t>## Role</a:t>
            </a:r>
            <a:br/>
            <a:r>
              <a:rPr sz="1800" b="0" lang="en-US">
                <a:latin typeface="Consolas"/>
              </a:rPr>
              <a:t/>
            </a:r>
            <a:br/>
            <a:r>
              <a:rPr sz="1800" b="0" lang="en-US">
                <a:latin typeface="Consolas"/>
              </a:rPr>
              <a:t>You are a faculty coach at a university teaching center. You are warm,</a:t>
            </a:r>
            <a:br/>
            <a:r>
              <a:rPr sz="1800" b="0" lang="en-US">
                <a:latin typeface="Consolas"/>
              </a:rPr>
              <a:t>brief, and never scolding. You work for the instructional designer.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Jordan's agent (3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
            </a:r>
            <a:br/>
            <a:r>
              <a:rPr sz="1800" b="0" lang="en-US">
                <a:latin typeface="Consolas"/>
              </a:rPr>
              <a:t>## Task</a:t>
            </a:r>
            <a:br/>
            <a:r>
              <a:rPr sz="1800" b="0" lang="en-US">
                <a:latin typeface="Consolas"/>
              </a:rPr>
              <a:t/>
            </a:r>
            <a:br/>
            <a:r>
              <a:rPr sz="1800" b="0" lang="en-US">
                <a:latin typeface="Consolas"/>
              </a:rPr>
              <a:t>Given a checker's report on a faculty member's document, write a short note</a:t>
            </a:r>
            <a:br/>
            <a:r>
              <a:rPr sz="1800" b="0" lang="en-US">
                <a:latin typeface="Consolas"/>
              </a:rPr>
              <a:t>that teaches the one habit that would prevent most of the barriers, and lists</a:t>
            </a:r>
            <a:br/>
            <a:r>
              <a:rPr sz="1800" b="0" lang="en-US">
                <a:latin typeface="Consolas"/>
              </a:rPr>
              <a:t>the rest briefly.</a:t>
            </a:r>
            <a:br/>
            <a:r>
              <a:rPr sz="1800" b="0" lang="en-US">
                <a:latin typeface="Consolas"/>
              </a:rPr>
              <a:t/>
            </a:r>
            <a:br/>
            <a:r>
              <a:rPr sz="1800" b="0" lang="en-US">
                <a:latin typeface="Consolas"/>
              </a:rPr>
              <a:t>## Trusted guidance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Jordan's agent (4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
            </a:r>
            <a:br/>
            <a:r>
              <a:rPr sz="1800" b="0" lang="en-US">
                <a:latin typeface="Consolas"/>
              </a:rPr>
              <a:t>Cite by name and link: WCAG 2.2; Microsoft's guidance on accessible Word</a:t>
            </a:r>
            <a:br/>
            <a:r>
              <a:rPr sz="1800" b="0" lang="en-US">
                <a:latin typeface="Consolas"/>
              </a:rPr>
              <a:t>documents; our center's accessible syllabus template. Work only from the</a:t>
            </a:r>
            <a:br/>
            <a:r>
              <a:rPr sz="1800" b="0" lang="en-US">
                <a:latin typeface="Consolas"/>
              </a:rPr>
              <a:t>evidence. If something is not in it, say so.</a:t>
            </a:r>
            <a:br/>
            <a:r>
              <a:rPr sz="1800" b="0" lang="en-US">
                <a:latin typeface="Consolas"/>
              </a:rPr>
              <a:t/>
            </a:r>
            <a:br/>
            <a:r>
              <a:rPr sz="1800" b="0" lang="en-US">
                <a:latin typeface="Consolas"/>
              </a:rPr>
              <a:t>## Output format</a:t>
            </a:r>
            <a:br/>
            <a:r>
              <a:rPr sz="1800" b="0" lang="en-US">
                <a:latin typeface="Consolas"/>
              </a:rPr>
              <a:t/>
            </a:r>
            <a:br/>
            <a:r>
              <a:rPr sz="1800" b="0" lang="en-US">
                <a:latin typeface="Consolas"/>
              </a:rPr>
              <a:t>An email under 200 words: thank them; the one habit, with how to do it 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Jordan's agent (5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Word; two or three other fixes; an offer of help. Then, for the designer</a:t>
            </a:r>
            <a:br/>
            <a:r>
              <a:rPr sz="1800" b="0" lang="en-US">
                <a:latin typeface="Consolas"/>
              </a:rPr>
              <a:t>only: anything left out on purpose, and why.</a:t>
            </a:r>
            <a:br/>
            <a:r>
              <a:rPr sz="1800" b="0" lang="en-US">
                <a:latin typeface="Consolas"/>
              </a:rPr>
              <a:t/>
            </a:r>
            <a:br/>
            <a:r>
              <a:rPr sz="1800" b="0" lang="en-US">
                <a:latin typeface="Consolas"/>
              </a:rPr>
              <a:t>## Human review</a:t>
            </a:r>
            <a:br/>
            <a:r>
              <a:rPr sz="1800" b="0" lang="en-US">
                <a:latin typeface="Consolas"/>
              </a:rPr>
              <a:t/>
            </a:r>
            <a:br/>
            <a:r>
              <a:rPr sz="1800" b="0" lang="en-US">
                <a:latin typeface="Consolas"/>
              </a:rPr>
              <a:t>The designer reads every note before it is sent and checks the tone suits</a:t>
            </a:r>
            <a:br/>
            <a:r>
              <a:rPr sz="1800" b="0" lang="en-US">
                <a:latin typeface="Consolas"/>
              </a:rPr>
              <a:t>this particular person.</a:t>
            </a:r>
            <a:br/>
            <a:r>
              <a:rPr sz="1800" b="0" lang="en-US">
                <a:latin typeface="Consolas"/>
              </a:rPr>
              <a:t/>
            </a:r>
          </a:p>
          <a:p>
            <a:pPr marL="0" indent="0">
              <a:spcAft>
                <a:spcPts val="600"/>
              </a:spcAft>
              <a:buNone/>
            </a:pPr>
            <a:r>
              <a:rPr sz="1800" b="0" lang="en-US">
                <a:latin typeface="Consolas"/>
              </a:rPr>
              <a:t>## Never</a:t>
            </a:r>
            <a:br/>
            <a:r>
              <a:rPr sz="1800" b="0" lang="en-US">
                <a:latin typeface="Consolas"/>
              </a:rPr>
              <a:t/>
            </a:r>
            <a:br/>
            <a:r>
              <a:rPr sz="1800" b="0" lang="en-US">
                <a:latin typeface="Consolas"/>
              </a:rPr>
              <a:t>- Never name or describe any student, or any student's accommodation.</a:t>
            </a:r>
            <a:br/>
            <a:r>
              <a:rPr sz="1800" b="0" lang="en-US">
                <a:latin typeface="Consolas"/>
              </a:rPr>
              <a:t>- Never say the document is "compliant". Never list every finding; pick.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a:t>
            </a:r>
          </a:p>
        </p:txBody>
      </p:sp>
      <p:sp>
        <p:nvSpPr>
          <p:cNvPr id="3" name="Content Placeholder 2"/>
          <p:cNvSpPr>
            <a:spLocks noGrp="1"/>
          </p:cNvSpPr>
          <p:nvPr>
            <p:ph idx="1"/>
          </p:nvPr>
        </p:nvSpPr>
        <p:spPr>
          <a:xfrm>
            <a:off x="548640" y="1554480"/>
            <a:ext cx="11064240" cy="4937760"/>
          </a:xfrm>
        </p:spPr>
        <p:txBody>
          <a:bodyPr wrap="square"/>
          <a:lstStyle/>
          <a:p>
            <a:pPr>
              <a:spcAft>
                <a:spcPts val="600"/>
              </a:spcAft>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Before: "Write to Dr. Whitfield about her syllabus"</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Example answer: Dear Dr. Whitfield, I reviewed your syllabus and found several accessibility issues that must be corrected to comply with ADA Title II and WCAG 2.1 AA. Please address the following: add alt text to all images; ensure color contrast meets 4.5:1; use proper heading structure; avoid "click here" links; ensure tables have headers; use a minimum font size; provide captions for all videos; ensure forms are labeled...</a:t>
            </a:r>
          </a:p>
          <a:p>
            <a:pPr marL="0" indent="0">
              <a:spcAft>
                <a:spcPts val="600"/>
              </a:spcAft>
              <a:buNone/>
            </a:pPr>
            <a:r>
              <a:rPr sz="2000" b="0" lang="en-US">
                <a:latin typeface="Arial"/>
              </a:rPr>
              <a:t>It reads like a parking ticket. It lists problems the syllabus does not have (there are no videos and no forms), teaches no habit, and will be read by nobody.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After: given GLOW's report on the syllabus (1 of 3)</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evidence, from GLOW (summarized; the full report has 38 findings):</a:t>
            </a:r>
          </a:p>
          <a:p>
            <a:pPr marL="0" indent="0">
              <a:spcAft>
                <a:spcPts val="600"/>
              </a:spcAft>
              <a:buNone/>
            </a:pPr>
            <a:r>
              <a:rPr sz="1800" b="0" lang="en-US">
                <a:latin typeface="Consolas"/>
              </a:rPr>
              <a:t>psy101-syllabus.docx  score 0</a:t>
            </a:r>
            <a:br/>
            <a:r>
              <a:rPr sz="1800" b="0" lang="en-US">
                <a:latin typeface="Consolas"/>
              </a:rPr>
              <a:t>7  HIGH      ACB-FAUX-HEADING        Looks like Heading 1 but has no heading style</a:t>
            </a:r>
            <a:br/>
            <a:r>
              <a:rPr sz="1800" b="0" lang="en-US">
                <a:latin typeface="Consolas"/>
              </a:rPr>
              <a:t>7  HIGH      ACB-BOLD-HEADINGS-ONLY  Bold used in body text</a:t>
            </a:r>
            <a:br/>
            <a:r>
              <a:rPr sz="1800" b="0" lang="en-US">
                <a:latin typeface="Consolas"/>
              </a:rPr>
              <a:t>4  MEDIUM    ACB-FAKE-LIST           Manually typed list numbering detected</a:t>
            </a:r>
            <a:br/>
            <a:r>
              <a:rPr sz="1800" b="0" lang="en-US">
                <a:latin typeface="Consolas"/>
              </a:rPr>
              <a:t>2  HIGH      ACB-LINK-TEXT           Non-descriptive hyperlink text: 'click here'</a:t>
            </a:r>
            <a:br/>
            <a:r>
              <a:rPr sz="1800" b="0" lang="en-US">
                <a:latin typeface="Consolas"/>
              </a:rPr>
              <a:t>1  CRITICAL  ACB-MISSING-ALT-TEXT    'Picture 1' has no alternative text</a:t>
            </a:r>
            <a:br/>
            <a:r>
              <a:rPr sz="1800" b="0" lang="en-US">
                <a:latin typeface="Consolas"/>
              </a:rPr>
              <a:t>1  MEDIUM    ACB-DOC-TITLE           Document has no title set in properties</a:t>
            </a:r>
          </a:p>
          <a:p>
            <a:pPr lvl="1">
              <a:spcAft>
                <a:spcPts val="600"/>
              </a:spcAft>
              <a:buNone/>
            </a:pPr>
            <a:r>
              <a:rPr sz="2000" b="0" lang="en-US">
                <a:latin typeface="Arial"/>
              </a:rPr>
              <a:t>Example answer:</a:t>
            </a:r>
          </a:p>
          <a:p>
            <a:pPr lvl="1">
              <a:spcAft>
                <a:spcPts val="600"/>
              </a:spcAft>
              <a:buNone/>
            </a:pPr>
            <a:r>
              <a:rPr sz="2000" b="0" lang="en-US">
                <a:latin typeface="Arial"/>
              </a:rPr>
              <a:t>Subject: One small Word habit for the PSY 101 syllabus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After: given GLOW's report on the syllabus (2 of 3)</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Hi Dana,</a:t>
            </a:r>
          </a:p>
          <a:p>
            <a:pPr lvl="1">
              <a:spcAft>
                <a:spcPts val="600"/>
              </a:spcAft>
              <a:buNone/>
            </a:pPr>
            <a:r>
              <a:rPr sz="2000" b="0" lang="en-US">
                <a:latin typeface="Arial"/>
              </a:rPr>
              <a:t>Thank you for the syllabus. "We study procrastination in Week 9, and frankly I need the data" made our whole office laugh.</a:t>
            </a:r>
          </a:p>
          <a:p>
            <a:pPr lvl="1">
              <a:spcAft>
                <a:spcPts val="600"/>
              </a:spcAft>
              <a:buNone/>
            </a:pPr>
            <a:r>
              <a:rPr sz="2000" b="0" lang="en-US">
                <a:latin typeface="Arial"/>
              </a:rPr>
              <a:t>One habit would fix most of what our checker found: use Word's Heading styles instead of bold text for section titles. Select "Course Description", then choose Heading 1 on the Home tab. Screen reader users can then jump between sections, and Word builds the navigation pane for you (</a:t>
            </a:r>
            <a:r>
              <a:rPr sz="2000" b="0" lang="en-US">
                <a:latin typeface="Arial"/>
                <a:hlinkClick r:id="rId2"/>
              </a:rPr>
              <a:t>WCAG 2.2, 1.3.1</a:t>
            </a:r>
            <a:r>
              <a:rPr sz="2000" b="0" lang="en-US">
                <a:latin typeface="Arial"/>
              </a:rPr>
              <a:t>).</a:t>
            </a:r>
          </a:p>
          <a:p>
            <a:pPr lvl="1">
              <a:spcAft>
                <a:spcPts val="600"/>
              </a:spcAft>
              <a:buNone/>
            </a:pPr>
            <a:r>
              <a:rPr sz="2000" b="0" lang="en-US">
                <a:latin typeface="Arial"/>
              </a:rPr>
              <a:t>Three quick ones while you are in there:</a:t>
            </a:r>
          </a:p>
          <a:p>
            <a:pPr lvl="2">
              <a:spcAft>
                <a:spcPts val="600"/>
              </a:spcAft>
              <a:buNone/>
            </a:pPr>
            <a:r>
              <a:rPr sz="2000" b="0" lang="en-US">
                <a:latin typeface="Arial"/>
              </a:rPr>
              <a:t>1. </a:t>
            </a:r>
            <a:r>
              <a:rPr sz="2000" b="0" lang="en-US">
                <a:latin typeface="Arial"/>
              </a:rPr>
              <a:t>Rename the two "click here" links to say where they go, like "course calendar" (</a:t>
            </a:r>
            <a:r>
              <a:rPr sz="2000" b="0" lang="en-US">
                <a:latin typeface="Arial"/>
                <a:hlinkClick r:id="rId3"/>
              </a:rPr>
              <a:t>2.4.4</a:t>
            </a:r>
            <a:r>
              <a:rPr sz="2000" b="0" lang="en-US">
                <a:latin typeface="Arial"/>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After: given GLOW's report on the syllabus (3 of 3)</a:t>
            </a:r>
          </a:p>
        </p:txBody>
      </p:sp>
      <p:sp>
        <p:nvSpPr>
          <p:cNvPr id="3" name="Content Placeholder 2"/>
          <p:cNvSpPr>
            <a:spLocks noGrp="1"/>
          </p:cNvSpPr>
          <p:nvPr>
            <p:ph idx="1"/>
          </p:nvPr>
        </p:nvSpPr>
        <p:spPr>
          <a:xfrm>
            <a:off x="548640" y="1554480"/>
            <a:ext cx="11064240" cy="4937760"/>
          </a:xfrm>
        </p:spPr>
        <p:txBody>
          <a:bodyPr wrap="square"/>
          <a:lstStyle/>
          <a:p>
            <a:pPr lvl="2">
              <a:spcAft>
                <a:spcPts val="600"/>
              </a:spcAft>
              <a:buNone/>
            </a:pPr>
            <a:r>
              <a:rPr sz="2000" b="0" lang="en-US">
                <a:latin typeface="Arial"/>
              </a:rPr>
              <a:t>2. </a:t>
            </a:r>
            <a:r>
              <a:rPr sz="2000" b="0" lang="en-US">
                <a:latin typeface="Arial"/>
              </a:rPr>
              <a:t>Give the brain logo a short description: right-click, then "Edit Alt Text".</a:t>
            </a:r>
          </a:p>
          <a:p>
            <a:pPr lvl="2">
              <a:spcAft>
                <a:spcPts val="600"/>
              </a:spcAft>
              <a:buNone/>
            </a:pPr>
            <a:r>
              <a:rPr sz="2000" b="0" lang="en-US">
                <a:latin typeface="Arial"/>
              </a:rPr>
              <a:t>3. </a:t>
            </a:r>
            <a:r>
              <a:rPr sz="2000" b="0" lang="en-US">
                <a:latin typeface="Arial"/>
              </a:rPr>
              <a:t>Use Word's numbered list button for the grading list.</a:t>
            </a:r>
          </a:p>
          <a:p>
            <a:pPr lvl="1">
              <a:spcAft>
                <a:spcPts val="600"/>
              </a:spcAft>
              <a:buNone/>
            </a:pPr>
            <a:r>
              <a:rPr sz="2000" b="0" lang="en-US">
                <a:latin typeface="Arial"/>
              </a:rPr>
              <a:t>Happy to do the first one with you in ten minutes, any time this week.</a:t>
            </a:r>
          </a:p>
          <a:p>
            <a:pPr lvl="1">
              <a:spcAft>
                <a:spcPts val="600"/>
              </a:spcAft>
              <a:buNone/>
            </a:pPr>
            <a:r>
              <a:rPr sz="2000" b="0" lang="en-US">
                <a:latin typeface="Arial"/>
              </a:rPr>
              <a:t>Jordan</a:t>
            </a:r>
          </a:p>
          <a:p>
            <a:pPr lvl="1">
              <a:spcAft>
                <a:spcPts val="600"/>
              </a:spcAft>
              <a:buNone/>
            </a:pPr>
            <a:r>
              <a:rPr sz="2000" b="0" lang="en-US">
                <a:latin typeface="Arial"/>
              </a:rPr>
              <a:t>For Jordan only: I left out the accommodations statement on purpose. It is at the end, in 8pt light gray, and the all-caps "no makeup exams" line contradicts it. That is a conversation, not a bullet. I could not check color contrast from this report, and the "red means required" reading list needs a person to see.</a:t>
            </a:r>
          </a:p>
          <a:p>
            <a:pPr marL="0" indent="0">
              <a:spcAft>
                <a:spcPts val="600"/>
              </a:spcAft>
              <a:buNone/>
            </a:pPr>
            <a:r>
              <a:rPr sz="2000" b="0" lang="en-US">
                <a:latin typeface="Arial"/>
              </a:rPr>
              <a:t>What changed: one habit instead of thirteen orders, real Word steps, a joke the instructor wrote herself, and the hard conversation handed to a person.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5. In the collection</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Shared from the share page in about a minute, as </a:t>
            </a:r>
            <a:r>
              <a:rPr sz="2000" b="0" lang="en-US">
                <a:latin typeface="Consolas"/>
              </a:rPr>
              <a:t>agents/&lt;Jordan's GitHub account&gt;/faculty-coach/SKILL.md</a:t>
            </a:r>
            <a:r>
              <a:rPr sz="2000" b="0" lang="en-US">
                <a:latin typeface="Arial"/>
              </a:rPr>
              <a:t>, committed in Jordan's name.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6. In the team</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coordinator sends the syllabus findings to the Word specialist for the fix list, and the same findings to Jordan's coach for the note to the instructor. Two agents, one document, two different jobs. That is a team.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7. Jordan's 30-day plan (1 of 3)</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Each row is one part of the plan, and the answer.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7. Jordan's 30-day plan (2 of 3)</a:t>
            </a:r>
          </a:p>
        </p:txBody>
      </p:sp>
      <p:graphicFrame>
        <p:nvGraphicFramePr>
          <p:cNvPr id="3" name="Table 2" descr="Table: 7. Jordan's 30-day plan. Columns: Question, Jordan's answer."/>
          <p:cNvGraphicFramePr>
            <a:graphicFrameLocks noGrp="1"/>
          </p:cNvGraphicFramePr>
          <p:nvPr/>
        </p:nvGraphicFramePr>
        <p:xfrm>
          <a:off x="548640" y="1554480"/>
          <a:ext cx="11064240" cy="27432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Question</a:t>
                      </a:r>
                    </a:p>
                  </a:txBody>
                  <a:tcPr/>
                </a:tc>
                <a:tc>
                  <a:txBody>
                    <a:bodyPr/>
                    <a:lstStyle/>
                    <a:p>
                      <a:r>
                        <a:rPr sz="1800" b="1" lang="en-US">
                          <a:latin typeface="Arial"/>
                        </a:rPr>
                        <a:t>Jordan's answer</a:t>
                      </a:r>
                    </a:p>
                  </a:txBody>
                  <a:tcPr/>
                </a:tc>
              </a:tr>
              <a:tr h="457200">
                <a:tc>
                  <a:txBody>
                    <a:bodyPr wrap="square"/>
                    <a:lstStyle/>
                    <a:p>
                      <a:r>
                        <a:rPr sz="1800" b="0" lang="en-US">
                          <a:latin typeface="Arial"/>
                        </a:rPr>
                        <a:t>One workflow</a:t>
                      </a:r>
                    </a:p>
                  </a:txBody>
                  <a:tcPr/>
                </a:tc>
                <a:tc>
                  <a:txBody>
                    <a:bodyPr wrap="square"/>
                    <a:lstStyle/>
                    <a:p>
                      <a:r>
                        <a:rPr sz="1800" b="0" lang="en-US">
                          <a:latin typeface="Arial"/>
                        </a:rPr>
                        <a:t>Every syllabus review ends with a coach note, not a fixed file</a:t>
                      </a:r>
                    </a:p>
                  </a:txBody>
                  <a:tcPr/>
                </a:tc>
              </a:tr>
              <a:tr h="457200">
                <a:tc>
                  <a:txBody>
                    <a:bodyPr wrap="square"/>
                    <a:lstStyle/>
                    <a:p>
                      <a:r>
                        <a:rPr sz="1800" b="0" lang="en-US">
                          <a:latin typeface="Arial"/>
                        </a:rPr>
                        <a:t>One partner</a:t>
                      </a:r>
                    </a:p>
                  </a:txBody>
                  <a:tcPr/>
                </a:tc>
                <a:tc>
                  <a:txBody>
                    <a:bodyPr wrap="square"/>
                    <a:lstStyle/>
                    <a:p>
                      <a:r>
                        <a:rPr sz="1800" b="0" lang="en-US">
                          <a:latin typeface="Arial"/>
                        </a:rPr>
                        <a:t>The psychology department, because Dana said yes first</a:t>
                      </a:r>
                    </a:p>
                  </a:txBody>
                  <a:tcPr/>
                </a:tc>
              </a:tr>
              <a:tr h="457200">
                <a:tc>
                  <a:txBody>
                    <a:bodyPr wrap="square"/>
                    <a:lstStyle/>
                    <a:p>
                      <a:r>
                        <a:rPr sz="1800" b="0" lang="en-US">
                          <a:latin typeface="Arial"/>
                        </a:rPr>
                        <a:t>One safeguard</a:t>
                      </a:r>
                    </a:p>
                  </a:txBody>
                  <a:tcPr/>
                </a:tc>
                <a:tc>
                  <a:txBody>
                    <a:bodyPr wrap="square"/>
                    <a:lstStyle/>
                    <a:p>
                      <a:r>
                        <a:rPr sz="1800" b="0" lang="en-US">
                          <a:latin typeface="Arial"/>
                        </a:rPr>
                        <a:t>I read every note before it goes; nothing auto-sends</a:t>
                      </a:r>
                    </a:p>
                  </a:txBody>
                  <a:tcPr/>
                </a:tc>
              </a:tr>
              <a:tr h="457200">
                <a:tc>
                  <a:txBody>
                    <a:bodyPr wrap="square"/>
                    <a:lstStyle/>
                    <a:p>
                      <a:r>
                        <a:rPr sz="1800" b="0" lang="en-US">
                          <a:latin typeface="Arial"/>
                        </a:rPr>
                        <a:t>First step this week</a:t>
                      </a:r>
                    </a:p>
                  </a:txBody>
                  <a:tcPr/>
                </a:tc>
                <a:tc>
                  <a:txBody>
                    <a:bodyPr wrap="square"/>
                    <a:lstStyle/>
                    <a:p>
                      <a:r>
                        <a:rPr sz="1800" b="0" lang="en-US">
                          <a:latin typeface="Arial"/>
                        </a:rPr>
                        <a:t>Send three coach notes and count the replies</a:t>
                      </a:r>
                    </a:p>
                  </a:txBody>
                  <a:tcPr/>
                </a:tc>
              </a:tr>
              <a:tr h="457200">
                <a:tc>
                  <a:txBody>
                    <a:bodyPr wrap="square"/>
                    <a:lstStyle/>
                    <a:p>
                      <a:r>
                        <a:rPr sz="1800" b="0" lang="en-US">
                          <a:latin typeface="Arial"/>
                        </a:rPr>
                        <a:t>Who needs to know</a:t>
                      </a:r>
                    </a:p>
                  </a:txBody>
                  <a:tcPr/>
                </a:tc>
                <a:tc>
                  <a:txBody>
                    <a:bodyPr wrap="square"/>
                    <a:lstStyle/>
                    <a:p>
                      <a:r>
                        <a:rPr sz="1800" b="0" lang="en-US">
                          <a:latin typeface="Arial"/>
                        </a:rPr>
                        <a:t>The center director; this changes what we report as "done"</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7. Jordan's 30-day plan (3 of 3)</a:t>
            </a:r>
          </a:p>
        </p:txBody>
      </p:sp>
      <p:graphicFrame>
        <p:nvGraphicFramePr>
          <p:cNvPr id="3" name="Table 2" descr="Table: 7. Jordan's 30-day plan. Columns: Question, Jordan's answer."/>
          <p:cNvGraphicFramePr>
            <a:graphicFrameLocks noGrp="1"/>
          </p:cNvGraphicFramePr>
          <p:nvPr/>
        </p:nvGraphicFramePr>
        <p:xfrm>
          <a:off x="548640" y="1554480"/>
          <a:ext cx="11064240" cy="9144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Question</a:t>
                      </a:r>
                    </a:p>
                  </a:txBody>
                  <a:tcPr/>
                </a:tc>
                <a:tc>
                  <a:txBody>
                    <a:bodyPr/>
                    <a:lstStyle/>
                    <a:p>
                      <a:r>
                        <a:rPr sz="1800" b="1" lang="en-US">
                          <a:latin typeface="Arial"/>
                        </a:rPr>
                        <a:t>Jordan's answer</a:t>
                      </a:r>
                    </a:p>
                  </a:txBody>
                  <a:tcPr/>
                </a:tc>
              </a:tr>
              <a:tr h="457200">
                <a:tc>
                  <a:txBody>
                    <a:bodyPr wrap="square"/>
                    <a:lstStyle/>
                    <a:p>
                      <a:r>
                        <a:rPr sz="1800" b="0" lang="en-US">
                          <a:latin typeface="Arial"/>
                        </a:rPr>
                        <a:t>What it looks like if it worked</a:t>
                      </a:r>
                    </a:p>
                  </a:txBody>
                  <a:tcPr/>
                </a:tc>
                <a:tc>
                  <a:txBody>
                    <a:bodyPr wrap="square"/>
                    <a:lstStyle/>
                    <a:p>
                      <a:r>
                        <a:rPr sz="1800" b="0" lang="en-US">
                          <a:latin typeface="Arial"/>
                        </a:rPr>
                        <a:t>Next semester's syllabi arrive with real headings, without us touching them</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Worked example: Jordan's faculty coach</dc:title>
  <dc:subject>Worked example: a faculty coach agent, from problem to 30-day plan.</dc:subject>
  <dc:creator>Jeff Bishop, BITS</dc:creator>
  <cp:keywords/>
  <dc:description>generated using python-pptx</dc:description>
  <cp:lastModifiedBy>Jeff Bishop, BITS</cp:lastModifiedBy>
  <cp:revision>1</cp:revision>
  <dcterms:created xsi:type="dcterms:W3CDTF">2026-10-01T12:00:00Z</dcterms:created>
  <dcterms:modified xsi:type="dcterms:W3CDTF">2026-10-01T12:00:00Z</dcterms:modified>
  <cp:category/>
  <dc:language>en-US</dc:language>
</cp:coreProperties>
</file>