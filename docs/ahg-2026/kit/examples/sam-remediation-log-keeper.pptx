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w3.org/WAI/WCAG22/Understanding/info-and-relationships.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w3.org/WAI/WCAG22/Understanding/headings-and-labels.html" TargetMode="External"/><Relationship Id="rId3" Type="http://schemas.openxmlformats.org/officeDocument/2006/relationships/hyperlink" Target="https://www.w3.org/WAI/WCAG22/Understanding/meaningful-sequence.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w3.org/WAI/WCAG22/Understanding/use-of-color.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ada.gov/resources/2024-03-08-web-rule/" TargetMode="External"/><Relationship Id="rId3" Type="http://schemas.openxmlformats.org/officeDocument/2006/relationships/hyperlink" Target="https://www.w3.org/TR/WCAG22/"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731520" y="1463040"/>
            <a:ext cx="10698480" cy="2011680"/>
          </a:xfrm>
        </p:spPr>
        <p:txBody>
          <a:bodyPr wrap="square"/>
          <a:lstStyle/>
          <a:p>
            <a:r>
              <a:rPr sz="4000" b="1" lang="en-US">
                <a:latin typeface="Arial"/>
              </a:rPr>
              <a:t>Worked example: Sam's remediation log keeper</a:t>
            </a:r>
          </a:p>
        </p:txBody>
      </p:sp>
      <p:sp>
        <p:nvSpPr>
          <p:cNvPr id="3" name="Subtitle 2"/>
          <p:cNvSpPr>
            <a:spLocks noGrp="1"/>
          </p:cNvSpPr>
          <p:nvPr>
            <p:ph type="subTitle" idx="1"/>
          </p:nvPr>
        </p:nvSpPr>
        <p:spPr>
          <a:xfrm>
            <a:off x="731520" y="3657600"/>
            <a:ext cx="10698480" cy="2194560"/>
          </a:xfrm>
        </p:spPr>
        <p:txBody>
          <a:bodyPr wrap="square"/>
          <a:lstStyle/>
          <a:p>
            <a:r>
              <a:rPr sz="2400" b="0" lang="en-US">
                <a:latin typeface="Arial"/>
              </a:rPr>
              <a:t>Worked example: a remediation log keeper agent, from problem to 30-day plan.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About this document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Role card: Compliance and procurement.</a:t>
            </a:r>
          </a:p>
          <a:p>
            <a:pPr marL="0" indent="0">
              <a:spcAft>
                <a:spcPts val="600"/>
              </a:spcAft>
              <a:buNone/>
            </a:pPr>
            <a:r>
              <a:rPr sz="2000" b="0" lang="en-US">
                <a:latin typeface="Arial"/>
              </a:rPr>
              <a:t>Sam Okafor is the IT accessibility coordinator at Mesa Ridge State University. Sam reports to the CIO, who asked one question when the Title II web rule was published: "Where are we, and can we prove it?" Sam has a spreadsheet named </a:t>
            </a:r>
            <a:r>
              <a:rPr sz="2000" b="0" lang="en-US">
                <a:latin typeface="Consolas"/>
              </a:rPr>
              <a:t>FINAL_final_v3.xlsx</a:t>
            </a:r>
            <a:r>
              <a:rPr sz="2000" b="0" lang="en-US">
                <a:latin typeface="Arial"/>
              </a:rPr>
              <a:t>, and would like a better answer.</a:t>
            </a:r>
          </a:p>
          <a:p>
            <a:pPr marL="0" indent="0">
              <a:spcAft>
                <a:spcPts val="600"/>
              </a:spcAft>
              <a:buNone/>
            </a:pPr>
            <a:r>
              <a:rPr sz="2000" b="0" lang="en-US">
                <a:latin typeface="Arial"/>
              </a:rPr>
              <a:t>The answers in step 4 are examples written for the workshop. On the day, everyone's own AI writes its own.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1. The problem</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Title II asks public institutions to make web content and course materials meet WCAG 2.1 AA. Nobody fixes 40,000 files in a semester. What an institution can show is a defensible record: what was checked, what was found, what is fixed first and why, who decided, and when.</a:t>
            </a:r>
          </a:p>
          <a:p>
            <a:pPr marL="0" indent="0">
              <a:spcAft>
                <a:spcPts val="600"/>
              </a:spcAft>
              <a:buNone/>
            </a:pPr>
            <a:r>
              <a:rPr sz="2000" b="0" lang="en-US">
                <a:latin typeface="Arial"/>
              </a:rPr>
              <a:t>PSY 101 is one course. Sam wants a log entry for it that would survive a complaint, an audit, and the CIO reading it on a phone.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2. Sam's six answers (1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Each row is one question, and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2. Sam's six answers (2 of 4)</a:t>
            </a:r>
          </a:p>
        </p:txBody>
      </p:sp>
      <p:graphicFrame>
        <p:nvGraphicFramePr>
          <p:cNvPr id="3" name="Table 2" descr="Table: 2. Sam's six answers. Columns: Question, Sam's answer."/>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Sam's answer</a:t>
                      </a:r>
                    </a:p>
                  </a:txBody>
                  <a:tcPr/>
                </a:tc>
              </a:tr>
              <a:tr h="457200">
                <a:tc>
                  <a:txBody>
                    <a:bodyPr wrap="square"/>
                    <a:lstStyle/>
                    <a:p>
                      <a:r>
                        <a:rPr sz="1800" b="0" lang="en-US">
                          <a:latin typeface="Arial"/>
                        </a:rPr>
                        <a:t>Role: who is this agent?</a:t>
                      </a:r>
                    </a:p>
                  </a:txBody>
                  <a:tcPr/>
                </a:tc>
                <a:tc>
                  <a:txBody>
                    <a:bodyPr wrap="square"/>
                    <a:lstStyle/>
                    <a:p>
                      <a:r>
                        <a:rPr sz="1800" b="0" lang="en-US">
                          <a:latin typeface="Arial"/>
                        </a:rPr>
                        <a:t>A remediation log keeper in a university IT accessibility office, working for the accessibility coordinator</a:t>
                      </a:r>
                    </a:p>
                  </a:txBody>
                  <a:tcPr/>
                </a:tc>
              </a:tr>
              <a:tr h="457200">
                <a:tc>
                  <a:txBody>
                    <a:bodyPr wrap="square"/>
                    <a:lstStyle/>
                    <a:p>
                      <a:r>
                        <a:rPr sz="1800" b="0" lang="en-US">
                          <a:latin typeface="Arial"/>
                        </a:rPr>
                        <a:t>Task: the one job</a:t>
                      </a:r>
                    </a:p>
                  </a:txBody>
                  <a:tcPr/>
                </a:tc>
                <a:tc>
                  <a:txBody>
                    <a:bodyPr wrap="square"/>
                    <a:lstStyle/>
                    <a:p>
                      <a:r>
                        <a:rPr sz="1800" b="0" lang="en-US">
                          <a:latin typeface="Arial"/>
                        </a:rPr>
                        <a:t>Given checker reports for a course's files, produce dated log entries: each barrier, its WCAG criterion, its severity, a priority with the reason, and the evidence source</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2. Sam's six answers (3 of 4)</a:t>
            </a:r>
          </a:p>
        </p:txBody>
      </p:sp>
      <p:graphicFrame>
        <p:nvGraphicFramePr>
          <p:cNvPr id="3" name="Table 2" descr="Table: 2. Sam's six answers. Columns: Question, Sam's answer."/>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Sam's answer</a:t>
                      </a:r>
                    </a:p>
                  </a:txBody>
                  <a:tcPr/>
                </a:tc>
              </a:tr>
              <a:tr h="457200">
                <a:tc>
                  <a:txBody>
                    <a:bodyPr wrap="square"/>
                    <a:lstStyle/>
                    <a:p>
                      <a:r>
                        <a:rPr sz="1800" b="0" lang="en-US">
                          <a:latin typeface="Arial"/>
                        </a:rPr>
                        <a:t>Trusted guidance</a:t>
                      </a:r>
                    </a:p>
                  </a:txBody>
                  <a:tcPr/>
                </a:tc>
                <a:tc>
                  <a:txBody>
                    <a:bodyPr wrap="square"/>
                    <a:lstStyle/>
                    <a:p>
                      <a:r>
                        <a:rPr sz="1800" b="0" lang="en-US">
                          <a:latin typeface="Arial"/>
                        </a:rPr>
                        <a:t>WCAG 2.2 (and note the 2.1 AA level the rule names); the checker reports; our remediation priority policy, which puts barriers that block a student first</a:t>
                      </a:r>
                    </a:p>
                  </a:txBody>
                  <a:tcPr/>
                </a:tc>
              </a:tr>
              <a:tr h="457200">
                <a:tc>
                  <a:txBody>
                    <a:bodyPr wrap="square"/>
                    <a:lstStyle/>
                    <a:p>
                      <a:r>
                        <a:rPr sz="1800" b="0" lang="en-US">
                          <a:latin typeface="Arial"/>
                        </a:rPr>
                        <a:t>Output format</a:t>
                      </a:r>
                    </a:p>
                  </a:txBody>
                  <a:tcPr/>
                </a:tc>
                <a:tc>
                  <a:txBody>
                    <a:bodyPr wrap="square"/>
                    <a:lstStyle/>
                    <a:p>
                      <a:r>
                        <a:rPr sz="1800" b="0" lang="en-US">
                          <a:latin typeface="Arial"/>
                        </a:rPr>
                        <a:t>A table: file, barrier, WCAG criterion with link, severity, priority, reason, evidence, reviewer, status. Then a three-line summary for leadership</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2. Sam's six answers (4 of 4)</a:t>
            </a:r>
          </a:p>
        </p:txBody>
      </p:sp>
      <p:graphicFrame>
        <p:nvGraphicFramePr>
          <p:cNvPr id="3" name="Table 2" descr="Table: 2. Sam's six answers. Columns: Question, Sam's answer."/>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Sam's answer</a:t>
                      </a:r>
                    </a:p>
                  </a:txBody>
                  <a:tcPr/>
                </a:tc>
              </a:tr>
              <a:tr h="457200">
                <a:tc>
                  <a:txBody>
                    <a:bodyPr wrap="square"/>
                    <a:lstStyle/>
                    <a:p>
                      <a:r>
                        <a:rPr sz="1800" b="0" lang="en-US">
                          <a:latin typeface="Arial"/>
                        </a:rPr>
                        <a:t>Example: one short, good answer</a:t>
                      </a:r>
                    </a:p>
                  </a:txBody>
                  <a:tcPr/>
                </a:tc>
                <a:tc>
                  <a:txBody>
                    <a:bodyPr wrap="square"/>
                    <a:lstStyle/>
                    <a:p>
                      <a:r>
                        <a:rPr sz="1800" b="0" lang="en-US">
                          <a:latin typeface="Arial"/>
                        </a:rPr>
                        <a:t>One log row: the PSY 101 syllabus has no headings, 1.3.1, high priority, blocks navigation, from the GLOW audit, owned by the coordinator, proposed</a:t>
                      </a:r>
                    </a:p>
                  </a:txBody>
                  <a:tcPr/>
                </a:tc>
              </a:tr>
              <a:tr h="457200">
                <a:tc>
                  <a:txBody>
                    <a:bodyPr wrap="square"/>
                    <a:lstStyle/>
                    <a:p>
                      <a:r>
                        <a:rPr sz="1800" b="0" lang="en-US">
                          <a:latin typeface="Arial"/>
                        </a:rPr>
                        <a:t>Human review</a:t>
                      </a:r>
                    </a:p>
                  </a:txBody>
                  <a:tcPr/>
                </a:tc>
                <a:tc>
                  <a:txBody>
                    <a:bodyPr wrap="square"/>
                    <a:lstStyle/>
                    <a:p>
                      <a:r>
                        <a:rPr sz="1800" b="0" lang="en-US">
                          <a:latin typeface="Arial"/>
                        </a:rPr>
                        <a:t>The coordinator approves every priority before the log is final, and initials each entry</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Sam's agent (1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a:t>
            </a:r>
            <a:br/>
            <a:r>
              <a:rPr sz="1800" b="0" lang="en-US">
                <a:latin typeface="Consolas"/>
              </a:rPr>
              <a:t>name: remediation-log-keeper</a:t>
            </a:r>
            <a:br/>
            <a:r>
              <a:rPr sz="1800" b="0" lang="en-US">
                <a:latin typeface="Consolas"/>
              </a:rPr>
              <a:t>description: Turns checker reports for a course into dated, prioritized, evidence-backed remediation log entries. Use when you need a dated, defensible record of a course's barriers for Title II.</a:t>
            </a:r>
            <a:br/>
            <a:r>
              <a:rPr sz="1800" b="0" lang="en-US">
                <a:latin typeface="Consolas"/>
              </a:rPr>
              <a:t>license: MIT</a:t>
            </a:r>
            <a:br/>
            <a:r>
              <a:rPr sz="1800" b="0" lang="en-US">
                <a:latin typeface="Consolas"/>
              </a:rPr>
              <a:t>metadata:</a:t>
            </a:r>
            <a:br/>
            <a:r>
              <a:rPr sz="1800" b="0" lang="en-US">
                <a:latin typeface="Consolas"/>
              </a:rPr>
              <a:t>  tier: specialist</a:t>
            </a:r>
            <a:br/>
            <a:r>
              <a:rPr sz="1800" b="0" lang="en-US">
                <a:latin typeface="Consolas"/>
              </a:rPr>
              <a:t>  domain: compliance</a:t>
            </a:r>
            <a:br/>
            <a:r>
              <a:rPr sz="1800" b="0" lang="en-US">
                <a:latin typeface="Consolas"/>
              </a:rPr>
              <a:t>  output: log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Sam's agent (2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  title: Remediation Log Keeper</a:t>
            </a:r>
            <a:br/>
            <a:r>
              <a:rPr sz="1800" b="0" lang="en-US">
                <a:latin typeface="Consolas"/>
              </a:rPr>
              <a:t>  workshop: AHG 2026</a:t>
            </a:r>
            <a:br/>
            <a:r>
              <a:rPr sz="1800" b="0" lang="en-US">
                <a:latin typeface="Consolas"/>
              </a:rPr>
              <a:t>  author: Sam Okafor, Mesa Ridge State University</a:t>
            </a:r>
            <a:br/>
            <a:r>
              <a:rPr sz="1800" b="0" lang="en-US">
                <a:latin typeface="Consolas"/>
              </a:rPr>
              <a:t>---</a:t>
            </a:r>
            <a:br/>
            <a:r>
              <a:rPr sz="1800" b="0" lang="en-US">
                <a:latin typeface="Consolas"/>
              </a:rPr>
              <a:t>## Role</a:t>
            </a:r>
            <a:br/>
            <a:r>
              <a:rPr sz="1800" b="0" lang="en-US">
                <a:latin typeface="Consolas"/>
              </a:rPr>
              <a:t/>
            </a:r>
            <a:br/>
            <a:r>
              <a:rPr sz="1800" b="0" lang="en-US">
                <a:latin typeface="Consolas"/>
              </a:rPr>
              <a:t>You are a remediation log keeper in a university IT accessibility office.</a:t>
            </a:r>
            <a:br/>
            <a:r>
              <a:rPr sz="1800" b="0" lang="en-US">
                <a:latin typeface="Consolas"/>
              </a:rPr>
              <a:t>You work for the accessibility coordinator.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Sam's agent (3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
            </a:r>
            <a:br/>
            <a:r>
              <a:rPr sz="1800" b="0" lang="en-US">
                <a:latin typeface="Consolas"/>
              </a:rPr>
              <a:t>## Task</a:t>
            </a:r>
            <a:br/>
            <a:r>
              <a:rPr sz="1800" b="0" lang="en-US">
                <a:latin typeface="Consolas"/>
              </a:rPr>
              <a:t/>
            </a:r>
            <a:br/>
            <a:r>
              <a:rPr sz="1800" b="0" lang="en-US">
                <a:latin typeface="Consolas"/>
              </a:rPr>
              <a:t>Given checker reports for a course's files, produce dated log entries: each</a:t>
            </a:r>
            <a:br/>
            <a:r>
              <a:rPr sz="1800" b="0" lang="en-US">
                <a:latin typeface="Consolas"/>
              </a:rPr>
              <a:t>barrier, its WCAG criterion, its severity, a priority with the reason, and</a:t>
            </a:r>
            <a:br/>
            <a:r>
              <a:rPr sz="1800" b="0" lang="en-US">
                <a:latin typeface="Consolas"/>
              </a:rPr>
              <a:t>the evidence source.</a:t>
            </a:r>
            <a:br/>
            <a:r>
              <a:rPr sz="1800" b="0" lang="en-US">
                <a:latin typeface="Consolas"/>
              </a:rPr>
              <a:t/>
            </a:r>
            <a:br/>
            <a:r>
              <a:rPr sz="1800" b="0" lang="en-US">
                <a:latin typeface="Consolas"/>
              </a:rPr>
              <a:t>## Trusted guidance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Sam's agent (4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
            </a:r>
            <a:br/>
            <a:r>
              <a:rPr sz="1800" b="0" lang="en-US">
                <a:latin typeface="Consolas"/>
              </a:rPr>
              <a:t>Cite by name and link: WCAG 2.2, noting the 2.1 AA level the Title II rule</a:t>
            </a:r>
            <a:br/>
            <a:r>
              <a:rPr sz="1800" b="0" lang="en-US">
                <a:latin typeface="Consolas"/>
              </a:rPr>
              <a:t>names; the checker reports themselves; our remediation priority policy,</a:t>
            </a:r>
            <a:br/>
            <a:r>
              <a:rPr sz="1800" b="0" lang="en-US">
                <a:latin typeface="Consolas"/>
              </a:rPr>
              <a:t>which puts barriers that block a student first. Use only the evidence given.</a:t>
            </a:r>
            <a:br/>
            <a:r>
              <a:rPr sz="1800" b="0" lang="en-US">
                <a:latin typeface="Consolas"/>
              </a:rPr>
              <a:t/>
            </a:r>
            <a:br/>
            <a:r>
              <a:rPr sz="1800" b="0" lang="en-US">
                <a:latin typeface="Consolas"/>
              </a:rPr>
              <a:t>## Output format</a:t>
            </a:r>
            <a:br/>
            <a:r>
              <a:rPr sz="1800" b="0" lang="en-US">
                <a:latin typeface="Consolas"/>
              </a:rPr>
              <a:t/>
            </a:r>
            <a:br/>
            <a:r>
              <a:rPr sz="1800" b="0" lang="en-US">
                <a:latin typeface="Consolas"/>
              </a:rPr>
              <a:t>A table: file, barrier, WCAG criterion with link, severity, priority,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Sam's agent (5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reason, evidence, reviewer, status. Then three lines for leadership.</a:t>
            </a:r>
            <a:br/>
            <a:r>
              <a:rPr sz="1800" b="0" lang="en-US">
                <a:latin typeface="Consolas"/>
              </a:rPr>
              <a:t/>
            </a:r>
            <a:br/>
            <a:r>
              <a:rPr sz="1800" b="0" lang="en-US">
                <a:latin typeface="Consolas"/>
              </a:rPr>
              <a:t>## Human review</a:t>
            </a:r>
            <a:br/>
            <a:r>
              <a:rPr sz="1800" b="0" lang="en-US">
                <a:latin typeface="Consolas"/>
              </a:rPr>
              <a:t/>
            </a:r>
            <a:br/>
            <a:r>
              <a:rPr sz="1800" b="0" lang="en-US">
                <a:latin typeface="Consolas"/>
              </a:rPr>
              <a:t>The coordinator approves every priority and initials every entry before the</a:t>
            </a:r>
            <a:br/>
            <a:r>
              <a:rPr sz="1800" b="0" lang="en-US">
                <a:latin typeface="Consolas"/>
              </a:rPr>
              <a:t>log is final. Until then every status is "proposed".</a:t>
            </a:r>
            <a:br/>
            <a:r>
              <a:rPr sz="1800" b="0" lang="en-US">
                <a:latin typeface="Consolas"/>
              </a:rPr>
              <a:t/>
            </a:r>
            <a:br/>
            <a:r>
              <a:rPr sz="1800" b="0" lang="en-US">
                <a:latin typeface="Consolas"/>
              </a:rPr>
              <a:t>## Never</a:t>
            </a:r>
          </a:p>
          <a:p>
            <a:pPr marL="0" indent="0">
              <a:spcAft>
                <a:spcPts val="600"/>
              </a:spcAft>
              <a:buNone/>
            </a:pPr>
            <a:r>
              <a:rPr sz="1800" b="0" lang="en-US">
                <a:latin typeface="Consolas"/>
              </a:rPr>
              <a:t/>
            </a:r>
            <a:br/>
            <a:r>
              <a:rPr sz="1800" b="0" lang="en-US">
                <a:latin typeface="Consolas"/>
              </a:rPr>
              <a:t>- Never include student names or accommodation details.</a:t>
            </a:r>
            <a:br/>
            <a:r>
              <a:rPr sz="1800" b="0" lang="en-US">
                <a:latin typeface="Consolas"/>
              </a:rPr>
              <a:t>- Never mark anything "compliant". Mark what was checked, by what, and when.</a:t>
            </a:r>
            <a:br/>
            <a:r>
              <a:rPr sz="1800" b="0" lang="en-US">
                <a:latin typeface="Consolas"/>
              </a:rPr>
              <a:t>- Never invent a finding that is not in the evidence.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a:t>
            </a:r>
          </a:p>
        </p:txBody>
      </p:sp>
      <p:sp>
        <p:nvSpPr>
          <p:cNvPr id="3" name="Content Placeholder 2"/>
          <p:cNvSpPr>
            <a:spLocks noGrp="1"/>
          </p:cNvSpPr>
          <p:nvPr>
            <p:ph idx="1"/>
          </p:nvPr>
        </p:nvSpPr>
        <p:spPr>
          <a:xfrm>
            <a:off x="548640" y="1554480"/>
            <a:ext cx="11064240" cy="4937760"/>
          </a:xfrm>
        </p:spPr>
        <p:txBody>
          <a:bodyPr wrap="square"/>
          <a:lstStyle/>
          <a:p>
            <a:pPr>
              <a:spcAft>
                <a:spcPts val="600"/>
              </a:spcAft>
            </a:p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Before: "Make a compliance log for PSY 101"</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Example answer: PSY 101 Accessibility Compliance Log. Overall status: Partially compliant (estimated 72%). Issues: missing alt text (high), contrast (medium), captions (high), keyboard navigation (medium). Estimated remediation time: 6 hours. Recommendation: course is substantially compliant pending minor fixes.</a:t>
            </a:r>
          </a:p>
          <a:p>
            <a:pPr marL="0" indent="0">
              <a:spcAft>
                <a:spcPts val="600"/>
              </a:spcAft>
              <a:buNone/>
            </a:pPr>
            <a:r>
              <a:rPr sz="2000" b="0" lang="en-US">
                <a:latin typeface="Arial"/>
              </a:rPr>
              <a:t>A number with no source, a percentage nobody can defend, a "compliant" that would not survive the first question, and no dates, names or evidence. It is exactly the kind of log that causes problems later.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After: given GLOW's reports for the lecture, the gradebook and the lab handout (1 of 6)</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 evidence, from GLOW:</a:t>
            </a:r>
          </a:p>
          <a:p>
            <a:pPr marL="0" indent="0">
              <a:spcAft>
                <a:spcPts val="600"/>
              </a:spcAft>
              <a:buNone/>
            </a:pPr>
            <a:r>
              <a:rPr sz="1800" b="0" lang="en-US">
                <a:latin typeface="Consolas"/>
              </a:rPr>
              <a:t>psy101-week3-lecture.pptx  score 58</a:t>
            </a:r>
            <a:br/>
            <a:r>
              <a:rPr sz="1800" b="0" lang="en-US">
                <a:latin typeface="Consolas"/>
              </a:rPr>
              <a:t>2  CRITICAL  `PPTX-SLIDE-TITLE`    Slide has no title or the title placeholder is empty</a:t>
            </a:r>
            <a:br/>
            <a:r>
              <a:rPr sz="1800" b="0" lang="en-US">
                <a:latin typeface="Consolas"/>
              </a:rPr>
              <a:t>1  MEDIUM    `PPTX-READING-ORDER`  Reading order differs from visual layout</a:t>
            </a:r>
            <a:br/>
            <a:r>
              <a:rPr sz="1800" b="0" lang="en-US">
                <a:latin typeface="Consolas"/>
              </a:rPr>
              <a:t>psy101-gradebook.xlsx  score 54</a:t>
            </a:r>
            <a:br/>
            <a:r>
              <a:rPr sz="1800" b="0" lang="en-US">
                <a:latin typeface="Consolas"/>
              </a:rPr>
              <a:t>1  MEDIUM    `XLSX-COLOR-ONLY`     4 empty cells with background color may convey meaning through color alone</a:t>
            </a:r>
            <a:br/>
            <a:r>
              <a:rPr sz="1800" b="0" lang="en-US">
                <a:latin typeface="Consolas"/>
              </a:rPr>
              <a:t>3  MEDIUM    `XLSX-MERGED-CELLS`   Merged range A1:F1 disrupts screen reader navigation</a:t>
            </a:r>
            <a:br/>
            <a:r>
              <a:rPr sz="1800" b="0" lang="en-US">
                <a:latin typeface="Consolas"/>
              </a:rPr>
              <a:t>psy101-lab1-stroop.pdf  score 50</a:t>
            </a:r>
            <a:br/>
            <a:r>
              <a:rPr sz="1800" b="0" lang="en-US">
                <a:latin typeface="Consolas"/>
              </a:rPr>
              <a:t>1  CRITICAL  `PDF-TAGGED`          PDF is not tagged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After: given GLOW's reports for the lecture, the gradebook and the lab handout (2 of 6)</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Example answer (first rows; dated 16 November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After: given GLOW's reports for the lecture, the gradebook and the lab handout (3 of 6)</a:t>
            </a:r>
          </a:p>
        </p:txBody>
      </p:sp>
      <p:graphicFrame>
        <p:nvGraphicFramePr>
          <p:cNvPr id="3" name="Table 2" descr="Table: 4. Before and after grounding: After: given GLOW's reports for the lecture, the gradebook and the lab handout. Columns: File, Barrier, WCAG, Severity, Priority, Reason, Evidence, Reviewer, Status."/>
          <p:cNvGraphicFramePr>
            <a:graphicFrameLocks noGrp="1"/>
          </p:cNvGraphicFramePr>
          <p:nvPr/>
        </p:nvGraphicFramePr>
        <p:xfrm>
          <a:off x="548640" y="1554480"/>
          <a:ext cx="11064240" cy="914400"/>
        </p:xfrm>
        <a:graphic>
          <a:graphicData uri="http://schemas.openxmlformats.org/drawingml/2006/table">
            <a:tbl>
              <a:tblPr firstRow="1" bandRow="1">
                <a:tableStyleId>{5C22544A-7EE6-4342-B048-85BDC9FD1C3A}</a:tableStyleId>
              </a:tblPr>
              <a:tblGrid>
                <a:gridCol w="1229360"/>
                <a:gridCol w="1229360"/>
                <a:gridCol w="1229360"/>
                <a:gridCol w="1229360"/>
                <a:gridCol w="1229360"/>
                <a:gridCol w="1229360"/>
                <a:gridCol w="1229360"/>
                <a:gridCol w="1229360"/>
                <a:gridCol w="1229360"/>
              </a:tblGrid>
              <a:tr h="457200">
                <a:tc>
                  <a:txBody>
                    <a:bodyPr/>
                    <a:lstStyle/>
                    <a:p>
                      <a:r>
                        <a:rPr sz="1800" b="1" lang="en-US">
                          <a:latin typeface="Arial"/>
                        </a:rPr>
                        <a:t>File</a:t>
                      </a:r>
                    </a:p>
                  </a:txBody>
                  <a:tcPr/>
                </a:tc>
                <a:tc>
                  <a:txBody>
                    <a:bodyPr/>
                    <a:lstStyle/>
                    <a:p>
                      <a:r>
                        <a:rPr sz="1800" b="1" lang="en-US">
                          <a:latin typeface="Arial"/>
                        </a:rPr>
                        <a:t>Barrier</a:t>
                      </a:r>
                    </a:p>
                  </a:txBody>
                  <a:tcPr/>
                </a:tc>
                <a:tc>
                  <a:txBody>
                    <a:bodyPr/>
                    <a:lstStyle/>
                    <a:p>
                      <a:r>
                        <a:rPr sz="1800" b="1" lang="en-US">
                          <a:latin typeface="Arial"/>
                        </a:rPr>
                        <a:t>WCAG</a:t>
                      </a:r>
                    </a:p>
                  </a:txBody>
                  <a:tcPr/>
                </a:tc>
                <a:tc>
                  <a:txBody>
                    <a:bodyPr/>
                    <a:lstStyle/>
                    <a:p>
                      <a:r>
                        <a:rPr sz="1800" b="1" lang="en-US">
                          <a:latin typeface="Arial"/>
                        </a:rPr>
                        <a:t>Severity</a:t>
                      </a:r>
                    </a:p>
                  </a:txBody>
                  <a:tcPr/>
                </a:tc>
                <a:tc>
                  <a:txBody>
                    <a:bodyPr/>
                    <a:lstStyle/>
                    <a:p>
                      <a:r>
                        <a:rPr sz="1800" b="1" lang="en-US">
                          <a:latin typeface="Arial"/>
                        </a:rPr>
                        <a:t>Priority</a:t>
                      </a:r>
                    </a:p>
                  </a:txBody>
                  <a:tcPr/>
                </a:tc>
                <a:tc>
                  <a:txBody>
                    <a:bodyPr/>
                    <a:lstStyle/>
                    <a:p>
                      <a:r>
                        <a:rPr sz="1800" b="1" lang="en-US">
                          <a:latin typeface="Arial"/>
                        </a:rPr>
                        <a:t>Reason</a:t>
                      </a:r>
                    </a:p>
                  </a:txBody>
                  <a:tcPr/>
                </a:tc>
                <a:tc>
                  <a:txBody>
                    <a:bodyPr/>
                    <a:lstStyle/>
                    <a:p>
                      <a:r>
                        <a:rPr sz="1800" b="1" lang="en-US">
                          <a:latin typeface="Arial"/>
                        </a:rPr>
                        <a:t>Evidence</a:t>
                      </a:r>
                    </a:p>
                  </a:txBody>
                  <a:tcPr/>
                </a:tc>
                <a:tc>
                  <a:txBody>
                    <a:bodyPr/>
                    <a:lstStyle/>
                    <a:p>
                      <a:r>
                        <a:rPr sz="1800" b="1" lang="en-US">
                          <a:latin typeface="Arial"/>
                        </a:rPr>
                        <a:t>Reviewer</a:t>
                      </a:r>
                    </a:p>
                  </a:txBody>
                  <a:tcPr/>
                </a:tc>
                <a:tc>
                  <a:txBody>
                    <a:bodyPr/>
                    <a:lstStyle/>
                    <a:p>
                      <a:r>
                        <a:rPr sz="1800" b="1" lang="en-US">
                          <a:latin typeface="Arial"/>
                        </a:rPr>
                        <a:t>Status</a:t>
                      </a:r>
                    </a:p>
                  </a:txBody>
                  <a:tcPr/>
                </a:tc>
              </a:tr>
              <a:tr h="457200">
                <a:tc>
                  <a:txBody>
                    <a:bodyPr wrap="square"/>
                    <a:lstStyle/>
                    <a:p>
                      <a:r>
                        <a:rPr sz="1800" b="0" lang="en-US">
                          <a:latin typeface="Arial"/>
                        </a:rPr>
                        <a:t>Lab 1 handout</a:t>
                      </a:r>
                    </a:p>
                  </a:txBody>
                  <a:tcPr/>
                </a:tc>
                <a:tc>
                  <a:txBody>
                    <a:bodyPr wrap="square"/>
                    <a:lstStyle/>
                    <a:p>
                      <a:r>
                        <a:rPr sz="1800" b="0" lang="en-US">
                          <a:latin typeface="Arial"/>
                        </a:rPr>
                        <a:t>Not tagged; structure unavailable to screen readers</a:t>
                      </a:r>
                    </a:p>
                  </a:txBody>
                  <a:tcPr/>
                </a:tc>
                <a:tc>
                  <a:txBody>
                    <a:bodyPr wrap="square"/>
                    <a:lstStyle/>
                    <a:p>
                      <a:r>
                        <a:rPr sz="1800" b="0" lang="en-US">
                          <a:latin typeface="Arial"/>
                          <a:hlinkClick r:id="rId2"/>
                        </a:rPr>
                        <a:t>1.3.1</a:t>
                      </a:r>
                    </a:p>
                  </a:txBody>
                  <a:tcPr/>
                </a:tc>
                <a:tc>
                  <a:txBody>
                    <a:bodyPr wrap="square"/>
                    <a:lstStyle/>
                    <a:p>
                      <a:r>
                        <a:rPr sz="1800" b="0" lang="en-US">
                          <a:latin typeface="Arial"/>
                        </a:rPr>
                        <a:t>Critical</a:t>
                      </a:r>
                    </a:p>
                  </a:txBody>
                  <a:tcPr/>
                </a:tc>
                <a:tc>
                  <a:txBody>
                    <a:bodyPr wrap="square"/>
                    <a:lstStyle/>
                    <a:p>
                      <a:r>
                        <a:rPr sz="1800" b="0" lang="en-US">
                          <a:latin typeface="Arial"/>
                        </a:rPr>
                        <a:t>1</a:t>
                      </a:r>
                    </a:p>
                  </a:txBody>
                  <a:tcPr/>
                </a:tc>
                <a:tc>
                  <a:txBody>
                    <a:bodyPr wrap="square"/>
                    <a:lstStyle/>
                    <a:p>
                      <a:r>
                        <a:rPr sz="1800" b="0" lang="en-US">
                          <a:latin typeface="Arial"/>
                        </a:rPr>
                        <a:t>Due Friday; blocks completing graded work</a:t>
                      </a:r>
                    </a:p>
                  </a:txBody>
                  <a:tcPr/>
                </a:tc>
                <a:tc>
                  <a:txBody>
                    <a:bodyPr wrap="square"/>
                    <a:lstStyle/>
                    <a:p>
                      <a:r>
                        <a:rPr sz="1800" b="0" lang="en-US">
                          <a:latin typeface="Arial"/>
                        </a:rPr>
                        <a:t>GLOW </a:t>
                      </a:r>
                      <a:r>
                        <a:rPr sz="1800" b="0" lang="en-US">
                          <a:latin typeface="Consolas"/>
                        </a:rPr>
                        <a:t>PDF-TAGGED</a:t>
                      </a:r>
                    </a:p>
                  </a:txBody>
                  <a:tcPr/>
                </a:tc>
                <a:tc>
                  <a:txBody>
                    <a:bodyPr wrap="square"/>
                    <a:lstStyle/>
                    <a:p>
                      <a:r>
                        <a:rPr sz="1800" b="0" lang="en-US">
                          <a:latin typeface="Arial"/>
                        </a:rPr>
                        <a:t>S.O.</a:t>
                      </a:r>
                    </a:p>
                  </a:txBody>
                  <a:tcPr/>
                </a:tc>
                <a:tc>
                  <a:txBody>
                    <a:bodyPr wrap="square"/>
                    <a:lstStyle/>
                    <a:p>
                      <a:r>
                        <a:rPr sz="1800" b="0" lang="en-US">
                          <a:latin typeface="Arial"/>
                        </a:rPr>
                        <a:t>Proposed</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After: given GLOW's reports for the lecture, the gradebook and the lab handout (4 of 6)</a:t>
            </a:r>
          </a:p>
        </p:txBody>
      </p:sp>
      <p:graphicFrame>
        <p:nvGraphicFramePr>
          <p:cNvPr id="3" name="Table 2" descr="Table: 4. Before and after grounding: After: given GLOW's reports for the lecture, the gradebook and the lab handout. Columns: File, Barrier, WCAG, Severity, Priority, Reason, Evidence, Reviewer, Status."/>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1229360"/>
                <a:gridCol w="1229360"/>
                <a:gridCol w="1229360"/>
                <a:gridCol w="1229360"/>
                <a:gridCol w="1229360"/>
                <a:gridCol w="1229360"/>
                <a:gridCol w="1229360"/>
                <a:gridCol w="1229360"/>
                <a:gridCol w="1229360"/>
              </a:tblGrid>
              <a:tr h="457200">
                <a:tc>
                  <a:txBody>
                    <a:bodyPr/>
                    <a:lstStyle/>
                    <a:p>
                      <a:r>
                        <a:rPr sz="1800" b="1" lang="en-US">
                          <a:latin typeface="Arial"/>
                        </a:rPr>
                        <a:t>File</a:t>
                      </a:r>
                    </a:p>
                  </a:txBody>
                  <a:tcPr/>
                </a:tc>
                <a:tc>
                  <a:txBody>
                    <a:bodyPr/>
                    <a:lstStyle/>
                    <a:p>
                      <a:r>
                        <a:rPr sz="1800" b="1" lang="en-US">
                          <a:latin typeface="Arial"/>
                        </a:rPr>
                        <a:t>Barrier</a:t>
                      </a:r>
                    </a:p>
                  </a:txBody>
                  <a:tcPr/>
                </a:tc>
                <a:tc>
                  <a:txBody>
                    <a:bodyPr/>
                    <a:lstStyle/>
                    <a:p>
                      <a:r>
                        <a:rPr sz="1800" b="1" lang="en-US">
                          <a:latin typeface="Arial"/>
                        </a:rPr>
                        <a:t>WCAG</a:t>
                      </a:r>
                    </a:p>
                  </a:txBody>
                  <a:tcPr/>
                </a:tc>
                <a:tc>
                  <a:txBody>
                    <a:bodyPr/>
                    <a:lstStyle/>
                    <a:p>
                      <a:r>
                        <a:rPr sz="1800" b="1" lang="en-US">
                          <a:latin typeface="Arial"/>
                        </a:rPr>
                        <a:t>Severity</a:t>
                      </a:r>
                    </a:p>
                  </a:txBody>
                  <a:tcPr/>
                </a:tc>
                <a:tc>
                  <a:txBody>
                    <a:bodyPr/>
                    <a:lstStyle/>
                    <a:p>
                      <a:r>
                        <a:rPr sz="1800" b="1" lang="en-US">
                          <a:latin typeface="Arial"/>
                        </a:rPr>
                        <a:t>Priority</a:t>
                      </a:r>
                    </a:p>
                  </a:txBody>
                  <a:tcPr/>
                </a:tc>
                <a:tc>
                  <a:txBody>
                    <a:bodyPr/>
                    <a:lstStyle/>
                    <a:p>
                      <a:r>
                        <a:rPr sz="1800" b="1" lang="en-US">
                          <a:latin typeface="Arial"/>
                        </a:rPr>
                        <a:t>Reason</a:t>
                      </a:r>
                    </a:p>
                  </a:txBody>
                  <a:tcPr/>
                </a:tc>
                <a:tc>
                  <a:txBody>
                    <a:bodyPr/>
                    <a:lstStyle/>
                    <a:p>
                      <a:r>
                        <a:rPr sz="1800" b="1" lang="en-US">
                          <a:latin typeface="Arial"/>
                        </a:rPr>
                        <a:t>Evidence</a:t>
                      </a:r>
                    </a:p>
                  </a:txBody>
                  <a:tcPr/>
                </a:tc>
                <a:tc>
                  <a:txBody>
                    <a:bodyPr/>
                    <a:lstStyle/>
                    <a:p>
                      <a:r>
                        <a:rPr sz="1800" b="1" lang="en-US">
                          <a:latin typeface="Arial"/>
                        </a:rPr>
                        <a:t>Reviewer</a:t>
                      </a:r>
                    </a:p>
                  </a:txBody>
                  <a:tcPr/>
                </a:tc>
                <a:tc>
                  <a:txBody>
                    <a:bodyPr/>
                    <a:lstStyle/>
                    <a:p>
                      <a:r>
                        <a:rPr sz="1800" b="1" lang="en-US">
                          <a:latin typeface="Arial"/>
                        </a:rPr>
                        <a:t>Status</a:t>
                      </a:r>
                    </a:p>
                  </a:txBody>
                  <a:tcPr/>
                </a:tc>
              </a:tr>
              <a:tr h="457200">
                <a:tc>
                  <a:txBody>
                    <a:bodyPr wrap="square"/>
                    <a:lstStyle/>
                    <a:p>
                      <a:r>
                        <a:rPr sz="1800" b="0" lang="en-US">
                          <a:latin typeface="Arial"/>
                        </a:rPr>
                        <a:t>Week 3 lecture</a:t>
                      </a:r>
                    </a:p>
                  </a:txBody>
                  <a:tcPr/>
                </a:tc>
                <a:tc>
                  <a:txBody>
                    <a:bodyPr wrap="square"/>
                    <a:lstStyle/>
                    <a:p>
                      <a:r>
                        <a:rPr sz="1800" b="0" lang="en-US">
                          <a:latin typeface="Arial"/>
                        </a:rPr>
                        <a:t>Two slides without titles</a:t>
                      </a:r>
                    </a:p>
                  </a:txBody>
                  <a:tcPr/>
                </a:tc>
                <a:tc>
                  <a:txBody>
                    <a:bodyPr wrap="square"/>
                    <a:lstStyle/>
                    <a:p>
                      <a:r>
                        <a:rPr sz="1800" b="0" lang="en-US">
                          <a:latin typeface="Arial"/>
                          <a:hlinkClick r:id="rId2"/>
                        </a:rPr>
                        <a:t>2.4.6</a:t>
                      </a:r>
                    </a:p>
                  </a:txBody>
                  <a:tcPr/>
                </a:tc>
                <a:tc>
                  <a:txBody>
                    <a:bodyPr wrap="square"/>
                    <a:lstStyle/>
                    <a:p>
                      <a:r>
                        <a:rPr sz="1800" b="0" lang="en-US">
                          <a:latin typeface="Arial"/>
                        </a:rPr>
                        <a:t>Critical</a:t>
                      </a:r>
                    </a:p>
                  </a:txBody>
                  <a:tcPr/>
                </a:tc>
                <a:tc>
                  <a:txBody>
                    <a:bodyPr wrap="square"/>
                    <a:lstStyle/>
                    <a:p>
                      <a:r>
                        <a:rPr sz="1800" b="0" lang="en-US">
                          <a:latin typeface="Arial"/>
                        </a:rPr>
                        <a:t>2</a:t>
                      </a:r>
                    </a:p>
                  </a:txBody>
                  <a:tcPr/>
                </a:tc>
                <a:tc>
                  <a:txBody>
                    <a:bodyPr wrap="square"/>
                    <a:lstStyle/>
                    <a:p>
                      <a:r>
                        <a:rPr sz="1800" b="0" lang="en-US">
                          <a:latin typeface="Arial"/>
                        </a:rPr>
                        <a:t>Posted now; slows but does not block</a:t>
                      </a:r>
                    </a:p>
                  </a:txBody>
                  <a:tcPr/>
                </a:tc>
                <a:tc>
                  <a:txBody>
                    <a:bodyPr wrap="square"/>
                    <a:lstStyle/>
                    <a:p>
                      <a:r>
                        <a:rPr sz="1800" b="0" lang="en-US">
                          <a:latin typeface="Arial"/>
                        </a:rPr>
                        <a:t>GLOW </a:t>
                      </a:r>
                      <a:r>
                        <a:rPr sz="1800" b="0" lang="en-US">
                          <a:latin typeface="Consolas"/>
                        </a:rPr>
                        <a:t>PPTX-SLIDE-TITLE</a:t>
                      </a:r>
                    </a:p>
                  </a:txBody>
                  <a:tcPr/>
                </a:tc>
                <a:tc>
                  <a:txBody>
                    <a:bodyPr wrap="square"/>
                    <a:lstStyle/>
                    <a:p>
                      <a:r>
                        <a:rPr sz="1800" b="0" lang="en-US">
                          <a:latin typeface="Arial"/>
                        </a:rPr>
                        <a:t>S.O.</a:t>
                      </a:r>
                    </a:p>
                  </a:txBody>
                  <a:tcPr/>
                </a:tc>
                <a:tc>
                  <a:txBody>
                    <a:bodyPr wrap="square"/>
                    <a:lstStyle/>
                    <a:p>
                      <a:r>
                        <a:rPr sz="1800" b="0" lang="en-US">
                          <a:latin typeface="Arial"/>
                        </a:rPr>
                        <a:t>Proposed</a:t>
                      </a:r>
                    </a:p>
                  </a:txBody>
                  <a:tcPr/>
                </a:tc>
              </a:tr>
              <a:tr h="457200">
                <a:tc>
                  <a:txBody>
                    <a:bodyPr wrap="square"/>
                    <a:lstStyle/>
                    <a:p>
                      <a:r>
                        <a:rPr sz="1800" b="0" lang="en-US">
                          <a:latin typeface="Arial"/>
                        </a:rPr>
                        <a:t>Week 3 lecture</a:t>
                      </a:r>
                    </a:p>
                  </a:txBody>
                  <a:tcPr/>
                </a:tc>
                <a:tc>
                  <a:txBody>
                    <a:bodyPr wrap="square"/>
                    <a:lstStyle/>
                    <a:p>
                      <a:r>
                        <a:rPr sz="1800" b="0" lang="en-US">
                          <a:latin typeface="Arial"/>
                        </a:rPr>
                        <a:t>Reading order out of sequence on one slide</a:t>
                      </a:r>
                    </a:p>
                  </a:txBody>
                  <a:tcPr/>
                </a:tc>
                <a:tc>
                  <a:txBody>
                    <a:bodyPr wrap="square"/>
                    <a:lstStyle/>
                    <a:p>
                      <a:r>
                        <a:rPr sz="1800" b="0" lang="en-US">
                          <a:latin typeface="Arial"/>
                          <a:hlinkClick r:id="rId3"/>
                        </a:rPr>
                        <a:t>1.3.2</a:t>
                      </a:r>
                    </a:p>
                  </a:txBody>
                  <a:tcPr/>
                </a:tc>
                <a:tc>
                  <a:txBody>
                    <a:bodyPr wrap="square"/>
                    <a:lstStyle/>
                    <a:p>
                      <a:r>
                        <a:rPr sz="1800" b="0" lang="en-US">
                          <a:latin typeface="Arial"/>
                        </a:rPr>
                        <a:t>Medium</a:t>
                      </a:r>
                    </a:p>
                  </a:txBody>
                  <a:tcPr/>
                </a:tc>
                <a:tc>
                  <a:txBody>
                    <a:bodyPr wrap="square"/>
                    <a:lstStyle/>
                    <a:p>
                      <a:r>
                        <a:rPr sz="1800" b="0" lang="en-US">
                          <a:latin typeface="Arial"/>
                        </a:rPr>
                        <a:t>2</a:t>
                      </a:r>
                    </a:p>
                  </a:txBody>
                  <a:tcPr/>
                </a:tc>
                <a:tc>
                  <a:txBody>
                    <a:bodyPr wrap="square"/>
                    <a:lstStyle/>
                    <a:p>
                      <a:r>
                        <a:rPr sz="1800" b="0" lang="en-US">
                          <a:latin typeface="Arial"/>
                        </a:rPr>
                        <a:t>Same file, same fix session</a:t>
                      </a:r>
                    </a:p>
                  </a:txBody>
                  <a:tcPr/>
                </a:tc>
                <a:tc>
                  <a:txBody>
                    <a:bodyPr wrap="square"/>
                    <a:lstStyle/>
                    <a:p>
                      <a:r>
                        <a:rPr sz="1800" b="0" lang="en-US">
                          <a:latin typeface="Arial"/>
                        </a:rPr>
                        <a:t>GLOW </a:t>
                      </a:r>
                      <a:r>
                        <a:rPr sz="1800" b="0" lang="en-US">
                          <a:latin typeface="Consolas"/>
                        </a:rPr>
                        <a:t>PPTX-READING-ORDER</a:t>
                      </a:r>
                    </a:p>
                  </a:txBody>
                  <a:tcPr/>
                </a:tc>
                <a:tc>
                  <a:txBody>
                    <a:bodyPr wrap="square"/>
                    <a:lstStyle/>
                    <a:p>
                      <a:r>
                        <a:rPr sz="1800" b="0" lang="en-US">
                          <a:latin typeface="Arial"/>
                        </a:rPr>
                        <a:t>S.O.</a:t>
                      </a:r>
                    </a:p>
                  </a:txBody>
                  <a:tcPr/>
                </a:tc>
                <a:tc>
                  <a:txBody>
                    <a:bodyPr wrap="square"/>
                    <a:lstStyle/>
                    <a:p>
                      <a:r>
                        <a:rPr sz="1800" b="0" lang="en-US">
                          <a:latin typeface="Arial"/>
                        </a:rPr>
                        <a:t>Proposed</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After: given GLOW's reports for the lecture, the gradebook and the lab handout (5 of 6)</a:t>
            </a:r>
          </a:p>
        </p:txBody>
      </p:sp>
      <p:graphicFrame>
        <p:nvGraphicFramePr>
          <p:cNvPr id="3" name="Table 2" descr="Table: 4. Before and after grounding: After: given GLOW's reports for the lecture, the gradebook and the lab handout. Columns: File, Barrier, WCAG, Severity, Priority, Reason, Evidence, Reviewer, Status."/>
          <p:cNvGraphicFramePr>
            <a:graphicFrameLocks noGrp="1"/>
          </p:cNvGraphicFramePr>
          <p:nvPr/>
        </p:nvGraphicFramePr>
        <p:xfrm>
          <a:off x="548640" y="1554480"/>
          <a:ext cx="11064240" cy="914400"/>
        </p:xfrm>
        <a:graphic>
          <a:graphicData uri="http://schemas.openxmlformats.org/drawingml/2006/table">
            <a:tbl>
              <a:tblPr firstRow="1" bandRow="1">
                <a:tableStyleId>{5C22544A-7EE6-4342-B048-85BDC9FD1C3A}</a:tableStyleId>
              </a:tblPr>
              <a:tblGrid>
                <a:gridCol w="1229360"/>
                <a:gridCol w="1229360"/>
                <a:gridCol w="1229360"/>
                <a:gridCol w="1229360"/>
                <a:gridCol w="1229360"/>
                <a:gridCol w="1229360"/>
                <a:gridCol w="1229360"/>
                <a:gridCol w="1229360"/>
                <a:gridCol w="1229360"/>
              </a:tblGrid>
              <a:tr h="457200">
                <a:tc>
                  <a:txBody>
                    <a:bodyPr/>
                    <a:lstStyle/>
                    <a:p>
                      <a:r>
                        <a:rPr sz="1800" b="1" lang="en-US">
                          <a:latin typeface="Arial"/>
                        </a:rPr>
                        <a:t>File</a:t>
                      </a:r>
                    </a:p>
                  </a:txBody>
                  <a:tcPr/>
                </a:tc>
                <a:tc>
                  <a:txBody>
                    <a:bodyPr/>
                    <a:lstStyle/>
                    <a:p>
                      <a:r>
                        <a:rPr sz="1800" b="1" lang="en-US">
                          <a:latin typeface="Arial"/>
                        </a:rPr>
                        <a:t>Barrier</a:t>
                      </a:r>
                    </a:p>
                  </a:txBody>
                  <a:tcPr/>
                </a:tc>
                <a:tc>
                  <a:txBody>
                    <a:bodyPr/>
                    <a:lstStyle/>
                    <a:p>
                      <a:r>
                        <a:rPr sz="1800" b="1" lang="en-US">
                          <a:latin typeface="Arial"/>
                        </a:rPr>
                        <a:t>WCAG</a:t>
                      </a:r>
                    </a:p>
                  </a:txBody>
                  <a:tcPr/>
                </a:tc>
                <a:tc>
                  <a:txBody>
                    <a:bodyPr/>
                    <a:lstStyle/>
                    <a:p>
                      <a:r>
                        <a:rPr sz="1800" b="1" lang="en-US">
                          <a:latin typeface="Arial"/>
                        </a:rPr>
                        <a:t>Severity</a:t>
                      </a:r>
                    </a:p>
                  </a:txBody>
                  <a:tcPr/>
                </a:tc>
                <a:tc>
                  <a:txBody>
                    <a:bodyPr/>
                    <a:lstStyle/>
                    <a:p>
                      <a:r>
                        <a:rPr sz="1800" b="1" lang="en-US">
                          <a:latin typeface="Arial"/>
                        </a:rPr>
                        <a:t>Priority</a:t>
                      </a:r>
                    </a:p>
                  </a:txBody>
                  <a:tcPr/>
                </a:tc>
                <a:tc>
                  <a:txBody>
                    <a:bodyPr/>
                    <a:lstStyle/>
                    <a:p>
                      <a:r>
                        <a:rPr sz="1800" b="1" lang="en-US">
                          <a:latin typeface="Arial"/>
                        </a:rPr>
                        <a:t>Reason</a:t>
                      </a:r>
                    </a:p>
                  </a:txBody>
                  <a:tcPr/>
                </a:tc>
                <a:tc>
                  <a:txBody>
                    <a:bodyPr/>
                    <a:lstStyle/>
                    <a:p>
                      <a:r>
                        <a:rPr sz="1800" b="1" lang="en-US">
                          <a:latin typeface="Arial"/>
                        </a:rPr>
                        <a:t>Evidence</a:t>
                      </a:r>
                    </a:p>
                  </a:txBody>
                  <a:tcPr/>
                </a:tc>
                <a:tc>
                  <a:txBody>
                    <a:bodyPr/>
                    <a:lstStyle/>
                    <a:p>
                      <a:r>
                        <a:rPr sz="1800" b="1" lang="en-US">
                          <a:latin typeface="Arial"/>
                        </a:rPr>
                        <a:t>Reviewer</a:t>
                      </a:r>
                    </a:p>
                  </a:txBody>
                  <a:tcPr/>
                </a:tc>
                <a:tc>
                  <a:txBody>
                    <a:bodyPr/>
                    <a:lstStyle/>
                    <a:p>
                      <a:r>
                        <a:rPr sz="1800" b="1" lang="en-US">
                          <a:latin typeface="Arial"/>
                        </a:rPr>
                        <a:t>Status</a:t>
                      </a:r>
                    </a:p>
                  </a:txBody>
                  <a:tcPr/>
                </a:tc>
              </a:tr>
              <a:tr h="457200">
                <a:tc>
                  <a:txBody>
                    <a:bodyPr wrap="square"/>
                    <a:lstStyle/>
                    <a:p>
                      <a:r>
                        <a:rPr sz="1800" b="0" lang="en-US">
                          <a:latin typeface="Arial"/>
                        </a:rPr>
                        <a:t>Gradebook</a:t>
                      </a:r>
                    </a:p>
                  </a:txBody>
                  <a:tcPr/>
                </a:tc>
                <a:tc>
                  <a:txBody>
                    <a:bodyPr wrap="square"/>
                    <a:lstStyle/>
                    <a:p>
                      <a:r>
                        <a:rPr sz="1800" b="0" lang="en-US">
                          <a:latin typeface="Arial"/>
                        </a:rPr>
                        <a:t>Status shown by color only</a:t>
                      </a:r>
                    </a:p>
                  </a:txBody>
                  <a:tcPr/>
                </a:tc>
                <a:tc>
                  <a:txBody>
                    <a:bodyPr wrap="square"/>
                    <a:lstStyle/>
                    <a:p>
                      <a:r>
                        <a:rPr sz="1800" b="0" lang="en-US">
                          <a:latin typeface="Arial"/>
                          <a:hlinkClick r:id="rId2"/>
                        </a:rPr>
                        <a:t>1.4.1</a:t>
                      </a:r>
                    </a:p>
                  </a:txBody>
                  <a:tcPr/>
                </a:tc>
                <a:tc>
                  <a:txBody>
                    <a:bodyPr wrap="square"/>
                    <a:lstStyle/>
                    <a:p>
                      <a:r>
                        <a:rPr sz="1800" b="0" lang="en-US">
                          <a:latin typeface="Arial"/>
                        </a:rPr>
                        <a:t>Medium</a:t>
                      </a:r>
                    </a:p>
                  </a:txBody>
                  <a:tcPr/>
                </a:tc>
                <a:tc>
                  <a:txBody>
                    <a:bodyPr wrap="square"/>
                    <a:lstStyle/>
                    <a:p>
                      <a:r>
                        <a:rPr sz="1800" b="0" lang="en-US">
                          <a:latin typeface="Arial"/>
                        </a:rPr>
                        <a:t>3</a:t>
                      </a:r>
                    </a:p>
                  </a:txBody>
                  <a:tcPr/>
                </a:tc>
                <a:tc>
                  <a:txBody>
                    <a:bodyPr wrap="square"/>
                    <a:lstStyle/>
                    <a:p>
                      <a:r>
                        <a:rPr sz="1800" b="0" lang="en-US">
                          <a:latin typeface="Arial"/>
                        </a:rPr>
                        <a:t>Instructor-facing template; fix before grades post</a:t>
                      </a:r>
                    </a:p>
                  </a:txBody>
                  <a:tcPr/>
                </a:tc>
                <a:tc>
                  <a:txBody>
                    <a:bodyPr wrap="square"/>
                    <a:lstStyle/>
                    <a:p>
                      <a:r>
                        <a:rPr sz="1800" b="0" lang="en-US">
                          <a:latin typeface="Arial"/>
                        </a:rPr>
                        <a:t>GLOW </a:t>
                      </a:r>
                      <a:r>
                        <a:rPr sz="1800" b="0" lang="en-US">
                          <a:latin typeface="Consolas"/>
                        </a:rPr>
                        <a:t>XLSX-COLOR-ONLY</a:t>
                      </a:r>
                    </a:p>
                  </a:txBody>
                  <a:tcPr/>
                </a:tc>
                <a:tc>
                  <a:txBody>
                    <a:bodyPr wrap="square"/>
                    <a:lstStyle/>
                    <a:p>
                      <a:r>
                        <a:rPr sz="1800" b="0" lang="en-US">
                          <a:latin typeface="Arial"/>
                        </a:rPr>
                        <a:t>S.O.</a:t>
                      </a:r>
                    </a:p>
                  </a:txBody>
                  <a:tcPr/>
                </a:tc>
                <a:tc>
                  <a:txBody>
                    <a:bodyPr wrap="square"/>
                    <a:lstStyle/>
                    <a:p>
                      <a:r>
                        <a:rPr sz="1800" b="0" lang="en-US">
                          <a:latin typeface="Arial"/>
                        </a:rPr>
                        <a:t>Proposed</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After: given GLOW's reports for the lecture, the gradebook and the lab handout (6 of 6)</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For leadership: PSY 101 checked 16 November, 3 files, 5 finding types. The one barrier that blocks graded work is first, with a fix due before Friday. Nothing here is marked compliant; all priorities await approval.</a:t>
            </a:r>
          </a:p>
          <a:p>
            <a:pPr lvl="1">
              <a:spcAft>
                <a:spcPts val="600"/>
              </a:spcAft>
              <a:buNone/>
            </a:pPr>
            <a:r>
              <a:rPr sz="2000" b="0" lang="en-US">
                <a:latin typeface="Arial"/>
              </a:rPr>
              <a:t>Not in this evidence: the lab's form fields and its color-dependent exercise need a person to check; the slides' "image.png" alt text passes the checker and should not.</a:t>
            </a:r>
          </a:p>
          <a:p>
            <a:pPr marL="0" indent="0">
              <a:spcAft>
                <a:spcPts val="600"/>
              </a:spcAft>
              <a:buNone/>
            </a:pPr>
            <a:r>
              <a:rPr sz="2000" b="0" lang="en-US">
                <a:latin typeface="Arial"/>
              </a:rPr>
              <a:t>What changed: every row has a source, a date and a reviewer, priorities have reasons a person can disagree with, and the gaps in the evidence are written down instead of hidden.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5. In the collection</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Shared from the share page in about a minute, as </a:t>
            </a:r>
            <a:r>
              <a:rPr sz="2000" b="0" lang="en-US">
                <a:latin typeface="Consolas"/>
              </a:rPr>
              <a:t>agents/&lt;Sam's GitHub account&gt;/remediation-log-keeper/SKILL.md</a:t>
            </a:r>
            <a:r>
              <a:rPr sz="2000" b="0" lang="en-US">
                <a:latin typeface="Arial"/>
              </a:rPr>
              <a:t>, committed in Sam's name.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6. In the team</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 coordinator runs the specialists across the whole course, then hands every finding to Sam's log keeper last. The office's work becomes one log, which is the part leadership actually reads.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7. Sam's 30-day plan (1 of 2)</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Each row is one part of the plan, and the answer.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7. Sam's 30-day plan (2 of 2)</a:t>
            </a:r>
          </a:p>
        </p:txBody>
      </p:sp>
      <p:graphicFrame>
        <p:nvGraphicFramePr>
          <p:cNvPr id="3" name="Table 2" descr="Table: 7. Sam's 30-day plan. Columns: Question, Sam's answer."/>
          <p:cNvGraphicFramePr>
            <a:graphicFrameLocks noGrp="1"/>
          </p:cNvGraphicFramePr>
          <p:nvPr/>
        </p:nvGraphicFramePr>
        <p:xfrm>
          <a:off x="548640" y="1554480"/>
          <a:ext cx="11064240" cy="32004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Sam's answer</a:t>
                      </a:r>
                    </a:p>
                  </a:txBody>
                  <a:tcPr/>
                </a:tc>
              </a:tr>
              <a:tr h="457200">
                <a:tc>
                  <a:txBody>
                    <a:bodyPr wrap="square"/>
                    <a:lstStyle/>
                    <a:p>
                      <a:r>
                        <a:rPr sz="1800" b="0" lang="en-US">
                          <a:latin typeface="Arial"/>
                        </a:rPr>
                        <a:t>One workflow</a:t>
                      </a:r>
                    </a:p>
                  </a:txBody>
                  <a:tcPr/>
                </a:tc>
                <a:tc>
                  <a:txBody>
                    <a:bodyPr wrap="square"/>
                    <a:lstStyle/>
                    <a:p>
                      <a:r>
                        <a:rPr sz="1800" b="0" lang="en-US">
                          <a:latin typeface="Arial"/>
                        </a:rPr>
                        <a:t>Every course review ends as log entries, not an email</a:t>
                      </a:r>
                    </a:p>
                  </a:txBody>
                  <a:tcPr/>
                </a:tc>
              </a:tr>
              <a:tr h="457200">
                <a:tc>
                  <a:txBody>
                    <a:bodyPr wrap="square"/>
                    <a:lstStyle/>
                    <a:p>
                      <a:r>
                        <a:rPr sz="1800" b="0" lang="en-US">
                          <a:latin typeface="Arial"/>
                        </a:rPr>
                        <a:t>One partner</a:t>
                      </a:r>
                    </a:p>
                  </a:txBody>
                  <a:tcPr/>
                </a:tc>
                <a:tc>
                  <a:txBody>
                    <a:bodyPr wrap="square"/>
                    <a:lstStyle/>
                    <a:p>
                      <a:r>
                        <a:rPr sz="1800" b="0" lang="en-US">
                          <a:latin typeface="Arial"/>
                        </a:rPr>
                        <a:t>The registrar's office, who can tell us which courses have the most students</a:t>
                      </a:r>
                    </a:p>
                  </a:txBody>
                  <a:tcPr/>
                </a:tc>
              </a:tr>
              <a:tr h="457200">
                <a:tc>
                  <a:txBody>
                    <a:bodyPr wrap="square"/>
                    <a:lstStyle/>
                    <a:p>
                      <a:r>
                        <a:rPr sz="1800" b="0" lang="en-US">
                          <a:latin typeface="Arial"/>
                        </a:rPr>
                        <a:t>One safeguard</a:t>
                      </a:r>
                    </a:p>
                  </a:txBody>
                  <a:tcPr/>
                </a:tc>
                <a:tc>
                  <a:txBody>
                    <a:bodyPr wrap="square"/>
                    <a:lstStyle/>
                    <a:p>
                      <a:r>
                        <a:rPr sz="1800" b="0" lang="en-US">
                          <a:latin typeface="Arial"/>
                        </a:rPr>
                        <a:t>Nothing leaves "proposed" without my initials</a:t>
                      </a:r>
                    </a:p>
                  </a:txBody>
                  <a:tcPr/>
                </a:tc>
              </a:tr>
              <a:tr h="457200">
                <a:tc>
                  <a:txBody>
                    <a:bodyPr wrap="square"/>
                    <a:lstStyle/>
                    <a:p>
                      <a:r>
                        <a:rPr sz="1800" b="0" lang="en-US">
                          <a:latin typeface="Arial"/>
                        </a:rPr>
                        <a:t>First step this week</a:t>
                      </a:r>
                    </a:p>
                  </a:txBody>
                  <a:tcPr/>
                </a:tc>
                <a:tc>
                  <a:txBody>
                    <a:bodyPr wrap="square"/>
                    <a:lstStyle/>
                    <a:p>
                      <a:r>
                        <a:rPr sz="1800" b="0" lang="en-US">
                          <a:latin typeface="Arial"/>
                        </a:rPr>
                        <a:t>Log the ten highest-enrollment courses</a:t>
                      </a:r>
                    </a:p>
                  </a:txBody>
                  <a:tcPr/>
                </a:tc>
              </a:tr>
              <a:tr h="457200">
                <a:tc>
                  <a:txBody>
                    <a:bodyPr wrap="square"/>
                    <a:lstStyle/>
                    <a:p>
                      <a:r>
                        <a:rPr sz="1800" b="0" lang="en-US">
                          <a:latin typeface="Arial"/>
                        </a:rPr>
                        <a:t>Who needs to know</a:t>
                      </a:r>
                    </a:p>
                  </a:txBody>
                  <a:tcPr/>
                </a:tc>
                <a:tc>
                  <a:txBody>
                    <a:bodyPr wrap="square"/>
                    <a:lstStyle/>
                    <a:p>
                      <a:r>
                        <a:rPr sz="1800" b="0" lang="en-US">
                          <a:latin typeface="Arial"/>
                        </a:rPr>
                        <a:t>The CIO and general counsel</a:t>
                      </a:r>
                    </a:p>
                  </a:txBody>
                  <a:tcPr/>
                </a:tc>
              </a:tr>
              <a:tr h="457200">
                <a:tc>
                  <a:txBody>
                    <a:bodyPr wrap="square"/>
                    <a:lstStyle/>
                    <a:p>
                      <a:r>
                        <a:rPr sz="1800" b="0" lang="en-US">
                          <a:latin typeface="Arial"/>
                        </a:rPr>
                        <a:t>What it looks like if it worked</a:t>
                      </a:r>
                    </a:p>
                  </a:txBody>
                  <a:tcPr/>
                </a:tc>
                <a:tc>
                  <a:txBody>
                    <a:bodyPr wrap="square"/>
                    <a:lstStyle/>
                    <a:p>
                      <a:r>
                        <a:rPr sz="1800" b="0" lang="en-US">
                          <a:latin typeface="Arial"/>
                        </a:rPr>
                        <a:t>When asked "where are we", I send a link, not a spreadsheet named FINAL_final_v4</a:t>
                      </a:r>
                    </a:p>
                  </a:txBody>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Sources</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Checked on 29 October 2026.</a:t>
            </a:r>
          </a:p>
          <a:p>
            <a:pPr lvl="1">
              <a:spcAft>
                <a:spcPts val="600"/>
              </a:spcAft>
            </a:pPr>
            <a:r>
              <a:rPr sz="2000" b="0" lang="en-US">
                <a:latin typeface="Arial"/>
                <a:hlinkClick r:id="rId2"/>
              </a:rPr>
              <a:t>ADA Title II web rule, ada.gov</a:t>
            </a:r>
            <a:r>
              <a:rPr sz="2000" b="0" lang="en-US">
                <a:latin typeface="Arial"/>
              </a:rPr>
              <a:t>: state and local governments, public colleges and universities included, must meet WCAG 2.1 AA. An interim final rule of 20 April 2026 moved the compliance dates to 26 April 2027 for entities of 50,000 people or more and 26 April 2028 for smaller ones.</a:t>
            </a:r>
          </a:p>
          <a:p>
            <a:pPr lvl="1">
              <a:spcAft>
                <a:spcPts val="600"/>
              </a:spcAft>
            </a:pPr>
            <a:r>
              <a:rPr sz="2000" b="0" lang="en-US">
                <a:latin typeface="Arial"/>
                <a:hlinkClick r:id="rId3"/>
              </a:rPr>
              <a:t>WCAG 2.2</a:t>
            </a:r>
            <a:r>
              <a:rPr sz="2000" b="0" lang="en-US">
                <a:latin typeface="Arial"/>
              </a:rPr>
              <a:t>, the current W3C Recommendation, which includes everything in WCAG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Worked example: Sam's remediation log keeper</dc:title>
  <dc:subject>Worked example: a remediation log keeper agent, from problem to 30-day plan.</dc:subject>
  <dc:creator>Jeff Bishop, BITS</dc:creator>
  <cp:keywords/>
  <dc:description>generated using python-pptx</dc:description>
  <cp:lastModifiedBy>Jeff Bishop, BITS</cp:lastModifiedBy>
  <cp:revision>1</cp:revision>
  <dcterms:created xsi:type="dcterms:W3CDTF">2026-10-01T12:00:00Z</dcterms:created>
  <dcterms:modified xsi:type="dcterms:W3CDTF">2026-10-01T12:00:00Z</dcterms:modified>
  <cp:category/>
  <dc:language>en-US</dc:language>
</cp:coreProperties>
</file>