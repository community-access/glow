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3.org/WAI/WCAG22/Understanding/images-of-text.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cb.org/large-print-guideline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w3.org/TR/WCAG22/" TargetMode="External"/><Relationship Id="rId3" Type="http://schemas.openxmlformats.org/officeDocument/2006/relationships/hyperlink" Target="https://www.w3.org/WAI/WCAG22/Understanding/images-of-text.html" TargetMode="External"/><Relationship Id="rId4" Type="http://schemas.openxmlformats.org/officeDocument/2006/relationships/hyperlink" Target="https://acb.org/large-print-guideline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Worked example: Maria's alternate format planner</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Worked example: an alternate format planner agent, from problem to 30-day plan.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Role card: Documents and alternate formats.</a:t>
            </a:r>
          </a:p>
          <a:p>
            <a:pPr marL="0" indent="0">
              <a:spcAft>
                <a:spcPts val="600"/>
              </a:spcAft>
              <a:buNone/>
            </a:pPr>
            <a:r>
              <a:rPr sz="2000" b="0" lang="en-US">
                <a:latin typeface="Arial"/>
              </a:rPr>
              <a:t>Maria Alvarez coordinates alternate formats at the Mesa Ridge State University Disability Resource Center. It is Week 3. Her inbox has 41 new requests, the semester is eleven days old, and the coffee machine on her floor has been "temporarily out of order" since August.</a:t>
            </a:r>
          </a:p>
          <a:p>
            <a:pPr marL="0" indent="0">
              <a:spcAft>
                <a:spcPts val="600"/>
              </a:spcAft>
              <a:buNone/>
            </a:pPr>
            <a:r>
              <a:rPr sz="2000" b="0" lang="en-US">
                <a:latin typeface="Arial"/>
              </a:rPr>
              <a:t>The answers in steps 3 and 4 are examples written for the workshop, to show the shape of a weak answer and a good one. On the day, everyone's own AI writes its own, and no two will be identical.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1. The problem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 student in PSY 101 has an approved accommodation for large print, and uses text-to-speech for longer readings. The Week 3 required reading, "A Short History of Forgetting", was posted as a scanned PDF. It cannot be enlarged cleanly, searched, or read aloud.</a:t>
            </a:r>
          </a:p>
          <a:p>
            <a:pPr marL="0" indent="0">
              <a:spcAft>
                <a:spcPts val="600"/>
              </a:spcAft>
              <a:buNone/>
            </a:pPr>
            <a:r>
              <a:rPr sz="2000" b="0" lang="en-US">
                <a:latin typeface="Arial"/>
              </a:rPr>
              <a:t>Maria does not need a lecture on WCAG. She needs a plan she can act on before Friday, and a way to stop rebuilding the same plan by hand for every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Her six answers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question, and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Her six answers (2 of 4)</a:t>
            </a:r>
          </a:p>
        </p:txBody>
      </p:sp>
      <p:graphicFrame>
        <p:nvGraphicFramePr>
          <p:cNvPr id="3" name="Table 2" descr="Table: 2. Her six answers. Columns: Question, Maria'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Maria's answer</a:t>
                      </a:r>
                    </a:p>
                  </a:txBody>
                  <a:tcPr/>
                </a:tc>
              </a:tr>
              <a:tr h="457200">
                <a:tc>
                  <a:txBody>
                    <a:bodyPr wrap="square"/>
                    <a:lstStyle/>
                    <a:p>
                      <a:r>
                        <a:rPr sz="1800" b="0" lang="en-US">
                          <a:latin typeface="Arial"/>
                        </a:rPr>
                        <a:t>Role: who is this agent?</a:t>
                      </a:r>
                    </a:p>
                  </a:txBody>
                  <a:tcPr/>
                </a:tc>
                <a:tc>
                  <a:txBody>
                    <a:bodyPr wrap="square"/>
                    <a:lstStyle/>
                    <a:p>
                      <a:r>
                        <a:rPr sz="1800" b="0" lang="en-US">
                          <a:latin typeface="Arial"/>
                        </a:rPr>
                        <a:t>An alternate format planner in a university disability resource center, working for the specialist who handles accommodation requests</a:t>
                      </a:r>
                    </a:p>
                  </a:txBody>
                  <a:tcPr/>
                </a:tc>
              </a:tr>
              <a:tr h="457200">
                <a:tc>
                  <a:txBody>
                    <a:bodyPr wrap="square"/>
                    <a:lstStyle/>
                    <a:p>
                      <a:r>
                        <a:rPr sz="1800" b="0" lang="en-US">
                          <a:latin typeface="Arial"/>
                        </a:rPr>
                        <a:t>Task: the one job</a:t>
                      </a:r>
                    </a:p>
                  </a:txBody>
                  <a:tcPr/>
                </a:tc>
                <a:tc>
                  <a:txBody>
                    <a:bodyPr wrap="square"/>
                    <a:lstStyle/>
                    <a:p>
                      <a:r>
                        <a:rPr sz="1800" b="0" lang="en-US">
                          <a:latin typeface="Arial"/>
                        </a:rPr>
                        <a:t>Given a checker's report on a course document and the formats a student needs, produce a plan to deliver those formats: what to produce, from which source, in what order, and what a person must check</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Her six answers (3 of 4)</a:t>
            </a:r>
          </a:p>
        </p:txBody>
      </p:sp>
      <p:graphicFrame>
        <p:nvGraphicFramePr>
          <p:cNvPr id="3" name="Table 2" descr="Table: 2. Her six answers. Columns: Question, Maria'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Maria's answer</a:t>
                      </a:r>
                    </a:p>
                  </a:txBody>
                  <a:tcPr/>
                </a:tc>
              </a:tr>
              <a:tr h="457200">
                <a:tc>
                  <a:txBody>
                    <a:bodyPr wrap="square"/>
                    <a:lstStyle/>
                    <a:p>
                      <a:r>
                        <a:rPr sz="1800" b="0" lang="en-US">
                          <a:latin typeface="Arial"/>
                        </a:rPr>
                        <a:t>Trusted guidance</a:t>
                      </a:r>
                    </a:p>
                  </a:txBody>
                  <a:tcPr/>
                </a:tc>
                <a:tc>
                  <a:txBody>
                    <a:bodyPr wrap="square"/>
                    <a:lstStyle/>
                    <a:p>
                      <a:r>
                        <a:rPr sz="1800" b="0" lang="en-US">
                          <a:latin typeface="Arial"/>
                        </a:rPr>
                        <a:t>WCAG 2.2, especially 1.4.5 Images of Text and 1.1.1 Non-text Content; the ACB large print guidelines; our center's alternate format procedure</a:t>
                      </a:r>
                    </a:p>
                  </a:txBody>
                  <a:tcPr/>
                </a:tc>
              </a:tr>
              <a:tr h="457200">
                <a:tc>
                  <a:txBody>
                    <a:bodyPr wrap="square"/>
                    <a:lstStyle/>
                    <a:p>
                      <a:r>
                        <a:rPr sz="1800" b="0" lang="en-US">
                          <a:latin typeface="Arial"/>
                        </a:rPr>
                        <a:t>Output format</a:t>
                      </a:r>
                    </a:p>
                  </a:txBody>
                  <a:tcPr/>
                </a:tc>
                <a:tc>
                  <a:txBody>
                    <a:bodyPr wrap="square"/>
                    <a:lstStyle/>
                    <a:p>
                      <a:r>
                        <a:rPr sz="1800" b="0" lang="en-US">
                          <a:latin typeface="Arial"/>
                        </a:rPr>
                        <a:t>A short plan: the problem in one line, then numbered steps with who does each, then the formats to deliver, then a "before you send this" checklist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2. Her six answers (4 of 4)</a:t>
            </a:r>
          </a:p>
        </p:txBody>
      </p:sp>
      <p:graphicFrame>
        <p:nvGraphicFramePr>
          <p:cNvPr id="3" name="Table 2" descr="Table: 2. Her six answers. Columns: Question, Maria'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Maria's answer</a:t>
                      </a:r>
                    </a:p>
                  </a:txBody>
                  <a:tcPr/>
                </a:tc>
              </a:tr>
              <a:tr h="457200">
                <a:tc>
                  <a:txBody>
                    <a:bodyPr wrap="square"/>
                    <a:lstStyle/>
                    <a:p>
                      <a:r>
                        <a:rPr sz="1800" b="0" lang="en-US">
                          <a:latin typeface="Arial"/>
                        </a:rPr>
                        <a:t>Example: one short, good answer</a:t>
                      </a:r>
                    </a:p>
                  </a:txBody>
                  <a:tcPr/>
                </a:tc>
                <a:tc>
                  <a:txBody>
                    <a:bodyPr wrap="square"/>
                    <a:lstStyle/>
                    <a:p>
                      <a:r>
                        <a:rPr sz="1800" b="0" lang="en-US">
                          <a:latin typeface="Arial"/>
                        </a:rPr>
                        <a:t>For the scanned week 2 reading in large print: the problem in one line (pictures of text, 1.4.5), then get the publisher's text, or recognize and correct it page by page, then 18 point large print, then the checklist</a:t>
                      </a:r>
                    </a:p>
                  </a:txBody>
                  <a:tcPr/>
                </a:tc>
              </a:tr>
              <a:tr h="457200">
                <a:tc>
                  <a:txBody>
                    <a:bodyPr wrap="square"/>
                    <a:lstStyle/>
                    <a:p>
                      <a:r>
                        <a:rPr sz="1800" b="0" lang="en-US">
                          <a:latin typeface="Arial"/>
                        </a:rPr>
                        <a:t>Human review</a:t>
                      </a:r>
                    </a:p>
                  </a:txBody>
                  <a:tcPr/>
                </a:tc>
                <a:tc>
                  <a:txBody>
                    <a:bodyPr wrap="square"/>
                    <a:lstStyle/>
                    <a:p>
                      <a:r>
                        <a:rPr sz="1800" b="0" lang="en-US">
                          <a:latin typeface="Arial"/>
                        </a:rPr>
                        <a:t>The alternate format specialist checks the converted text against the original page by page, and the student confirms the format works for them</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(1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GLOW turns the six answers into this file. Maria never typed the headings, the frontmatter or the never-do list; they come from the template.</a:t>
            </a:r>
          </a:p>
          <a:p>
            <a:pPr marL="0" indent="0">
              <a:spcAft>
                <a:spcPts val="600"/>
              </a:spcAft>
              <a:buNone/>
            </a:pPr>
            <a:r>
              <a:rPr sz="1800" b="0" lang="en-US">
                <a:latin typeface="Consolas"/>
              </a:rPr>
              <a:t>---</a:t>
            </a:r>
            <a:br/>
            <a:r>
              <a:rPr sz="1800" b="0" lang="en-US">
                <a:latin typeface="Consolas"/>
              </a:rPr>
              <a:t>name: alternate-format-planner</a:t>
            </a:r>
            <a:br/>
            <a:r>
              <a:rPr sz="1800" b="0" lang="en-US">
                <a:latin typeface="Consolas"/>
              </a:rPr>
              <a:t>description: Plans alternate formats for a course document from a checker's report and the formats a student needs.</a:t>
            </a:r>
            <a:br/>
            <a:r>
              <a:rPr sz="1800" b="0" lang="en-US">
                <a:latin typeface="Consolas"/>
              </a:rPr>
              <a:t>license: MIT</a:t>
            </a:r>
            <a:br/>
            <a:r>
              <a:rPr sz="1800" b="0" lang="en-US">
                <a:latin typeface="Consolas"/>
              </a:rPr>
              <a:t>metadata:</a:t>
            </a:r>
            <a:br/>
            <a:r>
              <a:rPr sz="1800" b="0" lang="en-US">
                <a:latin typeface="Consolas"/>
              </a:rPr>
              <a:t>  tier: specialist</a:t>
            </a:r>
            <a:br/>
            <a:r>
              <a:rPr sz="1800" b="0" lang="en-US">
                <a:latin typeface="Consolas"/>
              </a:rPr>
              <a:t>  domain: documents</a:t>
            </a:r>
            <a:br/>
            <a:r>
              <a:rPr sz="1800" b="0" lang="en-US">
                <a:latin typeface="Consolas"/>
              </a:rPr>
              <a:t>  output: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(2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title: Alternate Format Planner</a:t>
            </a:r>
            <a:br/>
            <a:r>
              <a:rPr sz="1800" b="0" lang="en-US">
                <a:latin typeface="Consolas"/>
              </a:rPr>
              <a:t>  workshop: AHG 2026</a:t>
            </a:r>
            <a:br/>
            <a:r>
              <a:rPr sz="1800" b="0" lang="en-US">
                <a:latin typeface="Consolas"/>
              </a:rPr>
              <a:t>  author: Maria Alvarez, Mesa Ridge State University</a:t>
            </a:r>
            <a:br/>
            <a:r>
              <a:rPr sz="1800" b="0" lang="en-US">
                <a:latin typeface="Consolas"/>
              </a:rPr>
              <a:t>---</a:t>
            </a:r>
            <a:br/>
            <a:r>
              <a:rPr sz="1800" b="0" lang="en-US">
                <a:latin typeface="Consolas"/>
              </a:rPr>
              <a:t>## Role</a:t>
            </a:r>
            <a:br/>
            <a:r>
              <a:rPr sz="1800" b="0" lang="en-US">
                <a:latin typeface="Consolas"/>
              </a:rPr>
              <a:t/>
            </a:r>
            <a:br/>
            <a:r>
              <a:rPr sz="1800" b="0" lang="en-US">
                <a:latin typeface="Consolas"/>
              </a:rPr>
              <a:t>You are an alternate format planner in a university disability resource</a:t>
            </a:r>
            <a:br/>
            <a:r>
              <a:rPr sz="1800" b="0" lang="en-US">
                <a:latin typeface="Consolas"/>
              </a:rPr>
              <a:t>center. You work for the specialist who handles accommodation requests.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(3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 Task</a:t>
            </a:r>
            <a:br/>
            <a:r>
              <a:rPr sz="1800" b="0" lang="en-US">
                <a:latin typeface="Consolas"/>
              </a:rPr>
              <a:t/>
            </a:r>
            <a:br/>
            <a:r>
              <a:rPr sz="1800" b="0" lang="en-US">
                <a:latin typeface="Consolas"/>
              </a:rPr>
              <a:t>Given a checker's report on a course document and the formats a student</a:t>
            </a:r>
            <a:br/>
            <a:r>
              <a:rPr sz="1800" b="0" lang="en-US">
                <a:latin typeface="Consolas"/>
              </a:rPr>
              <a:t>needs, produce a plan to deliver those formats: what to produce, from which</a:t>
            </a:r>
            <a:br/>
            <a:r>
              <a:rPr sz="1800" b="0" lang="en-US">
                <a:latin typeface="Consolas"/>
              </a:rPr>
              <a:t>source, in what order, and what a person must check.</a:t>
            </a:r>
            <a:br/>
            <a:r>
              <a:rPr sz="1800" b="0" lang="en-US">
                <a:latin typeface="Consolas"/>
              </a:rPr>
              <a:t/>
            </a:r>
            <a:br/>
            <a:r>
              <a:rPr sz="1800" b="0" lang="en-US">
                <a:latin typeface="Consolas"/>
              </a:rPr>
              <a:t>## Trusted guidance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(4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Cite by name and link in every answer:</a:t>
            </a:r>
            <a:br/>
            <a:r>
              <a:rPr sz="1800" b="0" lang="en-US">
                <a:latin typeface="Consolas"/>
              </a:rPr>
              <a:t/>
            </a:r>
            <a:br/>
            <a:r>
              <a:rPr sz="1800" b="0" lang="en-US">
                <a:latin typeface="Consolas"/>
              </a:rPr>
              <a:t>- WCAG 2.2, 1.4.5 Images of Text and 1.1.1 Non-text Content</a:t>
            </a:r>
            <a:br/>
            <a:r>
              <a:rPr sz="1800" b="0" lang="en-US">
                <a:latin typeface="Consolas"/>
              </a:rPr>
              <a:t>- ACB Large Print Guidelines</a:t>
            </a:r>
            <a:br/>
            <a:r>
              <a:rPr sz="1800" b="0" lang="en-US">
                <a:latin typeface="Consolas"/>
              </a:rPr>
              <a:t>- Our center's alternate format procedure</a:t>
            </a:r>
            <a:br/>
            <a:r>
              <a:rPr sz="1800" b="0" lang="en-US">
                <a:latin typeface="Consolas"/>
              </a:rPr>
              <a:t/>
            </a:r>
            <a:br/>
            <a:r>
              <a:rPr sz="1800" b="0" lang="en-US">
                <a:latin typeface="Consolas"/>
              </a:rPr>
              <a:t>Work only from the evidence you are given. If something is not in the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(5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evidence, say you cannot see it. Do not guess.</a:t>
            </a:r>
            <a:br/>
            <a:r>
              <a:rPr sz="1800" b="0" lang="en-US">
                <a:latin typeface="Consolas"/>
              </a:rPr>
              <a:t/>
            </a:r>
            <a:br/>
            <a:r>
              <a:rPr sz="1800" b="0" lang="en-US">
                <a:latin typeface="Consolas"/>
              </a:rPr>
              <a:t>## Output format</a:t>
            </a:r>
            <a:br/>
            <a:r>
              <a:rPr sz="1800" b="0" lang="en-US">
                <a:latin typeface="Consolas"/>
              </a:rPr>
              <a:t/>
            </a:r>
            <a:br/>
            <a:r>
              <a:rPr sz="1800" b="0" lang="en-US">
                <a:latin typeface="Consolas"/>
              </a:rPr>
              <a:t>The problem in one line. Numbered steps, each with who does it. The formats</a:t>
            </a:r>
            <a:br/>
            <a:r>
              <a:rPr sz="1800" b="0" lang="en-US">
                <a:latin typeface="Consolas"/>
              </a:rPr>
              <a:t>to deliver. A "Before you send this" checklist.</a:t>
            </a:r>
            <a:br/>
            <a:r>
              <a:rPr sz="1800" b="0" lang="en-US">
                <a:latin typeface="Consolas"/>
              </a:rPr>
              <a:t/>
            </a:r>
            <a:br/>
            <a:r>
              <a:rPr sz="1800" b="0" lang="en-US">
                <a:latin typeface="Consolas"/>
              </a:rPr>
              <a:t>## Human review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3. Her agent (6 of 6)</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1800" b="0" lang="en-US">
                <a:latin typeface="Consolas"/>
              </a:rPr>
              <a:t/>
            </a:r>
            <a:br/>
            <a:r>
              <a:rPr sz="1800" b="0" lang="en-US">
                <a:latin typeface="Consolas"/>
              </a:rPr>
              <a:t>The alternate format specialist checks the converted text against the</a:t>
            </a:r>
            <a:br/>
            <a:r>
              <a:rPr sz="1800" b="0" lang="en-US">
                <a:latin typeface="Consolas"/>
              </a:rPr>
              <a:t>original, page by page. The student confirms the format works for them.</a:t>
            </a:r>
            <a:br/>
            <a:r>
              <a:rPr sz="1800" b="0" lang="en-US">
                <a:latin typeface="Consolas"/>
              </a:rPr>
              <a:t/>
            </a:r>
            <a:br/>
            <a:r>
              <a:rPr sz="1800" b="0" lang="en-US">
                <a:latin typeface="Consolas"/>
              </a:rPr>
              <a:t>## Never</a:t>
            </a:r>
            <a:br/>
            <a:r>
              <a:rPr sz="1800" b="0" lang="en-US">
                <a:latin typeface="Consolas"/>
              </a:rPr>
              <a:t/>
            </a:r>
            <a:br/>
            <a:r>
              <a:rPr sz="1800" b="0" lang="en-US">
                <a:latin typeface="Consolas"/>
              </a:rPr>
              <a:t>- Never ask for, or use, student names, records, accommodation details or</a:t>
            </a:r>
            <a:br/>
            <a:r>
              <a:rPr sz="1800" b="0" lang="en-US">
                <a:latin typeface="Consolas"/>
              </a:rPr>
              <a:t>  health information.</a:t>
            </a:r>
            <a:br/>
            <a:r>
              <a:rPr sz="1800" b="0" lang="en-US">
                <a:latin typeface="Consolas"/>
              </a:rPr>
              <a:t>- Never say a document is "compliant" or "accessible". Say what you checked,</a:t>
            </a:r>
          </a:p>
          <a:p>
            <a:pPr marL="0" indent="0">
              <a:spcAft>
                <a:spcPts val="600"/>
              </a:spcAft>
              <a:buNone/>
            </a:pPr>
            <a:r>
              <a:rPr sz="1800" b="0" lang="en-US">
                <a:latin typeface="Consolas"/>
              </a:rPr>
              <a:t>  what you found, and what a person still needs to check.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same agent, asked the same question twice.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Before: the agent is given only the file name (1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Question: Plan large print and audio for psy101-reading-forgetting-scanned.pdf.</a:t>
            </a:r>
          </a:p>
          <a:p>
            <a:pPr lvl="1">
              <a:spcAft>
                <a:spcPts val="600"/>
              </a:spcAft>
              <a:buNone/>
            </a:pPr>
            <a:r>
              <a:rPr sz="2000" b="0" lang="en-US">
                <a:latin typeface="Arial"/>
              </a:rPr>
              <a:t>Example answer: To make this PDF accessible, run Adobe Acrobat's "Make Accessible" action, add alternative text to all images, ensure a logical reading order, and increase the font size to at least 18pt. Then export to Word for large print and use a text-to-speech tool for audio. This will make the document compliant with WCAG 2.1.</a:t>
            </a:r>
          </a:p>
          <a:p>
            <a:pPr marL="0" indent="0">
              <a:spcAft>
                <a:spcPts val="600"/>
              </a:spcAft>
              <a:buNone/>
            </a:pPr>
            <a:r>
              <a:rPr sz="2000" b="0" lang="en-US">
                <a:latin typeface="Arial"/>
              </a:rPr>
              <a:t>Sounds confident. It is mostly wrong for this file:</a:t>
            </a:r>
          </a:p>
          <a:p>
            <a:pPr lvl="1">
              <a:spcAft>
                <a:spcPts val="600"/>
              </a:spcAft>
            </a:pPr>
            <a:r>
              <a:rPr sz="2000" b="0" lang="en-US">
                <a:latin typeface="Arial"/>
              </a:rPr>
              <a:t>It guessed. It never saw the document and does not know it is scanned.</a:t>
            </a:r>
          </a:p>
          <a:p>
            <a:pPr lvl="1">
              <a:spcAft>
                <a:spcPts val="600"/>
              </a:spcAft>
            </a:pPr>
            <a:r>
              <a:rPr sz="2000" b="0" lang="en-US">
                <a:latin typeface="Arial"/>
              </a:rPr>
              <a:t>"Add alternative text to all images" would describe the pictures of text, not turn them into text.</a:t>
            </a:r>
          </a:p>
          <a:p>
            <a:pPr lvl="1">
              <a:spcAft>
                <a:spcPts val="600"/>
              </a:spcAft>
            </a:pPr>
            <a:r>
              <a:rPr sz="2000" b="0" lang="en-US">
                <a:latin typeface="Arial"/>
              </a:rPr>
              <a:t>"Compliant" is a word the agent was told never to 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Before: the agent is given only the file name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rPr>
              <a:t>WCAG 2.1, not the 2.2 its instructions name, and no links.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the agent is given GLOW's audit report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evidence, copied from GLOW's audit of the reading:</a:t>
            </a:r>
          </a:p>
          <a:p>
            <a:pPr marL="0" indent="0">
              <a:spcAft>
                <a:spcPts val="600"/>
              </a:spcAft>
              <a:buNone/>
            </a:pPr>
            <a:r>
              <a:rPr sz="1800" b="0" lang="en-US">
                <a:latin typeface="Consolas"/>
              </a:rPr>
              <a:t>psy101-reading-forgetting-scanned.pdf  score 50</a:t>
            </a:r>
            <a:br/>
            <a:r>
              <a:rPr sz="1800" b="0" lang="en-US">
                <a:latin typeface="Consolas"/>
              </a:rPr>
              <a:t>CRITICAL  PDF-NO-IMAGES-OF-TEXT  This PDF appears to be entirely scanned</a:t>
            </a:r>
            <a:br/>
            <a:r>
              <a:rPr sz="1800" b="0" lang="en-US">
                <a:latin typeface="Consolas"/>
              </a:rPr>
              <a:t>          (all 2 pages are image-only with no extractable text).</a:t>
            </a:r>
            <a:br/>
            <a:r>
              <a:rPr sz="1800" b="0" lang="en-US">
                <a:latin typeface="Consolas"/>
              </a:rPr>
              <a:t>CRITICAL  PDF-TAGGED     PDF is not tagged; screen readers cannot determine</a:t>
            </a:r>
            <a:br/>
            <a:r>
              <a:rPr sz="1800" b="0" lang="en-US">
                <a:latin typeface="Consolas"/>
              </a:rPr>
              <a:t>          document structure</a:t>
            </a:r>
            <a:br/>
            <a:r>
              <a:rPr sz="1800" b="0" lang="en-US">
                <a:latin typeface="Consolas"/>
              </a:rPr>
              <a:t>HIGH      PDF-TITLE      PDF has no title set in document metadata</a:t>
            </a:r>
            <a:br/>
            <a:r>
              <a:rPr sz="1800" b="0" lang="en-US">
                <a:latin typeface="Consolas"/>
              </a:rPr>
              <a:t>HIGH      PDF-LANGUAGE   PDF has no language set in document metadata</a:t>
            </a:r>
          </a:p>
          <a:p>
            <a:pPr lvl="1">
              <a:spcAft>
                <a:spcPts val="600"/>
              </a:spcAft>
              <a:buNone/>
            </a:pPr>
            <a:r>
              <a:rPr sz="2000" b="0" lang="en-US">
                <a:latin typeface="Arial"/>
              </a:rPr>
              <a:t>Example answer:</a:t>
            </a:r>
          </a:p>
          <a:p>
            <a:pPr lvl="1">
              <a:spcAft>
                <a:spcPts val="600"/>
              </a:spcAft>
              <a:buNone/>
            </a:pPr>
            <a:r>
              <a:rPr sz="2000" b="0" lang="en-US">
                <a:latin typeface="Arial"/>
              </a:rPr>
              <a:t>Problem: the reading is two pages of pictures of text, with no text layer, so it cannot be enlarged cleanly, searched or read aloud (</a:t>
            </a:r>
            <a:r>
              <a:rPr sz="2000" b="0" lang="en-US">
                <a:latin typeface="Arial"/>
                <a:hlinkClick r:id="rId2"/>
              </a:rPr>
              <a:t>WCAG 2.2, 1.4.5 Images of Text</a:t>
            </a:r>
            <a:r>
              <a:rPr sz="2000" b="0" lang="en-US">
                <a:latin typeface="Arial"/>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the agent is given GLOW's audit report (2 of 4)</a:t>
            </a:r>
          </a:p>
        </p:txBody>
      </p:sp>
      <p:sp>
        <p:nvSpPr>
          <p:cNvPr id="3" name="Content Placeholder 2"/>
          <p:cNvSpPr>
            <a:spLocks noGrp="1"/>
          </p:cNvSpPr>
          <p:nvPr>
            <p:ph idx="1"/>
          </p:nvPr>
        </p:nvSpPr>
        <p:spPr>
          <a:xfrm>
            <a:off x="548640" y="1554480"/>
            <a:ext cx="11064240" cy="4937760"/>
          </a:xfrm>
        </p:spPr>
        <p:txBody>
          <a:bodyPr wrap="square"/>
          <a:lstStyle/>
          <a:p>
            <a:pPr lvl="2">
              <a:spcAft>
                <a:spcPts val="600"/>
              </a:spcAft>
              <a:buNone/>
            </a:pPr>
            <a:r>
              <a:rPr sz="2000" b="0" lang="en-US">
                <a:latin typeface="Arial"/>
              </a:rPr>
              <a:t>1. </a:t>
            </a:r>
            <a:r>
              <a:rPr sz="2000" b="0" lang="en-US">
                <a:latin typeface="Arial"/>
              </a:rPr>
              <a:t>Specialist: get a clean source. Ask the instructor for the original file; it is often a Word document on someone's laptop. This is faster and more accurate than recognition from a scan.</a:t>
            </a:r>
          </a:p>
          <a:p>
            <a:pPr lvl="2">
              <a:spcAft>
                <a:spcPts val="600"/>
              </a:spcAft>
              <a:buNone/>
            </a:pPr>
            <a:r>
              <a:rPr sz="2000" b="0" lang="en-US">
                <a:latin typeface="Arial"/>
              </a:rPr>
              <a:t>2. </a:t>
            </a:r>
            <a:r>
              <a:rPr sz="2000" b="0" lang="en-US">
                <a:latin typeface="Arial"/>
              </a:rPr>
              <a:t>If there is no original: run text recognition on the scan, then fix it against the page. Watch the nonsense syllables (DAX, BOK, YAT); text recognition will "correct" them into real words.</a:t>
            </a:r>
          </a:p>
          <a:p>
            <a:pPr lvl="2">
              <a:spcAft>
                <a:spcPts val="600"/>
              </a:spcAft>
              <a:buNone/>
            </a:pPr>
            <a:r>
              <a:rPr sz="2000" b="0" lang="en-US">
                <a:latin typeface="Arial"/>
              </a:rPr>
              <a:t>3. </a:t>
            </a:r>
            <a:r>
              <a:rPr sz="2000" b="0" lang="en-US">
                <a:latin typeface="Arial"/>
              </a:rPr>
              <a:t>Large print: from the clean text, 18pt Arial, left aligned, real headings for the title and "Discussion questions", a numbered list for the three questions (</a:t>
            </a:r>
            <a:r>
              <a:rPr sz="2000" b="0" lang="en-US">
                <a:latin typeface="Arial"/>
                <a:hlinkClick r:id="rId2"/>
              </a:rPr>
              <a:t>ACB Large Print Guidelines</a:t>
            </a:r>
            <a:r>
              <a:rPr sz="2000" b="0" lang="en-US">
                <a:latin typeface="Arial"/>
              </a:rPr>
              <a:t>).</a:t>
            </a:r>
          </a:p>
          <a:p>
            <a:pPr lvl="2">
              <a:spcAft>
                <a:spcPts val="600"/>
              </a:spcAft>
              <a:buNone/>
            </a:pPr>
            <a:r>
              <a:rPr sz="2000" b="0" lang="en-US">
                <a:latin typeface="Arial"/>
              </a:rPr>
              <a:t>4. </a:t>
            </a:r>
            <a:r>
              <a:rPr sz="2000" b="0" lang="en-US">
                <a:latin typeface="Arial"/>
              </a:rPr>
              <a:t>Audio: from the same clean text, with the syllables spelled out so the voice does not say "dax" as a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the agent is given GLOW's audit report (3 of 4)</a:t>
            </a:r>
          </a:p>
        </p:txBody>
      </p:sp>
      <p:sp>
        <p:nvSpPr>
          <p:cNvPr id="3" name="Content Placeholder 2"/>
          <p:cNvSpPr>
            <a:spLocks noGrp="1"/>
          </p:cNvSpPr>
          <p:nvPr>
            <p:ph idx="1"/>
          </p:nvPr>
        </p:nvSpPr>
        <p:spPr>
          <a:xfrm>
            <a:off x="548640" y="1554480"/>
            <a:ext cx="11064240" cy="4937760"/>
          </a:xfrm>
        </p:spPr>
        <p:txBody>
          <a:bodyPr wrap="square"/>
          <a:lstStyle/>
          <a:p>
            <a:pPr lvl="2">
              <a:spcAft>
                <a:spcPts val="600"/>
              </a:spcAft>
              <a:buNone/>
            </a:pPr>
            <a:r>
              <a:rPr sz="2000" b="0" lang="en-US">
                <a:latin typeface="Arial"/>
              </a:rPr>
              <a:t>5. </a:t>
            </a:r>
            <a:r>
              <a:rPr sz="2000" b="0" lang="en-US">
                <a:latin typeface="Arial"/>
              </a:rPr>
              <a:t>Post the clean version to the course for everyone, not only this student.</a:t>
            </a:r>
          </a:p>
          <a:p>
            <a:pPr lvl="1">
              <a:spcAft>
                <a:spcPts val="600"/>
              </a:spcAft>
              <a:buNone/>
            </a:pPr>
            <a:r>
              <a:rPr sz="2000" b="0" lang="en-US">
                <a:latin typeface="Arial"/>
              </a:rPr>
              <a:t>Deliver: large print Word file, and audio.</a:t>
            </a:r>
          </a:p>
          <a:p>
            <a:pPr lvl="1">
              <a:spcAft>
                <a:spcPts val="600"/>
              </a:spcAft>
              <a:buNone/>
            </a:pPr>
            <a:r>
              <a:rPr sz="2000" b="0" lang="en-US">
                <a:latin typeface="Arial"/>
              </a:rPr>
              <a:t>Before you send this:</a:t>
            </a:r>
          </a:p>
          <a:p>
            <a:pPr lvl="2">
              <a:spcAft>
                <a:spcPts val="600"/>
              </a:spcAft>
            </a:pPr>
            <a:r>
              <a:rPr sz="2000" b="0" lang="en-US">
                <a:latin typeface="Arial"/>
              </a:rPr>
              <a:t>[ ] Converted text checked against the scan, page by page</a:t>
            </a:r>
          </a:p>
          <a:p>
            <a:pPr lvl="2">
              <a:spcAft>
                <a:spcPts val="600"/>
              </a:spcAft>
            </a:pPr>
            <a:r>
              <a:rPr sz="2000" b="0" lang="en-US">
                <a:latin typeface="Arial"/>
              </a:rPr>
              <a:t>[ ] Nonsense syllables match the original exactly</a:t>
            </a:r>
          </a:p>
          <a:p>
            <a:pPr lvl="2">
              <a:spcAft>
                <a:spcPts val="600"/>
              </a:spcAft>
            </a:pPr>
            <a:r>
              <a:rPr sz="2000" b="0" lang="en-US">
                <a:latin typeface="Arial"/>
              </a:rPr>
              <a:t>[ ] The student has confirmed large print and audio work for them</a:t>
            </a:r>
          </a:p>
          <a:p>
            <a:pPr lvl="2">
              <a:spcAft>
                <a:spcPts val="600"/>
              </a:spcAft>
            </a:pPr>
            <a:r>
              <a:rPr sz="2000" b="0" lang="en-US">
                <a:latin typeface="Arial"/>
              </a:rPr>
              <a:t>[ ] What I could not check: whether the original has figures not visible in this scan. Ask the instructor.</a:t>
            </a:r>
          </a:p>
          <a:p>
            <a:pPr lvl="1">
              <a:spcAft>
                <a:spcPts val="600"/>
              </a:spcAft>
              <a:buNone/>
            </a:pPr>
            <a:r>
              <a:rPr sz="2000" b="0" lang="en-US">
                <a:latin typeface="Arial"/>
              </a:rPr>
              <a:t>Sources: </a:t>
            </a:r>
            <a:r>
              <a:rPr sz="2000" b="0" lang="en-US">
                <a:latin typeface="Arial"/>
                <a:hlinkClick r:id="rId2"/>
              </a:rPr>
              <a:t>WCAG 2.2</a:t>
            </a:r>
            <a:r>
              <a:rPr sz="2000" b="0" lang="en-US">
                <a:latin typeface="Arial"/>
              </a:rPr>
              <a:t>, </a:t>
            </a:r>
            <a:r>
              <a:rPr sz="2000" b="0" lang="en-US">
                <a:latin typeface="Arial"/>
                <a:hlinkClick r:id="rId3"/>
              </a:rPr>
              <a:t>Understanding 1.4.5</a:t>
            </a:r>
            <a:r>
              <a:rPr sz="2000" b="0" lang="en-US">
                <a:latin typeface="Arial"/>
              </a:rPr>
              <a:t>, </a:t>
            </a:r>
            <a:r>
              <a:rPr sz="2000" b="0" lang="en-US">
                <a:latin typeface="Arial"/>
                <a:hlinkClick r:id="rId4"/>
              </a:rPr>
              <a:t>ACB Large Print Guidelines</a:t>
            </a:r>
            <a:r>
              <a:rPr sz="2000" b="0" lang="en-US">
                <a:latin typeface="Arial"/>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4. Before and after grounding: After: the agent is given GLOW's audit report (4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What changed: the agent stopped guessing, because it had evidence. It cited the right criterion, knew what it could not see, and handed the decisions to a person.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5. Her agent in the team</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At 2:15 the office team works the whole PSY 101 course. The coordinator sends the scanned reading to Maria's agent, because that is the job it describes. Her section of the team report:</a:t>
            </a:r>
          </a:p>
          <a:p>
            <a:pPr lvl="1">
              <a:spcAft>
                <a:spcPts val="600"/>
              </a:spcAft>
              <a:buNone/>
            </a:pPr>
            <a:r>
              <a:rPr sz="2000" b="0" lang="en-US">
                <a:latin typeface="Arial"/>
              </a:rPr>
              <a:t>Required reading, psy101-reading-forgetting-scanned.pdf. Routed to: alternate-format-planner (Maria Alvarez). Evidence: GLOW, 4 findings, 2 critical. Plan: clean source from instructor, else text recognition and page-by-page check; large print and audio from the clean text; post for all students. Reviewer: alternate format specialist. Status: waiting for review.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6. Her agent in the collection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At 3:05 Maria opens the share page, chooses her newest file, version 4, and presses the button. GitHub's share form opens already filled in; she ticks the privacy box and presses Submit new issue. A minute later the reply says "Your agent is in", and her agent is in the AHG 2026 collection as </a:t>
            </a:r>
            <a:r>
              <a:rPr sz="2000" b="0" lang="en-US">
                <a:latin typeface="Consolas"/>
              </a:rPr>
              <a:t>agents/&lt;her GitHub account&gt;/alternate-format-planner/SKILL.md</a:t>
            </a:r>
            <a:r>
              <a:rPr sz="2000" b="0" lang="en-US">
                <a:latin typeface="Arial"/>
              </a:rPr>
              <a:t>, committed in her name. At the end of the day it goes into the Accessibility Agents project, with her credited.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Her 30-day plan (1 of 3)</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Each row is one part of the plan, and the answer.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Her 30-day plan (2 of 3)</a:t>
            </a:r>
          </a:p>
        </p:txBody>
      </p:sp>
      <p:graphicFrame>
        <p:nvGraphicFramePr>
          <p:cNvPr id="3" name="Table 2" descr="Table: 7. Her 30-day plan. Columns: Question, Maria's answer."/>
          <p:cNvGraphicFramePr>
            <a:graphicFrameLocks noGrp="1"/>
          </p:cNvGraphicFramePr>
          <p:nvPr/>
        </p:nvGraphicFramePr>
        <p:xfrm>
          <a:off x="548640" y="1554480"/>
          <a:ext cx="11064240" cy="22860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Maria's answer</a:t>
                      </a:r>
                    </a:p>
                  </a:txBody>
                  <a:tcPr/>
                </a:tc>
              </a:tr>
              <a:tr h="457200">
                <a:tc>
                  <a:txBody>
                    <a:bodyPr wrap="square"/>
                    <a:lstStyle/>
                    <a:p>
                      <a:r>
                        <a:rPr sz="1800" b="0" lang="en-US">
                          <a:latin typeface="Arial"/>
                        </a:rPr>
                        <a:t>One workflow</a:t>
                      </a:r>
                    </a:p>
                  </a:txBody>
                  <a:tcPr/>
                </a:tc>
                <a:tc>
                  <a:txBody>
                    <a:bodyPr wrap="square"/>
                    <a:lstStyle/>
                    <a:p>
                      <a:r>
                        <a:rPr sz="1800" b="0" lang="en-US">
                          <a:latin typeface="Arial"/>
                        </a:rPr>
                        <a:t>Every scanned-reading request goes through the planner before I touch it</a:t>
                      </a:r>
                    </a:p>
                  </a:txBody>
                  <a:tcPr/>
                </a:tc>
              </a:tr>
              <a:tr h="457200">
                <a:tc>
                  <a:txBody>
                    <a:bodyPr wrap="square"/>
                    <a:lstStyle/>
                    <a:p>
                      <a:r>
                        <a:rPr sz="1800" b="0" lang="en-US">
                          <a:latin typeface="Arial"/>
                        </a:rPr>
                        <a:t>One partner</a:t>
                      </a:r>
                    </a:p>
                  </a:txBody>
                  <a:tcPr/>
                </a:tc>
                <a:tc>
                  <a:txBody>
                    <a:bodyPr wrap="square"/>
                    <a:lstStyle/>
                    <a:p>
                      <a:r>
                        <a:rPr sz="1800" b="0" lang="en-US">
                          <a:latin typeface="Arial"/>
                        </a:rPr>
                        <a:t>Our two student workers, who do the text recognition</a:t>
                      </a:r>
                    </a:p>
                  </a:txBody>
                  <a:tcPr/>
                </a:tc>
              </a:tr>
              <a:tr h="457200">
                <a:tc>
                  <a:txBody>
                    <a:bodyPr wrap="square"/>
                    <a:lstStyle/>
                    <a:p>
                      <a:r>
                        <a:rPr sz="1800" b="0" lang="en-US">
                          <a:latin typeface="Arial"/>
                        </a:rPr>
                        <a:t>One safeguard</a:t>
                      </a:r>
                    </a:p>
                  </a:txBody>
                  <a:tcPr/>
                </a:tc>
                <a:tc>
                  <a:txBody>
                    <a:bodyPr wrap="square"/>
                    <a:lstStyle/>
                    <a:p>
                      <a:r>
                        <a:rPr sz="1800" b="0" lang="en-US">
                          <a:latin typeface="Arial"/>
                        </a:rPr>
                        <a:t>Nothing goes to a student until the page-by-page check is ticked</a:t>
                      </a:r>
                    </a:p>
                  </a:txBody>
                  <a:tcPr/>
                </a:tc>
              </a:tr>
              <a:tr h="457200">
                <a:tc>
                  <a:txBody>
                    <a:bodyPr wrap="square"/>
                    <a:lstStyle/>
                    <a:p>
                      <a:r>
                        <a:rPr sz="1800" b="0" lang="en-US">
                          <a:latin typeface="Arial"/>
                        </a:rPr>
                        <a:t>First step this week</a:t>
                      </a:r>
                    </a:p>
                  </a:txBody>
                  <a:tcPr/>
                </a:tc>
                <a:tc>
                  <a:txBody>
                    <a:bodyPr wrap="square"/>
                    <a:lstStyle/>
                    <a:p>
                      <a:r>
                        <a:rPr sz="1800" b="0" lang="en-US">
                          <a:latin typeface="Arial"/>
                        </a:rPr>
                        <a:t>Run the planner on the next five requests and compare with what I would have done</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7. Her 30-day plan (3 of 3)</a:t>
            </a:r>
          </a:p>
        </p:txBody>
      </p:sp>
      <p:graphicFrame>
        <p:nvGraphicFramePr>
          <p:cNvPr id="3" name="Table 2" descr="Table: 7. Her 30-day plan. Columns: Question, Maria's answer."/>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800" b="1" lang="en-US">
                          <a:latin typeface="Arial"/>
                        </a:rPr>
                        <a:t>Question</a:t>
                      </a:r>
                    </a:p>
                  </a:txBody>
                  <a:tcPr/>
                </a:tc>
                <a:tc>
                  <a:txBody>
                    <a:bodyPr/>
                    <a:lstStyle/>
                    <a:p>
                      <a:r>
                        <a:rPr sz="1800" b="1" lang="en-US">
                          <a:latin typeface="Arial"/>
                        </a:rPr>
                        <a:t>Maria's answer</a:t>
                      </a:r>
                    </a:p>
                  </a:txBody>
                  <a:tcPr/>
                </a:tc>
              </a:tr>
              <a:tr h="457200">
                <a:tc>
                  <a:txBody>
                    <a:bodyPr wrap="square"/>
                    <a:lstStyle/>
                    <a:p>
                      <a:r>
                        <a:rPr sz="1800" b="0" lang="en-US">
                          <a:latin typeface="Arial"/>
                        </a:rPr>
                        <a:t>Who needs to know</a:t>
                      </a:r>
                    </a:p>
                  </a:txBody>
                  <a:tcPr/>
                </a:tc>
                <a:tc>
                  <a:txBody>
                    <a:bodyPr wrap="square"/>
                    <a:lstStyle/>
                    <a:p>
                      <a:r>
                        <a:rPr sz="1800" b="0" lang="en-US">
                          <a:latin typeface="Arial"/>
                        </a:rPr>
                        <a:t>My director, because this changes our intake form</a:t>
                      </a:r>
                    </a:p>
                  </a:txBody>
                  <a:tcPr/>
                </a:tc>
              </a:tr>
              <a:tr h="457200">
                <a:tc>
                  <a:txBody>
                    <a:bodyPr wrap="square"/>
                    <a:lstStyle/>
                    <a:p>
                      <a:r>
                        <a:rPr sz="1800" b="0" lang="en-US">
                          <a:latin typeface="Arial"/>
                        </a:rPr>
                        <a:t>What it looks like if it worked</a:t>
                      </a:r>
                    </a:p>
                  </a:txBody>
                  <a:tcPr/>
                </a:tc>
                <a:tc>
                  <a:txBody>
                    <a:bodyPr wrap="square"/>
                    <a:lstStyle/>
                    <a:p>
                      <a:r>
                        <a:rPr sz="1800" b="0" lang="en-US">
                          <a:latin typeface="Arial"/>
                        </a:rPr>
                        <a:t>Requests out in three days instead of eight, and no "the syllables were wrong" emails</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Worked example: Maria's alternate format planner</dc:title>
  <dc:subject>Worked example: an alternate format planner agent, from problem to 30-day plan.</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