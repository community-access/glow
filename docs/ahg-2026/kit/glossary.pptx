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1463040"/>
            <a:ext cx="10698480" cy="2011680"/>
          </a:xfrm>
        </p:spPr>
        <p:txBody>
          <a:bodyPr wrap="square"/>
          <a:lstStyle/>
          <a:p>
            <a:r>
              <a:rPr sz="4000" b="1" lang="en-US">
                <a:latin typeface="Arial"/>
              </a:rPr>
              <a:t>Words used today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57600"/>
            <a:ext cx="10698480" cy="2194560"/>
          </a:xfrm>
        </p:spPr>
        <p:txBody>
          <a:bodyPr wrap="square"/>
          <a:lstStyle/>
          <a:p>
            <a:r>
              <a:rPr sz="2400" b="0" lang="en-US">
                <a:latin typeface="Arial"/>
              </a:rPr>
              <a:t>A glossary of the words used in the AHG 2026 Accessibility Agents workshop.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About this document (1 of 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One line for each word the step cards and the deck use. Read it before the day if any of these is new. Nothing here needs code.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About this document (2 of 8)</a:t>
            </a:r>
          </a:p>
        </p:txBody>
      </p:sp>
      <p:graphicFrame>
        <p:nvGraphicFramePr>
          <p:cNvPr id="3" name="Table 2" descr="Table: About this document. Columns: Word, What it means today."/>
          <p:cNvGraphicFramePr>
            <a:graphicFrameLocks noGrp="1"/>
          </p:cNvGraphicFramePr>
          <p:nvPr/>
        </p:nvGraphicFramePr>
        <p:xfrm>
          <a:off x="548640" y="155448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r>
                        <a:rPr sz="1800" b="1" lang="en-US">
                          <a:latin typeface="Arial"/>
                        </a:rPr>
                        <a:t>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 lang="en-US">
                          <a:latin typeface="Arial"/>
                        </a:rPr>
                        <a:t>What it means today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800" b="0" lang="en-US">
                          <a:latin typeface="Arial"/>
                        </a:rPr>
                        <a:t>Agent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800" b="0" lang="en-US">
                          <a:latin typeface="Arial"/>
                        </a:rPr>
                        <a:t>A set of plain-English instructions that tells an AI assistant how to do one job, the way you would brief a new colleague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800" b="0" lang="en-US">
                          <a:latin typeface="Arial"/>
                        </a:rPr>
                        <a:t>Skill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800" b="0" lang="en-US">
                          <a:latin typeface="Arial"/>
                        </a:rPr>
                        <a:t>The file format an agent is written in. VS Code, GitHub Copilot, Claude Code, Codex and Gemini CLI all read it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800" b="0" lang="en-US">
                          <a:latin typeface="Consolas"/>
                        </a:rPr>
                        <a:t>SKILL.md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800" b="0" lang="en-US">
                          <a:latin typeface="Arial"/>
                        </a:rPr>
                        <a:t>The one file that holds an agent: a short header, then the instructions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About this document (3 of 8)</a:t>
            </a:r>
          </a:p>
        </p:txBody>
      </p:sp>
      <p:graphicFrame>
        <p:nvGraphicFramePr>
          <p:cNvPr id="3" name="Table 2" descr="Table: About this document. Columns: Word, What it means today."/>
          <p:cNvGraphicFramePr>
            <a:graphicFrameLocks noGrp="1"/>
          </p:cNvGraphicFramePr>
          <p:nvPr/>
        </p:nvGraphicFramePr>
        <p:xfrm>
          <a:off x="548640" y="155448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r>
                        <a:rPr sz="1800" b="1" lang="en-US">
                          <a:latin typeface="Arial"/>
                        </a:rPr>
                        <a:t>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 lang="en-US">
                          <a:latin typeface="Arial"/>
                        </a:rPr>
                        <a:t>What it means today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800" b="0" lang="en-US">
                          <a:latin typeface="Arial"/>
                        </a:rPr>
                        <a:t>Header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800" b="0" lang="en-US">
                          <a:latin typeface="Arial"/>
                        </a:rPr>
                        <a:t>The few lines at the top of </a:t>
                      </a:r>
                      <a:r>
                        <a:rPr sz="1800" b="0" lang="en-US">
                          <a:latin typeface="Consolas"/>
                        </a:rPr>
                        <a:t>SKILL.md</a:t>
                      </a:r>
                      <a:r>
                        <a:rPr sz="1800" b="0" lang="en-US">
                          <a:latin typeface="Arial"/>
                        </a:rPr>
                        <a:t>, between two lines of three dashes: the agent's name, what it does, and who wrote it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800" b="0" lang="en-US">
                          <a:latin typeface="Arial"/>
                        </a:rPr>
                        <a:t>Copilot Chat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800" b="0" lang="en-US">
                          <a:latin typeface="Arial"/>
                        </a:rPr>
                        <a:t>The place in VS Code where you type to GitHub Copilot. Control+Alt+I on Windows, Control+Command+I on a Mac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800" b="0" lang="en-US">
                          <a:latin typeface="Arial"/>
                        </a:rPr>
                        <a:t>Command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800" b="0" lang="en-US">
                          <a:latin typeface="Arial"/>
                        </a:rPr>
                        <a:t>A word starting with a slash, like </a:t>
                      </a:r>
                      <a:r>
                        <a:rPr sz="1800" b="0" lang="en-US">
                          <a:latin typeface="Consolas"/>
                        </a:rPr>
                        <a:t>/ready-check</a:t>
                      </a:r>
                      <a:r>
                        <a:rPr sz="1800" b="0" lang="en-US">
                          <a:latin typeface="Arial"/>
                        </a:rPr>
                        <a:t>, that you type into Copilot Chat to start one block of the day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About this document (4 of 8)</a:t>
            </a:r>
          </a:p>
        </p:txBody>
      </p:sp>
      <p:graphicFrame>
        <p:nvGraphicFramePr>
          <p:cNvPr id="3" name="Table 2" descr="Table: About this document. Columns: Word, What it means today."/>
          <p:cNvGraphicFramePr>
            <a:graphicFrameLocks noGrp="1"/>
          </p:cNvGraphicFramePr>
          <p:nvPr/>
        </p:nvGraphicFramePr>
        <p:xfrm>
          <a:off x="548640" y="155448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r>
                        <a:rPr sz="1800" b="1" lang="en-US">
                          <a:latin typeface="Arial"/>
                        </a:rPr>
                        <a:t>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 lang="en-US">
                          <a:latin typeface="Arial"/>
                        </a:rPr>
                        <a:t>What it means today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800" b="0" lang="en-US">
                          <a:latin typeface="Arial"/>
                        </a:rPr>
                        <a:t>Browser path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800" b="0" lang="en-US">
                          <a:latin typeface="Arial"/>
                        </a:rPr>
                        <a:t>Doing the day in ChatGPT, Copilot on github.com, Claude, Gemini or your campus assistant, by pasting one text per block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800" b="0" lang="en-US">
                          <a:latin typeface="Arial"/>
                        </a:rPr>
                        <a:t>Accessible View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800" b="0" lang="en-US">
                          <a:latin typeface="Arial"/>
                        </a:rPr>
                        <a:t>A plain-text copy of Copilot's last answer that a screen reader reads line by line. Alt+F2 on Windows, Option+F2 on a Mac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800" b="0" lang="en-US">
                          <a:latin typeface="Arial"/>
                        </a:rPr>
                        <a:t>Checker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800" b="0" lang="en-US">
                          <a:latin typeface="Arial"/>
                        </a:rPr>
                        <a:t>A tool that finds barriers in a file: GLOW, axe, Accessibility Insights, or Word's, PowerPoint's and Acrobat's own checkers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About this document (5 of 8)</a:t>
            </a:r>
          </a:p>
        </p:txBody>
      </p:sp>
      <p:graphicFrame>
        <p:nvGraphicFramePr>
          <p:cNvPr id="3" name="Table 2" descr="Table: About this document. Columns: Word, What it means today."/>
          <p:cNvGraphicFramePr>
            <a:graphicFrameLocks noGrp="1"/>
          </p:cNvGraphicFramePr>
          <p:nvPr/>
        </p:nvGraphicFramePr>
        <p:xfrm>
          <a:off x="548640" y="155448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r>
                        <a:rPr sz="1800" b="1" lang="en-US">
                          <a:latin typeface="Arial"/>
                        </a:rPr>
                        <a:t>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 lang="en-US">
                          <a:latin typeface="Arial"/>
                        </a:rPr>
                        <a:t>What it means today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800" b="0" lang="en-US">
                          <a:latin typeface="Arial"/>
                        </a:rPr>
                        <a:t>Evidence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800" b="0" lang="en-US">
                          <a:latin typeface="Arial"/>
                        </a:rPr>
                        <a:t>A checker's report, the text of a document, or what you tell the agent. An agent works only from evidence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800" b="0" lang="en-US">
                          <a:latin typeface="Arial"/>
                        </a:rPr>
                        <a:t>Grounded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800" b="0" lang="en-US">
                          <a:latin typeface="Arial"/>
                        </a:rPr>
                        <a:t>An agent that answers from evidence and cites WCAG 2.2, rather than guessing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800" b="0" lang="en-US">
                          <a:latin typeface="Arial"/>
                        </a:rPr>
                        <a:t>WCAG 2.2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800" b="0" lang="en-US">
                          <a:latin typeface="Arial"/>
                        </a:rPr>
                        <a:t>The Web Content Accessibility Guidelines, the W3C standard every workshop agent cites by criterion number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About this document (6 of 8)</a:t>
            </a:r>
          </a:p>
        </p:txBody>
      </p:sp>
      <p:graphicFrame>
        <p:nvGraphicFramePr>
          <p:cNvPr id="3" name="Table 2" descr="Table: About this document. Columns: Word, What it means today."/>
          <p:cNvGraphicFramePr>
            <a:graphicFrameLocks noGrp="1"/>
          </p:cNvGraphicFramePr>
          <p:nvPr/>
        </p:nvGraphicFramePr>
        <p:xfrm>
          <a:off x="548640" y="155448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r>
                        <a:rPr sz="1800" b="1" lang="en-US">
                          <a:latin typeface="Arial"/>
                        </a:rPr>
                        <a:t>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 lang="en-US">
                          <a:latin typeface="Arial"/>
                        </a:rPr>
                        <a:t>What it means today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800" b="0" lang="en-US">
                          <a:latin typeface="Arial"/>
                        </a:rPr>
                        <a:t>Human review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800" b="0" lang="en-US">
                          <a:latin typeface="Arial"/>
                        </a:rPr>
                        <a:t>The section of every agent that names who checks its work before anything goes out, and what they check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800" b="0" lang="en-US">
                          <a:latin typeface="Arial"/>
                        </a:rPr>
                        <a:t>Version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800" b="0" lang="en-US">
                          <a:latin typeface="Arial"/>
                        </a:rPr>
                        <a:t>Each time you change your agent by one thing, it gets the next number. You make versions 1 to 4 today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800" b="0" lang="en-US">
                          <a:latin typeface="Arial"/>
                        </a:rPr>
                        <a:t>Specialist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800" b="0" lang="en-US">
                          <a:latin typeface="Arial"/>
                        </a:rPr>
                        <a:t>An agent that does one kind of file or one kind of check, such as Word documents or plain language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About this document (7 of 8)</a:t>
            </a:r>
          </a:p>
        </p:txBody>
      </p:sp>
      <p:graphicFrame>
        <p:nvGraphicFramePr>
          <p:cNvPr id="3" name="Table 2" descr="Table: About this document. Columns: Word, What it means today."/>
          <p:cNvGraphicFramePr>
            <a:graphicFrameLocks noGrp="1"/>
          </p:cNvGraphicFramePr>
          <p:nvPr/>
        </p:nvGraphicFramePr>
        <p:xfrm>
          <a:off x="548640" y="155448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r>
                        <a:rPr sz="1800" b="1" lang="en-US">
                          <a:latin typeface="Arial"/>
                        </a:rPr>
                        <a:t>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 lang="en-US">
                          <a:latin typeface="Arial"/>
                        </a:rPr>
                        <a:t>What it means today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800" b="0" lang="en-US">
                          <a:latin typeface="Arial"/>
                        </a:rPr>
                        <a:t>Coordinator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800" b="0" lang="en-US">
                          <a:latin typeface="Arial"/>
                        </a:rPr>
                        <a:t>The agent that sends each course file to the right specialists and writes one team report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800" b="0" lang="en-US">
                          <a:latin typeface="Arial"/>
                        </a:rPr>
                        <a:t>The office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800" b="0" lang="en-US">
                          <a:latin typeface="Arial"/>
                        </a:rPr>
                        <a:t>Today's team: the coordinator, eight specialists, and your agent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800" b="0" lang="en-US">
                          <a:latin typeface="Arial"/>
                        </a:rPr>
                        <a:t>Accessibility Agents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800" b="0" lang="en-US">
                          <a:latin typeface="Arial"/>
                        </a:rPr>
                        <a:t>The open-source project of 113 skills your agent joins at the end of the day. It is already in the kit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About this document (8 of 8)</a:t>
            </a:r>
          </a:p>
        </p:txBody>
      </p:sp>
      <p:graphicFrame>
        <p:nvGraphicFramePr>
          <p:cNvPr id="3" name="Table 2" descr="Table: About this document. Columns: Word, What it means today."/>
          <p:cNvGraphicFramePr>
            <a:graphicFrameLocks noGrp="1"/>
          </p:cNvGraphicFramePr>
          <p:nvPr/>
        </p:nvGraphicFramePr>
        <p:xfrm>
          <a:off x="548640" y="1554480"/>
          <a:ext cx="110642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r>
                        <a:rPr sz="1800" b="1" lang="en-US">
                          <a:latin typeface="Arial"/>
                        </a:rPr>
                        <a:t>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 lang="en-US">
                          <a:latin typeface="Arial"/>
                        </a:rPr>
                        <a:t>What it means today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800" b="0" lang="en-US">
                          <a:latin typeface="Arial"/>
                        </a:rPr>
                        <a:t>The collection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800" b="0" lang="en-US">
                          <a:latin typeface="Arial"/>
                        </a:rPr>
                        <a:t>The AHG 2026 folder on GitHub where every shared agent goes, each one committed in its author's name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800" b="0" lang="en-US">
                          <a:latin typeface="Arial"/>
                        </a:rPr>
                        <a:t>Open source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800" b="0" lang="en-US">
                          <a:latin typeface="Arial"/>
                        </a:rPr>
                        <a:t>Work anyone may read, use and improve, here under the MIT licence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The two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1. </a:t>
            </a:r>
            <a:r>
              <a:rPr sz="2000" b="0" lang="en-US">
                <a:latin typeface="Arial"/>
              </a:rPr>
              <a:t>Never paste anything private into any AI: student records, health or disability information, or anyone's name.</a:t>
            </a:r>
          </a:p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2. </a:t>
            </a:r>
            <a:r>
              <a:rPr sz="2000" b="0" lang="en-US">
                <a:latin typeface="Arial"/>
              </a:rPr>
              <a:t>Agents draft. People decide. Every agent ends with a named person checking its work.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Words used today</dc:title>
  <dc:subject>A glossary of the words used in the AHG 2026 Accessibility Agents workshop.</dc:subject>
  <dc:creator>Jeff Bishop, BITS</dc:creator>
  <cp:keywords/>
  <dc:description>generated using python-pptx</dc:description>
  <cp:lastModifiedBy>Jeff Bishop, BITS</cp:lastModifiedBy>
  <cp:revision>1</cp:revision>
  <dcterms:created xsi:type="dcterms:W3CDTF">2026-10-01T12:00:00Z</dcterms:created>
  <dcterms:modified xsi:type="dcterms:W3CDTF">2026-10-01T12:00:00Z</dcterms:modified>
  <cp:category/>
  <dc:language>en-US</dc:language>
</cp:coreProperties>
</file>