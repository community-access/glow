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[Accessing Higher Ground 2026]</a:t>
            </a:r>
          </a:p>
          <a:p/>
          <a:p>
            <a:r>
              <a:t>The proctor introduces the session. Put the microphone on before you say a word, and keep it on all day: when someone speaks from the floor, pass them a mic or repeat what they said into yours before you answer.</a:t>
            </a:r>
          </a:p>
          <a:p/>
          <a:p>
            <a:r>
              <a:t>Say the key point before any logistics, in one sentence: accessibility in higher education does not scale by fixing, it scales by making more people who can, and agents are how one person's know-how reaches a whole course.</a:t>
            </a:r>
          </a:p>
          <a:p/>
          <a:p>
            <a:r>
              <a:t>Describe the slide: the title, the subtitle from the program, and one sentence promising what they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a:t>
            </a:r>
          </a:p>
          <a:p/>
          <a:p>
            <a:r>
              <a:t>Ask, warmly: who here has a backlog? Who has a spreadsheet with the word final in its name more than once? Let the laugh happen; it is recognition, not mockery.</a:t>
            </a:r>
          </a:p>
          <a:p/>
          <a:p>
            <a:r>
              <a:t>Title II's rule points to WCAG 2.1 AA; 2.2 is the current standard and includes everything 2.1 does. The Department of Justice's interim final rule of 20 April 2026 moved the dates to 26 April 2027 for entities of 50,000 people or more and 26 April 2028 for smaller ones (ada.gov, the web rule page). Check that page the week before in case the dates move again. Say it once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will be at 4:00]</a:t>
            </a:r>
          </a:p>
          <a:p/>
          <a:p>
            <a:r>
              <a:t>Read the table out loud, row by row. It is the destination; people relax when they can see it.</a:t>
            </a:r>
          </a:p>
          <a:p/>
          <a:p>
            <a:r>
              <a:t>Maria is a colleague in a disability resource center. She is fictional, and she is one step ahead of the room all 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for today]</a:t>
            </a:r>
          </a:p>
          <a:p/>
          <a:p>
            <a:r>
              <a:t>Read all seven, slowly. This list comes back at the start of every block with one step marked, so nobody ever wonders where we are.</a:t>
            </a:r>
          </a:p>
          <a:p/>
          <a:p>
            <a:r>
              <a:t>Then read the six outcomes once. They come back at 4:15, when everyone's 30-day plan reads them back with what they made today.</a:t>
            </a:r>
          </a:p>
          <a:p/>
          <a:p>
            <a:r>
              <a:t>Promise them out loud: every step has a finished example to fall back on. Nobody gets stuck and stays stuck.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[Housekeeping]</a:t>
            </a:r>
          </a:p>
          <a:p/>
          <a:p>
            <a:r>
              <a:t>Name the exits and the restrooms, physically pointing.</a:t>
            </a:r>
          </a:p>
          <a:p/>
          <a:p>
            <a:r>
              <a:t>Say the last bullet slowly, then add: that is not an interruption of this workshop - it is this workshop.</a:t>
            </a:r>
          </a:p>
          <a:p/>
          <a:p>
            <a:r>
              <a:t>If anyone is not set up, do not wait for them. Helpers sit with them while the room carries on; the morning is designed so they catch up by lunch.</a:t>
            </a:r>
          </a:p>
          <a:p/>
          <a:p>
            <a:r>
              <a:t>Say the three paths once: VS Code on a laptop, VS Code for the Web at vscode.dev, or the browser path with ChatGPT or another assistant at letitglow.app/ahg/assistant. Same blocks, same agent, same share. Anyone whose VS Code will not cooperate moves to the browser path and loses nothing.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all day]</a:t>
            </a:r>
          </a:p>
          <a:p/>
          <a:p>
            <a:r>
              <a:t>Set the AI context here, in under a minute. What today covers: agents that analyze course content, find barriers and draft fixes, grounded in checkers and cited standards. What it does not: replacing anyone, or trusting any answer without evidence.</a:t>
            </a:r>
          </a:p>
          <a:p/>
          <a:p>
            <a:r>
              <a:t>Say what makes it different from the other AI sessions this week: it is about higher education accessibility work at scale, built by the people who do that work, and every agent is open source.</a:t>
            </a:r>
          </a:p>
          <a:p/>
          <a:p>
            <a:r>
              <a:t>Name the reasons people hesitate - privacy, accuracy, other people's jobs - once, without dwelling. Rule one answers the first. Grounding answers the second. Rule two answers the third.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code, really]</a:t>
            </a:r>
          </a:p>
          <a:p/>
          <a:p>
            <a:r>
              <a:t>This is the slide that lowers the shoulders. Say it twice: if you can write instructions for a new colleague, you can write an agent.</a:t>
            </a:r>
          </a:p>
          <a:p/>
          <a:p>
            <a:r>
              <a:t>The file format is the same one the open-source Accessibility Agents project uses, which is why their agents and yours can work in the same team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in action]</a:t>
            </a:r>
          </a:p>
          <a:p/>
          <a:p>
            <a:r>
              <a:t>Read the specialists down the list. Pause on the last row: the team has an empty chair, and it is theirs.</a:t>
            </a:r>
          </a:p>
          <a:p/>
          <a:p>
            <a:r>
              <a:t>These specialists are adapted from the open-source Accessibility Agents project. That is where their agents go this afternoon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2 of 7 - 10:50-11:40 - 50 minutes]</a:t>
            </a:r>
          </a:p>
          <a:p/>
          <a:p>
            <a:r>
              <a:t>Say where we are on the journey: step 2 of 7, "Your agent: six plain-English answers." Then show what they will have at the end of this block before anyone starts.</a:t>
            </a:r>
          </a:p>
          <a:p/>
          <a:p>
            <a:r>
              <a:t>Every card has two ready-made agents in examples/agents. Nobody starts from a blank page; everybody starts from something that already works and makes it theirs.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me first]</a:t>
            </a:r>
          </a:p>
          <a:p/>
          <a:p>
            <a:r>
              <a:t>Read Maria's answers aloud. Then type /design-my-agent in Copilot Chat on the projector and answer as Maria, so they hear the whole conversation once before they have theirs.</a:t>
            </a:r>
          </a:p>
          <a:p/>
          <a:p>
            <a:r>
              <a:t>Say that the browser path is the same conversation: the block 2 text from letitglow.app/ahg/assistant pasted into ChatGPT asks the same questions in the same order.</a:t>
            </a:r>
          </a:p>
          <a:p/>
          <a:p>
            <a:r>
              <a:t>Joke if the room is warm: Maria's coffee machine has been out of order since August. Her agent does not drink coffee, which is its main advantage.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turn]</a:t>
            </a:r>
          </a:p>
          <a:p/>
          <a:p>
            <a:r>
              <a:t>Helpers move now. Look for the person who has not typed anything yet, and sit with them quietly.</a:t>
            </a:r>
          </a:p>
          <a:p/>
          <a:p>
            <a:r>
              <a:t>Step card 2 has every key and every expected screen in words, for screen reader users and anyone who prefers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3 of 7 - 11:40-12:15 - 35 minutes]</a:t>
            </a:r>
          </a:p>
          <a:p/>
          <a:p>
            <a:r>
              <a:t>Say where we are on the journey: step 3 of 7, "Your agent at work: your AI uses it on one course document, and you revise it." Then show what they will have at the end of this block before anyone starts.</a:t>
            </a:r>
          </a:p>
          <a:p/>
          <a:p>
            <a:r>
              <a:t>PSY 101 is fictional: a course about memory and procrastination that keeps forgetting things and running late. The barriers in it are planted on purpose; the answer key is in the facilitator folder.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me]</a:t>
            </a:r>
          </a:p>
          <a:p/>
          <a:p>
            <a:r>
              <a:t>Read the quote in a confident voice, then the three problems in a normal one. The contrast is the joke, and the lesson.</a:t>
            </a:r>
          </a:p>
          <a:p/>
          <a:p>
            <a:r>
              <a:t>This is a written example, labelled as one in the kit. On the day, show a real first answer from the room if someone offers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[Lunch - 12:15-1:15]</a:t>
            </a:r>
          </a:p>
          <a:p/>
          <a:p>
            <a:r>
              <a:t>Say well done, and mean it. Most people in this room had never written an agent at 10:30.</a:t>
            </a:r>
          </a:p>
          <a:p/>
          <a:p>
            <a:r>
              <a:t>Anyone still setting up: lunch is when a helper finishes it with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4 of 7 - 1:15-2:05 - 50 minutes]</a:t>
            </a:r>
          </a:p>
          <a:p/>
          <a:p>
            <a:r>
              <a:t>Say where we are on the journey: step 4 of 7, "Your agent, grounded: real evidence in, cited answers out." Then show what they will have at the end of this block before anyone starts.</a:t>
            </a:r>
          </a:p>
          <a:p/>
          <a:p>
            <a:r>
              <a:t>Grounding is the trusted in the session title. The checkers find; the agent explains and plans; a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me]</a:t>
            </a:r>
          </a:p>
          <a:p/>
          <a:p>
            <a:r>
              <a:t>Read both columns, row by row.</a:t>
            </a:r>
          </a:p>
          <a:p/>
          <a:p>
            <a:r>
              <a:t>Then ask one volunteer to read their own before and after. One is enough, and applaud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skill, not the tool]</a:t>
            </a:r>
          </a:p>
          <a:p/>
          <a:p>
            <a:r>
              <a:t>If Word is handy, show Review, then Check Accessibility on the syllabus, and paste its results into Copilot with the agent. Same skill, different tool.</a:t>
            </a:r>
          </a:p>
          <a:p/>
          <a:p>
            <a:r>
              <a:t>Those four barriers are why every agent has a human review step. Read each one; the room will recognise every one of them from their own campus.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 minutes]</a:t>
            </a:r>
          </a:p>
          <a:p/>
          <a:p>
            <a:r>
              <a:t>Short break on purpose. The next two blocks are where the day comes together.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5 of 7 - 2:15-3:05 - 50 minutes]</a:t>
            </a:r>
          </a:p>
          <a:p/>
          <a:p>
            <a:r>
              <a:t>Say where we are on the journey: step 5 of 7, "Your agent in the team: the whole course, at once." Then show what they will have at the end of this block before anyone starts.</a:t>
            </a:r>
          </a:p>
          <a:p/>
          <a:p>
            <a:r>
              <a:t>This is building an agent team: they added a specialist, and their coordinator is running it. Copilot announces each file as it finishes, so screen reader users hear progress, not silence.</a:t>
            </a:r>
          </a:p>
          <a:p/>
          <a:p>
            <a:r>
              <a:t>On the browser path the same coordinator and specialists travel inside the block 5 text, so ChatGPT or any assistant runs the same team. If an assistant stops part way, type continue.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scale looks like]</a:t>
            </a:r>
          </a:p>
          <a:p/>
          <a:p>
            <a:r>
              <a:t>Ask: what would it take to run this across ten courses? Let them answer. The honest answer is a person's review time, which is exactly where it should 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thing]</a:t>
            </a:r>
          </a:p>
          <a:p/>
          <a:p>
            <a:r>
              <a:t>Fifteen minutes, on the projector, in VS Code with the kit open. Start a new chat and ask: use document-accessibility-wizard to review the PSY 101 course, using the files in sample-course/evidence.</a:t>
            </a:r>
          </a:p>
          <a:p/>
          <a:p>
            <a:r>
              <a:t>Point out that the skills that need scanners say so and ask for checker results, as accessibility-agents-in-the-kit.md explains. Never let it claim a scan it did not run.</a:t>
            </a:r>
          </a:p>
          <a:p/>
          <a:p>
            <a:r>
              <a:t>Close with: your agent goes into this project tonight, credited to you. That is the next block.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6 of 7 - 3:05-3:40 - 35 minutes]</a:t>
            </a:r>
          </a:p>
          <a:p/>
          <a:p>
            <a:r>
              <a:t>Say where we are on the journey: step 6 of 7, "Your agent, shared: your best version, in an open-source collection, with your name on it." Then show what they will have at the end of this block before anyone starts.</a:t>
            </a:r>
          </a:p>
          <a:p/>
          <a:p>
            <a:r>
              <a:t>Everyone shared a practice agent before the day, so this is the second time, not the first. Say so; it changes the room.</a:t>
            </a:r>
          </a:p>
          <a:p/>
          <a:p>
            <a:r>
              <a:t>Helpers watch the issues labelled needs-a-hand and go to those people first. A Nearly there reply always says exactly what to 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source, live]</a:t>
            </a:r>
          </a:p>
          <a:p/>
          <a:p>
            <a:r>
              <a:t>Project agents/README.md in github.com/Community-Access/ahg-2026 and refresh it as agents arrive. Read each name and agent title out loud. Applause is allowed and encouraged.</a:t>
            </a:r>
          </a:p>
          <a:p/>
          <a:p>
            <a:r>
              <a:t>Each agent is committed in its author's name, so it shows on their own GitHub profile. Started from a ready-made agent? It still counts. Say so: what matters is that it is yours now.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in action]</a:t>
            </a:r>
          </a:p>
          <a:p/>
          <a:p>
            <a:r>
              <a:t>Last thing in this block. Copy every agents/&lt;login&gt;/&lt;name&gt;/ folder from the ahg-2026 repository into a room/ folder in your kit, then run /run-the-office on the projector. Read out each agent's name as the coordinator calls it.</a:t>
            </a:r>
          </a:p>
          <a:p/>
          <a:p>
            <a:r>
              <a:t>If the run is slow, narrate it. If it stumbles, say what happened and why; a real failure explained well teaches more than a perfect demo.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7 of 7 - 3:40-4:15 - 35 minutes]</a:t>
            </a:r>
          </a:p>
          <a:p/>
          <a:p>
            <a:r>
              <a:t>Say where we are on the journey: step 7 of 7, "Your campus: a 30-day plan." Then show what they will have at the end of this block before anyone starts.</a:t>
            </a:r>
          </a:p>
          <a:p/>
          <a:p>
            <a:r>
              <a:t>Small is the point. "Run the planner on the next five requests" beats "transform our office".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a:t>
            </a:r>
          </a:p>
          <a:p/>
          <a:p>
            <a:r>
              <a:t>Project the wall from GLOW. Read three aloud. Do not comment on them, do not rank them.</a:t>
            </a:r>
          </a:p>
          <a:p/>
          <a:p>
            <a:r>
              <a:t>Then go straight to the evaluation. The last five minutes belong to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[4:25 - Thank you]</a:t>
            </a:r>
          </a:p>
          <a:p/>
          <a:p>
            <a:r>
              <a:t>Say it, thank them, and hand over to the proctor for the evaluation. Then stop talking while people fill it in.</a:t>
            </a:r>
          </a:p>
          <a:p/>
          <a:p>
            <a:r>
              <a:t>No question block here. Answer at the tables while people pack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Accessibility Agents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Accessing Higher Ground 2026</a:t>
            </a:r>
          </a:p>
          <a:p>
            <a:pPr marL="0" indent="0">
              <a:buNone/>
            </a:pPr>
            <a:r>
              <a:rPr sz="2400" b="0">
                <a:latin typeface="Arial"/>
              </a:rPr>
              <a:t>Building Human-Centered AI Workflows for Trusted Accessibility Automation at Scale</a:t>
            </a:r>
          </a:p>
          <a:p>
            <a:pPr marL="0" indent="0">
              <a:buNone/>
            </a:pPr>
            <a:r>
              <a:rPr sz="2000" b="0">
                <a:latin typeface="Arial"/>
              </a:rPr>
              <a:t>Today you build an accessibility agent. By four o'clock it is part of a team, and part of an open-source project, with your name on it.</a:t>
            </a:r>
          </a:p>
          <a:p>
            <a:pPr marL="0" indent="0">
              <a:buNone/>
            </a:pPr>
            <a:r>
              <a:rPr sz="2000" b="0">
                <a:latin typeface="Arial"/>
              </a:rPr>
              <a:t>Jeff Bishop - BITS, an affiliate of the American Council of the Blind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Forty thousand files and three people</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problem</a:t>
            </a:r>
          </a:p>
          <a:p>
            <a:pPr marL="0" indent="0">
              <a:buNone/>
            </a:pPr>
            <a:r>
              <a:rPr sz="2000" b="0">
                <a:latin typeface="Arial"/>
              </a:rPr>
              <a:t>WCAG 2.2 is the current standard. Title II requires WCAG 2.1 AA of public colleges and universities, from April 2027 for most.</a:t>
            </a:r>
          </a:p>
          <a:p>
            <a:pPr marL="0" indent="0">
              <a:buNone/>
            </a:pPr>
            <a:r>
              <a:rPr sz="2000" b="0">
                <a:latin typeface="Arial"/>
              </a:rPr>
              <a:t>Every syllabus, slide deck, scanned reading and course page is in scope, and most of them are documents, not web pages.</a:t>
            </a:r>
          </a:p>
          <a:p>
            <a:pPr marL="0" indent="0">
              <a:buNone/>
            </a:pPr>
            <a:r>
              <a:rPr sz="2800" b="1">
                <a:latin typeface="Arial"/>
              </a:rPr>
              <a:t>Nobody fixes that by working harder. The question is how to scale without losing quality, accountability or trust.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finished result, first</a:t>
            </a:r>
          </a:p>
        </p:txBody>
      </p:sp>
      <p:sp>
        <p:nvSpPr>
          <p:cNvPr id="3" name="TextBox 2"/>
          <p:cNvSpPr txBox="1"/>
          <p:nvPr/>
        </p:nvSpPr>
        <p:spPr>
          <a:xfrm>
            <a:off x="548640" y="1463040"/>
            <a:ext cx="11064240" cy="1645920"/>
          </a:xfrm>
          <a:prstGeom prst="rect">
            <a:avLst/>
          </a:prstGeom>
          <a:noFill/>
        </p:spPr>
        <p:txBody>
          <a:bodyPr wrap="square">
            <a:spAutoFit/>
          </a:bodyPr>
          <a:lstStyle/>
          <a:p>
            <a:r>
              <a:rPr sz="1800">
                <a:latin typeface="Arial"/>
              </a:rPr>
              <a:t>Where we will be at 4:00</a:t>
            </a:r>
          </a:p>
          <a:p>
            <a:r>
              <a:rPr sz="1800">
                <a:latin typeface="Arial"/>
              </a:rPr>
              <a:t>This afternoon a team of agents works through a whole course and writes one report. Every finding has its evidence, its WCAG criterion, and a named person who checks it.</a:t>
            </a:r>
          </a:p>
          <a:p>
            <a:r>
              <a:rPr sz="1800">
                <a:latin typeface="Arial"/>
              </a:rPr>
              <a:t>You will build one of the agents that writes a section like this.</a:t>
            </a:r>
          </a:p>
          <a:p>
            <a:r>
              <a:rPr sz="1800">
                <a:latin typeface="Arial"/>
              </a:rPr>
              <a:t>One section of that report, from Maria's agent:</a:t>
            </a:r>
          </a:p>
        </p:txBody>
      </p:sp>
      <p:graphicFrame>
        <p:nvGraphicFramePr>
          <p:cNvPr id="4" name="Table 3" descr="One section of that report, from Maria's agent:"/>
          <p:cNvGraphicFramePr>
            <a:graphicFrameLocks noGrp="1"/>
          </p:cNvGraphicFramePr>
          <p:nvPr/>
        </p:nvGraphicFramePr>
        <p:xfrm>
          <a:off x="548640" y="3383280"/>
          <a:ext cx="11064240" cy="27432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a:latin typeface="Arial"/>
                        </a:rPr>
                        <a:t>Part</a:t>
                      </a:r>
                    </a:p>
                  </a:txBody>
                  <a:tcPr/>
                </a:tc>
                <a:tc>
                  <a:txBody>
                    <a:bodyPr/>
                    <a:lstStyle/>
                    <a:p>
                      <a:r>
                        <a:rPr sz="1800" b="1">
                          <a:latin typeface="Arial"/>
                        </a:rPr>
                        <a:t>What it says</a:t>
                      </a:r>
                    </a:p>
                  </a:txBody>
                  <a:tcPr/>
                </a:tc>
              </a:tr>
              <a:tr h="457200">
                <a:tc>
                  <a:txBody>
                    <a:bodyPr/>
                    <a:lstStyle/>
                    <a:p>
                      <a:r>
                        <a:rPr sz="1800">
                          <a:latin typeface="Arial"/>
                        </a:rPr>
                        <a:t>File</a:t>
                      </a:r>
                    </a:p>
                  </a:txBody>
                  <a:tcPr/>
                </a:tc>
                <a:tc>
                  <a:txBody>
                    <a:bodyPr/>
                    <a:lstStyle/>
                    <a:p>
                      <a:r>
                        <a:rPr sz="1800">
                          <a:latin typeface="Arial"/>
                        </a:rPr>
                        <a:t>The scanned required reading</a:t>
                      </a:r>
                    </a:p>
                  </a:txBody>
                  <a:tcPr/>
                </a:tc>
              </a:tr>
              <a:tr h="457200">
                <a:tc>
                  <a:txBody>
                    <a:bodyPr/>
                    <a:lstStyle/>
                    <a:p>
                      <a:r>
                        <a:rPr sz="1800">
                          <a:latin typeface="Arial"/>
                        </a:rPr>
                        <a:t>Routed to</a:t>
                      </a:r>
                    </a:p>
                  </a:txBody>
                  <a:tcPr/>
                </a:tc>
                <a:tc>
                  <a:txBody>
                    <a:bodyPr/>
                    <a:lstStyle/>
                    <a:p>
                      <a:r>
                        <a:rPr sz="1800">
                          <a:latin typeface="Arial"/>
                        </a:rPr>
                        <a:t>Alternate format planner, by Maria Alvarez</a:t>
                      </a:r>
                    </a:p>
                  </a:txBody>
                  <a:tcPr/>
                </a:tc>
              </a:tr>
              <a:tr h="457200">
                <a:tc>
                  <a:txBody>
                    <a:bodyPr/>
                    <a:lstStyle/>
                    <a:p>
                      <a:r>
                        <a:rPr sz="1800">
                          <a:latin typeface="Arial"/>
                        </a:rPr>
                        <a:t>Evidence</a:t>
                      </a:r>
                    </a:p>
                  </a:txBody>
                  <a:tcPr/>
                </a:tc>
                <a:tc>
                  <a:txBody>
                    <a:bodyPr/>
                    <a:lstStyle/>
                    <a:p>
                      <a:r>
                        <a:rPr sz="1800">
                          <a:latin typeface="Arial"/>
                        </a:rPr>
                        <a:t>GLOW audit: pictures of text, no text layer, untagged</a:t>
                      </a:r>
                    </a:p>
                  </a:txBody>
                  <a:tcPr/>
                </a:tc>
              </a:tr>
              <a:tr h="457200">
                <a:tc>
                  <a:txBody>
                    <a:bodyPr/>
                    <a:lstStyle/>
                    <a:p>
                      <a:r>
                        <a:rPr sz="1800">
                          <a:latin typeface="Arial"/>
                        </a:rPr>
                        <a:t>Plan</a:t>
                      </a:r>
                    </a:p>
                  </a:txBody>
                  <a:tcPr/>
                </a:tc>
                <a:tc>
                  <a:txBody>
                    <a:bodyPr/>
                    <a:lstStyle/>
                    <a:p>
                      <a:r>
                        <a:rPr sz="1800">
                          <a:latin typeface="Arial"/>
                        </a:rPr>
                        <a:t>Get a clean source, then large print and audio, and post it for every student</a:t>
                      </a:r>
                    </a:p>
                  </a:txBody>
                  <a:tcPr/>
                </a:tc>
              </a:tr>
              <a:tr h="457200">
                <a:tc>
                  <a:txBody>
                    <a:bodyPr/>
                    <a:lstStyle/>
                    <a:p>
                      <a:r>
                        <a:rPr sz="1800">
                          <a:latin typeface="Arial"/>
                        </a:rPr>
                        <a:t>Reviewer</a:t>
                      </a:r>
                    </a:p>
                  </a:txBody>
                  <a:tcPr/>
                </a:tc>
                <a:tc>
                  <a:txBody>
                    <a:bodyPr/>
                    <a:lstStyle/>
                    <a:p>
                      <a:r>
                        <a:rPr sz="1800">
                          <a:latin typeface="Arial"/>
                        </a:rPr>
                        <a:t>Alternate format specialist. Status: proposed</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journey</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map for today</a:t>
            </a:r>
          </a:p>
          <a:p>
            <a:pPr lvl="1">
              <a:buNone/>
            </a:pPr>
            <a:r>
              <a:rPr sz="2000" b="0">
                <a:latin typeface="Arial"/>
              </a:rPr>
              <a:t>1. The problem: a course full of barriers, and a team too small.</a:t>
            </a:r>
          </a:p>
          <a:p>
            <a:pPr lvl="1">
              <a:buNone/>
            </a:pPr>
            <a:r>
              <a:rPr sz="2000" b="0">
                <a:latin typeface="Arial"/>
              </a:rPr>
              <a:t>2. Your agent: six plain-English answers.</a:t>
            </a:r>
          </a:p>
          <a:p>
            <a:pPr lvl="1">
              <a:buNone/>
            </a:pPr>
            <a:r>
              <a:rPr sz="2000" b="0">
                <a:latin typeface="Arial"/>
              </a:rPr>
              <a:t>3. Your agent at work: your AI uses it on one course document, and you revise it.</a:t>
            </a:r>
          </a:p>
          <a:p>
            <a:pPr lvl="1">
              <a:buNone/>
            </a:pPr>
            <a:r>
              <a:rPr sz="2000" b="0">
                <a:latin typeface="Arial"/>
              </a:rPr>
              <a:t>4. Your agent, grounded: real evidence in, cited answers out.</a:t>
            </a:r>
          </a:p>
          <a:p>
            <a:pPr lvl="1">
              <a:buNone/>
            </a:pPr>
            <a:r>
              <a:rPr sz="2000" b="0">
                <a:latin typeface="Arial"/>
              </a:rPr>
              <a:t>5. Your agent in the team: the whole course, at once.</a:t>
            </a:r>
          </a:p>
          <a:p>
            <a:pPr lvl="1">
              <a:buNone/>
            </a:pPr>
            <a:r>
              <a:rPr sz="2000" b="0">
                <a:latin typeface="Arial"/>
              </a:rPr>
              <a:t>6. Your agent, shared: your best version, in an open-source collection, with your name on it.</a:t>
            </a:r>
          </a:p>
          <a:p>
            <a:pPr lvl="1">
              <a:buNone/>
            </a:pPr>
            <a:r>
              <a:rPr sz="2000" b="0">
                <a:latin typeface="Arial"/>
              </a:rPr>
              <a:t>7. Your campus: a 30-day plan.</a:t>
            </a:r>
          </a:p>
          <a:p>
            <a:pPr marL="0" indent="0">
              <a:buNone/>
            </a:pPr>
            <a:r>
              <a:rPr sz="2000" b="0">
                <a:latin typeface="Arial"/>
              </a:rPr>
              <a:t>By 4:30 you will be able to:</a:t>
            </a:r>
          </a:p>
          <a:p>
            <a:pPr lvl="1"/>
            <a:r>
              <a:rPr sz="2000" b="0">
                <a:latin typeface="Arial"/>
              </a:rPr>
              <a:t>Describe an accessibility task as an agent.</a:t>
            </a:r>
          </a:p>
          <a:p>
            <a:pPr lvl="1"/>
            <a:r>
              <a:rPr sz="2000" b="0">
                <a:latin typeface="Arial"/>
              </a:rPr>
              <a:t>Ground an agent's answers in checker evidence, citing WCAG 2.2.</a:t>
            </a:r>
          </a:p>
          <a:p>
            <a:pPr lvl="1"/>
            <a:r>
              <a:rPr sz="2000" b="0">
                <a:latin typeface="Arial"/>
              </a:rPr>
              <a:t>Name what no checker finds, and write the review step that catches it.</a:t>
            </a:r>
          </a:p>
          <a:p>
            <a:pPr lvl="1"/>
            <a:r>
              <a:rPr sz="2000" b="0">
                <a:latin typeface="Arial"/>
              </a:rPr>
              <a:t>Explain how a team of specialists and a coordinator scales the work.</a:t>
            </a:r>
          </a:p>
          <a:p>
            <a:pPr lvl="1"/>
            <a:r>
              <a:rPr sz="2000" b="0">
                <a:latin typeface="Arial"/>
              </a:rPr>
              <a:t>Contribute to an open-source project, credited in your name.</a:t>
            </a:r>
          </a:p>
          <a:p>
            <a:pPr lvl="1"/>
            <a:r>
              <a:rPr sz="2000" b="0">
                <a:latin typeface="Arial"/>
              </a:rPr>
              <a:t>Plan one workflow to try on your own campus in 30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How today runs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Housekeeping</a:t>
            </a:r>
          </a:p>
          <a:p>
            <a:pPr lvl="1"/>
            <a:r>
              <a:rPr sz="2000" b="0">
                <a:latin typeface="Arial"/>
              </a:rPr>
              <a:t>10:30 to 4:30 Mountain Time. Lunch at 12:15. A break at 2:05.</a:t>
            </a:r>
          </a:p>
          <a:p>
            <a:pPr lvl="1"/>
            <a:r>
              <a:rPr sz="2000" b="0">
                <a:latin typeface="Arial"/>
              </a:rPr>
              <a:t>Everything is at letitglow.app/ahg. Not set up yet? A helper is coming to you.</a:t>
            </a:r>
          </a:p>
          <a:p>
            <a:pPr lvl="1"/>
            <a:r>
              <a:rPr sz="2000" b="0">
                <a:latin typeface="Arial"/>
              </a:rPr>
              <a:t>Three paths, one day: VS Code on your laptop, VS Code at vscode.dev, or any AI assistant in your browser.</a:t>
            </a:r>
          </a:p>
          <a:p>
            <a:pPr lvl="1"/>
            <a:r>
              <a:rPr sz="2000" b="0">
                <a:latin typeface="Arial"/>
              </a:rPr>
              <a:t>Seven blocks. Every one starts by showing you the finished result.</a:t>
            </a:r>
          </a:p>
          <a:p>
            <a:pPr lvl="1"/>
            <a:r>
              <a:rPr sz="2000" b="0">
                <a:latin typeface="Arial"/>
              </a:rPr>
              <a:t>The last five minutes, at 4:25, are the session evaluation.</a:t>
            </a:r>
          </a:p>
          <a:p>
            <a:pPr lvl="1"/>
            <a:r>
              <a:rPr sz="2000" b="0">
                <a:latin typeface="Arial"/>
              </a:rPr>
              <a:t>Ask for anything, any time: large print, a seat, a pause, a repeat.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Private stays private, and people decide</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Two rules, all day</a:t>
            </a:r>
          </a:p>
          <a:p>
            <a:pPr lvl="1">
              <a:buNone/>
            </a:pPr>
            <a:r>
              <a:rPr sz="2000" b="0">
                <a:latin typeface="Arial"/>
              </a:rPr>
              <a:t>1. Never paste anything private into any AI: student records, health or disability information, anyone's name. We use a sample course all day.</a:t>
            </a:r>
          </a:p>
          <a:p>
            <a:pPr lvl="1">
              <a:buNone/>
            </a:pPr>
            <a:r>
              <a:rPr sz="2000" b="0">
                <a:latin typeface="Arial"/>
              </a:rPr>
              <a:t>2. Every agent ends with a person checking its work. Agents draft. People decide.</a:t>
            </a:r>
          </a:p>
          <a:p>
            <a:pPr marL="0" indent="0">
              <a:buNone/>
            </a:pPr>
            <a:r>
              <a:rPr sz="2800" b="1">
                <a:latin typeface="Arial"/>
              </a:rPr>
              <a:t>If nobody is named, nobody reviewed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What an agent is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No code, really</a:t>
            </a:r>
          </a:p>
          <a:p>
            <a:pPr lvl="1"/>
            <a:r>
              <a:rPr sz="2000" b="0">
                <a:latin typeface="Arial"/>
              </a:rPr>
              <a:t>Role: Who it is, and who it works for.</a:t>
            </a:r>
          </a:p>
          <a:p>
            <a:pPr lvl="1"/>
            <a:r>
              <a:rPr sz="2000" b="0">
                <a:latin typeface="Arial"/>
              </a:rPr>
              <a:t>Task: The one job it does.</a:t>
            </a:r>
          </a:p>
          <a:p>
            <a:pPr lvl="1"/>
            <a:r>
              <a:rPr sz="2000" b="0">
                <a:latin typeface="Arial"/>
              </a:rPr>
              <a:t>Trusted guidance: The standards and policies it must cite: WCAG 2.2, your own procedures.</a:t>
            </a:r>
          </a:p>
          <a:p>
            <a:pPr lvl="1"/>
            <a:r>
              <a:rPr sz="2000" b="0">
                <a:latin typeface="Arial"/>
              </a:rPr>
              <a:t>Output format: What comes back, in a shape a busy person can use.</a:t>
            </a:r>
          </a:p>
          <a:p>
            <a:pPr lvl="1"/>
            <a:r>
              <a:rPr sz="2000" b="0">
                <a:latin typeface="Arial"/>
              </a:rPr>
              <a:t>Example: One short, good answer, so it sees the shape you want.</a:t>
            </a:r>
          </a:p>
          <a:p>
            <a:pPr lvl="1"/>
            <a:r>
              <a:rPr sz="2000" b="0">
                <a:latin typeface="Arial"/>
              </a:rPr>
              <a:t>Human review: Who checks it before anything goes out.</a:t>
            </a:r>
          </a:p>
          <a:p>
            <a:pPr marL="0" indent="0">
              <a:buNone/>
            </a:pPr>
            <a:r>
              <a:rPr sz="2800" b="1">
                <a:latin typeface="Arial"/>
              </a:rPr>
              <a:t>An agent is those six answers, written in plain English. Writing one is writing, not coding.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Your accessibility office</a:t>
            </a:r>
          </a:p>
        </p:txBody>
      </p:sp>
      <p:sp>
        <p:nvSpPr>
          <p:cNvPr id="3" name="TextBox 2"/>
          <p:cNvSpPr txBox="1"/>
          <p:nvPr/>
        </p:nvSpPr>
        <p:spPr>
          <a:xfrm>
            <a:off x="548640" y="1463040"/>
            <a:ext cx="11064240" cy="822960"/>
          </a:xfrm>
          <a:prstGeom prst="rect">
            <a:avLst/>
          </a:prstGeom>
          <a:noFill/>
        </p:spPr>
        <p:txBody>
          <a:bodyPr wrap="square">
            <a:spAutoFit/>
          </a:bodyPr>
          <a:lstStyle/>
          <a:p>
            <a:r>
              <a:rPr sz="1800">
                <a:latin typeface="Arial"/>
              </a:rPr>
              <a:t>Agents in action</a:t>
            </a:r>
          </a:p>
          <a:p>
            <a:r>
              <a:rPr sz="1800">
                <a:latin typeface="Arial"/>
              </a:rPr>
              <a:t>The agent team you will join this afternoon. A coordinator routes each file to these specialists.</a:t>
            </a:r>
          </a:p>
        </p:txBody>
      </p:sp>
      <p:graphicFrame>
        <p:nvGraphicFramePr>
          <p:cNvPr id="4" name="Table 3" descr="The agent team you will join this afternoon. A coordinator routes each file to these specialists."/>
          <p:cNvGraphicFramePr>
            <a:graphicFrameLocks noGrp="1"/>
          </p:cNvGraphicFramePr>
          <p:nvPr/>
        </p:nvGraphicFramePr>
        <p:xfrm>
          <a:off x="548640" y="2560320"/>
          <a:ext cx="11064240" cy="4206240"/>
        </p:xfrm>
        <a:graphic>
          <a:graphicData uri="http://schemas.openxmlformats.org/drawingml/2006/table">
            <a:tbl>
              <a:tblPr firstRow="1" bandRow="1">
                <a:tableStyleId>{5C22544A-7EE6-4342-B048-85BDC9FD1C3A}</a:tableStyleId>
              </a:tblPr>
              <a:tblGrid>
                <a:gridCol w="5532120"/>
                <a:gridCol w="5532120"/>
              </a:tblGrid>
              <a:tr h="420624">
                <a:tc>
                  <a:txBody>
                    <a:bodyPr/>
                    <a:lstStyle/>
                    <a:p>
                      <a:r>
                        <a:rPr sz="1800" b="1">
                          <a:latin typeface="Arial"/>
                        </a:rPr>
                        <a:t>Specialist</a:t>
                      </a:r>
                    </a:p>
                  </a:txBody>
                  <a:tcPr/>
                </a:tc>
                <a:tc>
                  <a:txBody>
                    <a:bodyPr/>
                    <a:lstStyle/>
                    <a:p>
                      <a:r>
                        <a:rPr sz="1800" b="1">
                          <a:latin typeface="Arial"/>
                        </a:rPr>
                        <a:t>Takes</a:t>
                      </a:r>
                    </a:p>
                  </a:txBody>
                  <a:tcPr/>
                </a:tc>
              </a:tr>
              <a:tr h="420624">
                <a:tc>
                  <a:txBody>
                    <a:bodyPr/>
                    <a:lstStyle/>
                    <a:p>
                      <a:r>
                        <a:rPr sz="1800">
                          <a:latin typeface="Arial"/>
                        </a:rPr>
                        <a:t>Word documents</a:t>
                      </a:r>
                    </a:p>
                  </a:txBody>
                  <a:tcPr/>
                </a:tc>
                <a:tc>
                  <a:txBody>
                    <a:bodyPr/>
                    <a:lstStyle/>
                    <a:p>
                      <a:r>
                        <a:rPr sz="1800">
                          <a:latin typeface="Arial"/>
                        </a:rPr>
                        <a:t>Syllabi, handouts</a:t>
                      </a:r>
                    </a:p>
                  </a:txBody>
                  <a:tcPr/>
                </a:tc>
              </a:tr>
              <a:tr h="420624">
                <a:tc>
                  <a:txBody>
                    <a:bodyPr/>
                    <a:lstStyle/>
                    <a:p>
                      <a:r>
                        <a:rPr sz="1800">
                          <a:latin typeface="Arial"/>
                        </a:rPr>
                        <a:t>PowerPoint slides</a:t>
                      </a:r>
                    </a:p>
                  </a:txBody>
                  <a:tcPr/>
                </a:tc>
                <a:tc>
                  <a:txBody>
                    <a:bodyPr/>
                    <a:lstStyle/>
                    <a:p>
                      <a:r>
                        <a:rPr sz="1800">
                          <a:latin typeface="Arial"/>
                        </a:rPr>
                        <a:t>Lecture decks</a:t>
                      </a:r>
                    </a:p>
                  </a:txBody>
                  <a:tcPr/>
                </a:tc>
              </a:tr>
              <a:tr h="420624">
                <a:tc>
                  <a:txBody>
                    <a:bodyPr/>
                    <a:lstStyle/>
                    <a:p>
                      <a:r>
                        <a:rPr sz="1800">
                          <a:latin typeface="Arial"/>
                        </a:rPr>
                        <a:t>Excel workbooks</a:t>
                      </a:r>
                    </a:p>
                  </a:txBody>
                  <a:tcPr/>
                </a:tc>
                <a:tc>
                  <a:txBody>
                    <a:bodyPr/>
                    <a:lstStyle/>
                    <a:p>
                      <a:r>
                        <a:rPr sz="1800">
                          <a:latin typeface="Arial"/>
                        </a:rPr>
                        <a:t>Gradebooks, templates</a:t>
                      </a:r>
                    </a:p>
                  </a:txBody>
                  <a:tcPr/>
                </a:tc>
              </a:tr>
              <a:tr h="420624">
                <a:tc>
                  <a:txBody>
                    <a:bodyPr/>
                    <a:lstStyle/>
                    <a:p>
                      <a:r>
                        <a:rPr sz="1800">
                          <a:latin typeface="Arial"/>
                        </a:rPr>
                        <a:t>PDF documents</a:t>
                      </a:r>
                    </a:p>
                  </a:txBody>
                  <a:tcPr/>
                </a:tc>
                <a:tc>
                  <a:txBody>
                    <a:bodyPr/>
                    <a:lstStyle/>
                    <a:p>
                      <a:r>
                        <a:rPr sz="1800">
                          <a:latin typeface="Arial"/>
                        </a:rPr>
                        <a:t>Readings, forms, scans</a:t>
                      </a:r>
                    </a:p>
                  </a:txBody>
                  <a:tcPr/>
                </a:tc>
              </a:tr>
              <a:tr h="420624">
                <a:tc>
                  <a:txBody>
                    <a:bodyPr/>
                    <a:lstStyle/>
                    <a:p>
                      <a:r>
                        <a:rPr sz="1800">
                          <a:latin typeface="Arial"/>
                        </a:rPr>
                        <a:t>Web pages</a:t>
                      </a:r>
                    </a:p>
                  </a:txBody>
                  <a:tcPr/>
                </a:tc>
                <a:tc>
                  <a:txBody>
                    <a:bodyPr/>
                    <a:lstStyle/>
                    <a:p>
                      <a:r>
                        <a:rPr sz="1800">
                          <a:latin typeface="Arial"/>
                        </a:rPr>
                        <a:t>Course pages, with axe and Accessibility Insights</a:t>
                      </a:r>
                    </a:p>
                  </a:txBody>
                  <a:tcPr/>
                </a:tc>
              </a:tr>
              <a:tr h="420624">
                <a:tc>
                  <a:txBody>
                    <a:bodyPr/>
                    <a:lstStyle/>
                    <a:p>
                      <a:r>
                        <a:rPr sz="1800">
                          <a:latin typeface="Arial"/>
                        </a:rPr>
                        <a:t>Captions and media</a:t>
                      </a:r>
                    </a:p>
                  </a:txBody>
                  <a:tcPr/>
                </a:tc>
                <a:tc>
                  <a:txBody>
                    <a:bodyPr/>
                    <a:lstStyle/>
                    <a:p>
                      <a:r>
                        <a:rPr sz="1800">
                          <a:latin typeface="Arial"/>
                        </a:rPr>
                        <a:t>Lecture captions</a:t>
                      </a:r>
                    </a:p>
                  </a:txBody>
                  <a:tcPr/>
                </a:tc>
              </a:tr>
              <a:tr h="420624">
                <a:tc>
                  <a:txBody>
                    <a:bodyPr/>
                    <a:lstStyle/>
                    <a:p>
                      <a:r>
                        <a:rPr sz="1800">
                          <a:latin typeface="Arial"/>
                        </a:rPr>
                        <a:t>Plain language</a:t>
                      </a:r>
                    </a:p>
                  </a:txBody>
                  <a:tcPr/>
                </a:tc>
                <a:tc>
                  <a:txBody>
                    <a:bodyPr/>
                    <a:lstStyle/>
                    <a:p>
                      <a:r>
                        <a:rPr sz="1800">
                          <a:latin typeface="Arial"/>
                        </a:rPr>
                        <a:t>Anything a student must read and act on</a:t>
                      </a:r>
                    </a:p>
                  </a:txBody>
                  <a:tcPr/>
                </a:tc>
              </a:tr>
              <a:tr h="420624">
                <a:tc>
                  <a:txBody>
                    <a:bodyPr/>
                    <a:lstStyle/>
                    <a:p>
                      <a:r>
                        <a:rPr sz="1800">
                          <a:latin typeface="Arial"/>
                        </a:rPr>
                        <a:t>Standards reviewer</a:t>
                      </a:r>
                    </a:p>
                  </a:txBody>
                  <a:tcPr/>
                </a:tc>
                <a:tc>
                  <a:txBody>
                    <a:bodyPr/>
                    <a:lstStyle/>
                    <a:p>
                      <a:r>
                        <a:rPr sz="1800">
                          <a:latin typeface="Arial"/>
                        </a:rPr>
                        <a:t>Everyone's findings, last</a:t>
                      </a:r>
                    </a:p>
                  </a:txBody>
                  <a:tcPr/>
                </a:tc>
              </a:tr>
              <a:tr h="420624">
                <a:tc>
                  <a:txBody>
                    <a:bodyPr/>
                    <a:lstStyle/>
                    <a:p>
                      <a:r>
                        <a:rPr sz="1800">
                          <a:latin typeface="Arial"/>
                        </a:rPr>
                        <a:t>Your agent</a:t>
                      </a:r>
                    </a:p>
                  </a:txBody>
                  <a:tcPr/>
                </a:tc>
                <a:tc>
                  <a:txBody>
                    <a:bodyPr/>
                    <a:lstStyle/>
                    <a:p>
                      <a:r>
                        <a:rPr sz="1800">
                          <a:latin typeface="Arial"/>
                        </a:rPr>
                        <a:t>Whatever you build it to do</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Design your agent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Block 2 of 7 - 10:50-11:40 - 50 minutes</a:t>
            </a:r>
          </a:p>
          <a:p>
            <a:pPr marL="0" indent="0">
              <a:buNone/>
            </a:pPr>
            <a:r>
              <a:rPr sz="2000" b="0">
                <a:latin typeface="Arial"/>
              </a:rPr>
              <a:t>By the end of this block: your own agent, in a file, with your name on it.</a:t>
            </a:r>
          </a:p>
          <a:p>
            <a:pPr lvl="1"/>
            <a:r>
              <a:rPr sz="2000" b="0">
                <a:latin typeface="Arial"/>
              </a:rPr>
              <a:t>Documents and alternate formats: An alternate format planner, or a document triage agent.</a:t>
            </a:r>
          </a:p>
          <a:p>
            <a:pPr lvl="1"/>
            <a:r>
              <a:rPr sz="2000" b="0">
                <a:latin typeface="Arial"/>
              </a:rPr>
              <a:t>Course content and faculty coaching: A faculty coach, or a course page coach.</a:t>
            </a:r>
          </a:p>
          <a:p>
            <a:pPr lvl="1"/>
            <a:r>
              <a:rPr sz="2000" b="0">
                <a:latin typeface="Arial"/>
              </a:rPr>
              <a:t>Compliance and procurement: A remediation log keeper, or a vendor report reader.</a:t>
            </a:r>
          </a:p>
          <a:p>
            <a:pPr marL="0" indent="0">
              <a:buNone/>
            </a:pPr>
            <a:r>
              <a:rPr sz="2000" b="0">
                <a:latin typeface="Arial"/>
              </a:rPr>
              <a:t>Pick one card. Bring one real problem from your job, with nothing private in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Maria's six answers</a:t>
            </a:r>
          </a:p>
        </p:txBody>
      </p:sp>
      <p:sp>
        <p:nvSpPr>
          <p:cNvPr id="3" name="TextBox 2"/>
          <p:cNvSpPr txBox="1"/>
          <p:nvPr/>
        </p:nvSpPr>
        <p:spPr>
          <a:xfrm>
            <a:off x="548640" y="1463040"/>
            <a:ext cx="11064240" cy="822960"/>
          </a:xfrm>
          <a:prstGeom prst="rect">
            <a:avLst/>
          </a:prstGeom>
          <a:noFill/>
        </p:spPr>
        <p:txBody>
          <a:bodyPr wrap="square">
            <a:spAutoFit/>
          </a:bodyPr>
          <a:lstStyle/>
          <a:p>
            <a:r>
              <a:rPr sz="1800">
                <a:latin typeface="Arial"/>
              </a:rPr>
              <a:t>Watch me first</a:t>
            </a:r>
          </a:p>
          <a:p>
            <a:r>
              <a:rPr sz="1800">
                <a:latin typeface="Arial"/>
              </a:rPr>
              <a:t>Maria, from the Disability Resource Center, designing her alternate format planner:</a:t>
            </a:r>
          </a:p>
        </p:txBody>
      </p:sp>
      <p:graphicFrame>
        <p:nvGraphicFramePr>
          <p:cNvPr id="4" name="Table 3" descr="Maria, from the Disability Resource Center, designing her alternate format planner:"/>
          <p:cNvGraphicFramePr>
            <a:graphicFrameLocks noGrp="1"/>
          </p:cNvGraphicFramePr>
          <p:nvPr/>
        </p:nvGraphicFramePr>
        <p:xfrm>
          <a:off x="548640" y="2560320"/>
          <a:ext cx="11064240" cy="3154679"/>
        </p:xfrm>
        <a:graphic>
          <a:graphicData uri="http://schemas.openxmlformats.org/drawingml/2006/table">
            <a:tbl>
              <a:tblPr firstRow="1" bandRow="1">
                <a:tableStyleId>{5C22544A-7EE6-4342-B048-85BDC9FD1C3A}</a:tableStyleId>
              </a:tblPr>
              <a:tblGrid>
                <a:gridCol w="5532120"/>
                <a:gridCol w="5532120"/>
              </a:tblGrid>
              <a:tr h="450668">
                <a:tc>
                  <a:txBody>
                    <a:bodyPr/>
                    <a:lstStyle/>
                    <a:p>
                      <a:r>
                        <a:rPr sz="1800" b="1">
                          <a:latin typeface="Arial"/>
                        </a:rPr>
                        <a:t>Question</a:t>
                      </a:r>
                    </a:p>
                  </a:txBody>
                  <a:tcPr/>
                </a:tc>
                <a:tc>
                  <a:txBody>
                    <a:bodyPr/>
                    <a:lstStyle/>
                    <a:p>
                      <a:r>
                        <a:rPr sz="1800" b="1">
                          <a:latin typeface="Arial"/>
                        </a:rPr>
                        <a:t>Maria's answer</a:t>
                      </a:r>
                    </a:p>
                  </a:txBody>
                  <a:tcPr/>
                </a:tc>
              </a:tr>
              <a:tr h="450668">
                <a:tc>
                  <a:txBody>
                    <a:bodyPr/>
                    <a:lstStyle/>
                    <a:p>
                      <a:r>
                        <a:rPr sz="1800">
                          <a:latin typeface="Arial"/>
                        </a:rPr>
                        <a:t>Role</a:t>
                      </a:r>
                    </a:p>
                  </a:txBody>
                  <a:tcPr/>
                </a:tc>
                <a:tc>
                  <a:txBody>
                    <a:bodyPr/>
                    <a:lstStyle/>
                    <a:p>
                      <a:r>
                        <a:rPr sz="1800">
                          <a:latin typeface="Arial"/>
                        </a:rPr>
                        <a:t>An alternate format planner in a disability resource center</a:t>
                      </a:r>
                    </a:p>
                  </a:txBody>
                  <a:tcPr/>
                </a:tc>
              </a:tr>
              <a:tr h="450668">
                <a:tc>
                  <a:txBody>
                    <a:bodyPr/>
                    <a:lstStyle/>
                    <a:p>
                      <a:r>
                        <a:rPr sz="1800">
                          <a:latin typeface="Arial"/>
                        </a:rPr>
                        <a:t>Task</a:t>
                      </a:r>
                    </a:p>
                  </a:txBody>
                  <a:tcPr/>
                </a:tc>
                <a:tc>
                  <a:txBody>
                    <a:bodyPr/>
                    <a:lstStyle/>
                    <a:p>
                      <a:r>
                        <a:rPr sz="1800">
                          <a:latin typeface="Arial"/>
                        </a:rPr>
                        <a:t>Plan the formats a student needs from a checker's report</a:t>
                      </a:r>
                    </a:p>
                  </a:txBody>
                  <a:tcPr/>
                </a:tc>
              </a:tr>
              <a:tr h="450668">
                <a:tc>
                  <a:txBody>
                    <a:bodyPr/>
                    <a:lstStyle/>
                    <a:p>
                      <a:r>
                        <a:rPr sz="1800">
                          <a:latin typeface="Arial"/>
                        </a:rPr>
                        <a:t>Trusted guidance</a:t>
                      </a:r>
                    </a:p>
                  </a:txBody>
                  <a:tcPr/>
                </a:tc>
                <a:tc>
                  <a:txBody>
                    <a:bodyPr/>
                    <a:lstStyle/>
                    <a:p>
                      <a:r>
                        <a:rPr sz="1800">
                          <a:latin typeface="Arial"/>
                        </a:rPr>
                        <a:t>WCAG 2.2 1.4.5 and 1.1.1, ACB large print, our procedure</a:t>
                      </a:r>
                    </a:p>
                  </a:txBody>
                  <a:tcPr/>
                </a:tc>
              </a:tr>
              <a:tr h="450668">
                <a:tc>
                  <a:txBody>
                    <a:bodyPr/>
                    <a:lstStyle/>
                    <a:p>
                      <a:r>
                        <a:rPr sz="1800">
                          <a:latin typeface="Arial"/>
                        </a:rPr>
                        <a:t>Output format</a:t>
                      </a:r>
                    </a:p>
                  </a:txBody>
                  <a:tcPr/>
                </a:tc>
                <a:tc>
                  <a:txBody>
                    <a:bodyPr/>
                    <a:lstStyle/>
                    <a:p>
                      <a:r>
                        <a:rPr sz="1800">
                          <a:latin typeface="Arial"/>
                        </a:rPr>
                        <a:t>Numbered steps with who does each, then a checklist</a:t>
                      </a:r>
                    </a:p>
                  </a:txBody>
                  <a:tcPr/>
                </a:tc>
              </a:tr>
              <a:tr h="450668">
                <a:tc>
                  <a:txBody>
                    <a:bodyPr/>
                    <a:lstStyle/>
                    <a:p>
                      <a:r>
                        <a:rPr sz="1800">
                          <a:latin typeface="Arial"/>
                        </a:rPr>
                        <a:t>Example</a:t>
                      </a:r>
                    </a:p>
                  </a:txBody>
                  <a:tcPr/>
                </a:tc>
                <a:tc>
                  <a:txBody>
                    <a:bodyPr/>
                    <a:lstStyle/>
                    <a:p>
                      <a:r>
                        <a:rPr sz="1800">
                          <a:latin typeface="Arial"/>
                        </a:rPr>
                        <a:t>The scanned reading: get the text, then 18 point large print</a:t>
                      </a:r>
                    </a:p>
                  </a:txBody>
                  <a:tcPr/>
                </a:tc>
              </a:tr>
              <a:tr h="450671">
                <a:tc>
                  <a:txBody>
                    <a:bodyPr/>
                    <a:lstStyle/>
                    <a:p>
                      <a:r>
                        <a:rPr sz="1800">
                          <a:latin typeface="Arial"/>
                        </a:rPr>
                        <a:t>Human review</a:t>
                      </a:r>
                    </a:p>
                  </a:txBody>
                  <a:tcPr/>
                </a:tc>
                <a:tc>
                  <a:txBody>
                    <a:bodyPr/>
                    <a:lstStyle/>
                    <a:p>
                      <a:r>
                        <a:rPr sz="1800">
                          <a:latin typeface="Arial"/>
                        </a:rPr>
                        <a:t>The specialist checks page by page; the student confirms</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Your AI asks, you answer</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Your turn</a:t>
            </a:r>
          </a:p>
          <a:p>
            <a:pPr lvl="1">
              <a:buNone/>
            </a:pPr>
            <a:r>
              <a:rPr sz="2000" b="0">
                <a:latin typeface="Arial"/>
              </a:rPr>
              <a:t>1. In VS Code: open Copilot Chat (Control+Alt+I, or Control+Command+I on a Mac) and type /design-my-agent.</a:t>
            </a:r>
          </a:p>
          <a:p>
            <a:pPr lvl="1">
              <a:buNone/>
            </a:pPr>
            <a:r>
              <a:rPr sz="2000" b="0">
                <a:latin typeface="Arial"/>
              </a:rPr>
              <a:t>2. In a browser: copy the block 2 text from letitglow.app/ahg/assistant and paste it into your assistant.</a:t>
            </a:r>
          </a:p>
          <a:p>
            <a:pPr lvl="1">
              <a:buNone/>
            </a:pPr>
            <a:r>
              <a:rPr sz="2000" b="0">
                <a:latin typeface="Arial"/>
              </a:rPr>
              <a:t>3. Answer the questions, one at a time. Borrow from the example whenever you like.</a:t>
            </a:r>
          </a:p>
          <a:p>
            <a:pPr lvl="1">
              <a:buNone/>
            </a:pPr>
            <a:r>
              <a:rPr sz="2000" b="0">
                <a:latin typeface="Arial"/>
              </a:rPr>
              <a:t>4. VS Code writes your agent into my-agent/SKILL.md. In a browser it comes back in a box with a Copy button: download it from the share page.</a:t>
            </a:r>
          </a:p>
          <a:p>
            <a:pPr marL="0" indent="0">
              <a:buNone/>
            </a:pPr>
            <a:r>
              <a:rPr sz="2000" b="0">
                <a:latin typeface="Arial"/>
              </a:rPr>
              <a:t>You are on track if your AI tells you one thing your agent does well.</a:t>
            </a:r>
          </a:p>
          <a:p>
            <a:pPr marL="0" indent="0">
              <a:buNone/>
            </a:pPr>
            <a:r>
              <a:rPr sz="2000" b="0">
                <a:latin typeface="Arial"/>
              </a:rPr>
              <a:t>Stuck? Start from a ready-made agent in examples/agents. That counts. You are still 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Your agent at work</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Block 3 of 7 - 11:40-12:15 - 35 minutes</a:t>
            </a:r>
          </a:p>
          <a:p>
            <a:pPr marL="0" indent="0">
              <a:buNone/>
            </a:pPr>
            <a:r>
              <a:rPr sz="2000" b="0">
                <a:latin typeface="Arial"/>
              </a:rPr>
              <a:t>By the end of this block: your agent's first answer on a real course document, and version 2.</a:t>
            </a:r>
          </a:p>
          <a:p>
            <a:pPr lvl="1">
              <a:buNone/>
            </a:pPr>
            <a:r>
              <a:rPr sz="2000" b="0">
                <a:latin typeface="Arial"/>
              </a:rPr>
              <a:t>1. In VS Code, type /try-my-agent. In a browser, paste the block 3 text.</a:t>
            </a:r>
          </a:p>
          <a:p>
            <a:pPr lvl="1">
              <a:buNone/>
            </a:pPr>
            <a:r>
              <a:rPr sz="2000" b="0">
                <a:latin typeface="Arial"/>
              </a:rPr>
              <a:t>2. Pick a file from the PSY 101 sample course.</a:t>
            </a:r>
          </a:p>
          <a:p>
            <a:pPr lvl="1">
              <a:buNone/>
            </a:pPr>
            <a:r>
              <a:rPr sz="2000" b="0">
                <a:latin typeface="Arial"/>
              </a:rPr>
              <a:t>3. Read what your agent says.</a:t>
            </a:r>
          </a:p>
          <a:p>
            <a:pPr lvl="1">
              <a:buNone/>
            </a:pPr>
            <a:r>
              <a:rPr sz="2000" b="0">
                <a:latin typeface="Arial"/>
              </a:rPr>
              <a:t>4. Then /review-my-agent, or the review text: one change, version 2.</a:t>
            </a:r>
          </a:p>
          <a:p>
            <a:pPr marL="0" indent="0">
              <a:buNone/>
            </a:pPr>
            <a:r>
              <a:rPr sz="2800" b="1">
                <a:latin typeface="Arial"/>
              </a:rPr>
              <a:t>It will guess a little. That is not a mistake. It is the setup for this afternoon.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Maria's first answer</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Watch me</a:t>
            </a:r>
          </a:p>
          <a:p>
            <a:pPr lvl="1"/>
            <a:r>
              <a:rPr sz="2000" b="0">
                <a:latin typeface="Arial"/>
              </a:rPr>
              <a:t>"Run Acrobat's Make Accessible action, add alternative text to all images, and increase the font size. This will make the document compliant with WCAG 2.1."</a:t>
            </a:r>
          </a:p>
          <a:p>
            <a:pPr lvl="1"/>
            <a:r>
              <a:rPr sz="2000" b="0">
                <a:latin typeface="Arial"/>
              </a:rPr>
              <a:t>It never saw the file, so it did not know the reading is a scan.</a:t>
            </a:r>
          </a:p>
          <a:p>
            <a:pPr lvl="1"/>
            <a:r>
              <a:rPr sz="2000" b="0">
                <a:latin typeface="Arial"/>
              </a:rPr>
              <a:t>Alt text on pictures of text would describe the pictures, not turn them into text.</a:t>
            </a:r>
          </a:p>
          <a:p>
            <a:pPr lvl="1"/>
            <a:r>
              <a:rPr sz="2000" b="0">
                <a:latin typeface="Arial"/>
              </a:rPr>
              <a:t>It said "compliant", which her agent is told never to say.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Back at 1:15</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Lunch - 12:15-1:15</a:t>
            </a:r>
          </a:p>
          <a:p>
            <a:pPr marL="0" indent="0">
              <a:buNone/>
            </a:pPr>
            <a:r>
              <a:rPr sz="2000" b="0">
                <a:latin typeface="Arial"/>
              </a:rPr>
              <a:t>You have an agent. That was the hard part.</a:t>
            </a:r>
          </a:p>
          <a:p>
            <a:pPr marL="0" indent="0">
              <a:buNone/>
            </a:pPr>
            <a:r>
              <a:rPr sz="2000" b="0">
                <a:latin typeface="Arial"/>
              </a:rPr>
              <a:t>After lunch it stops guessing.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Ground it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Block 4 of 7 - 1:15-2:05 - 50 minutes</a:t>
            </a:r>
          </a:p>
          <a:p>
            <a:pPr marL="0" indent="0">
              <a:buNone/>
            </a:pPr>
            <a:r>
              <a:rPr sz="2000" b="0">
                <a:latin typeface="Arial"/>
              </a:rPr>
              <a:t>By the end of this block: the same agent, giving cited answers from real evidence. A before and an after.</a:t>
            </a:r>
          </a:p>
          <a:p>
            <a:pPr lvl="1">
              <a:buNone/>
            </a:pPr>
            <a:r>
              <a:rPr sz="2000" b="0">
                <a:latin typeface="Arial"/>
              </a:rPr>
              <a:t>1. In VS Code, type /ground-my-agent. In a browser, paste the block 4 text.</a:t>
            </a:r>
          </a:p>
          <a:p>
            <a:pPr lvl="1">
              <a:buNone/>
            </a:pPr>
            <a:r>
              <a:rPr sz="2000" b="0">
                <a:latin typeface="Arial"/>
              </a:rPr>
              <a:t>2. Use the same file as this morning.</a:t>
            </a:r>
          </a:p>
          <a:p>
            <a:pPr lvl="1">
              <a:buNone/>
            </a:pPr>
            <a:r>
              <a:rPr sz="2000" b="0">
                <a:latin typeface="Arial"/>
              </a:rPr>
              <a:t>3. Your agent reads that file's checker report: GLOW for documents, axe for the web page.</a:t>
            </a:r>
          </a:p>
          <a:p>
            <a:pPr lvl="1">
              <a:buNone/>
            </a:pPr>
            <a:r>
              <a:rPr sz="2000" b="0">
                <a:latin typeface="Arial"/>
              </a:rPr>
              <a:t>4. Compare the two answers.</a:t>
            </a:r>
          </a:p>
          <a:p>
            <a:pPr lvl="1">
              <a:buNone/>
            </a:pPr>
            <a:r>
              <a:rPr sz="2000" b="0">
                <a:latin typeface="Arial"/>
              </a:rPr>
              <a:t>5. Then /review-my-agent again: version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Before and after</a:t>
            </a:r>
          </a:p>
        </p:txBody>
      </p:sp>
      <p:sp>
        <p:nvSpPr>
          <p:cNvPr id="3" name="TextBox 2"/>
          <p:cNvSpPr txBox="1"/>
          <p:nvPr/>
        </p:nvSpPr>
        <p:spPr>
          <a:xfrm>
            <a:off x="548640" y="1463040"/>
            <a:ext cx="11064240" cy="822960"/>
          </a:xfrm>
          <a:prstGeom prst="rect">
            <a:avLst/>
          </a:prstGeom>
          <a:noFill/>
        </p:spPr>
        <p:txBody>
          <a:bodyPr wrap="square">
            <a:spAutoFit/>
          </a:bodyPr>
          <a:lstStyle/>
          <a:p>
            <a:r>
              <a:rPr sz="1800">
                <a:latin typeface="Arial"/>
              </a:rPr>
              <a:t>Watch me</a:t>
            </a:r>
          </a:p>
          <a:p>
            <a:r>
              <a:rPr sz="1800">
                <a:latin typeface="Arial"/>
              </a:rPr>
              <a:t>Maria's agent, on the scanned reading:</a:t>
            </a:r>
          </a:p>
        </p:txBody>
      </p:sp>
      <p:graphicFrame>
        <p:nvGraphicFramePr>
          <p:cNvPr id="4" name="Table 3" descr="Maria's agent, on the scanned reading:"/>
          <p:cNvGraphicFramePr>
            <a:graphicFrameLocks noGrp="1"/>
          </p:cNvGraphicFramePr>
          <p:nvPr/>
        </p:nvGraphicFramePr>
        <p:xfrm>
          <a:off x="548640" y="2560320"/>
          <a:ext cx="11064240" cy="2331720"/>
        </p:xfrm>
        <a:graphic>
          <a:graphicData uri="http://schemas.openxmlformats.org/drawingml/2006/table">
            <a:tbl>
              <a:tblPr firstRow="1" bandRow="1">
                <a:tableStyleId>{5C22544A-7EE6-4342-B048-85BDC9FD1C3A}</a:tableStyleId>
              </a:tblPr>
              <a:tblGrid>
                <a:gridCol w="5532120"/>
                <a:gridCol w="5532120"/>
              </a:tblGrid>
              <a:tr h="466344">
                <a:tc>
                  <a:txBody>
                    <a:bodyPr/>
                    <a:lstStyle/>
                    <a:p>
                      <a:r>
                        <a:rPr sz="1800" b="1">
                          <a:latin typeface="Arial"/>
                        </a:rPr>
                        <a:t>Before evidence</a:t>
                      </a:r>
                    </a:p>
                  </a:txBody>
                  <a:tcPr/>
                </a:tc>
                <a:tc>
                  <a:txBody>
                    <a:bodyPr/>
                    <a:lstStyle/>
                    <a:p>
                      <a:r>
                        <a:rPr sz="1800" b="1">
                          <a:latin typeface="Arial"/>
                        </a:rPr>
                        <a:t>After evidence</a:t>
                      </a:r>
                    </a:p>
                  </a:txBody>
                  <a:tcPr/>
                </a:tc>
              </a:tr>
              <a:tr h="466344">
                <a:tc>
                  <a:txBody>
                    <a:bodyPr/>
                    <a:lstStyle/>
                    <a:p>
                      <a:r>
                        <a:rPr sz="1800">
                          <a:latin typeface="Arial"/>
                        </a:rPr>
                        <a:t>Guessed the file was an ordinary PDF</a:t>
                      </a:r>
                    </a:p>
                  </a:txBody>
                  <a:tcPr/>
                </a:tc>
                <a:tc>
                  <a:txBody>
                    <a:bodyPr/>
                    <a:lstStyle/>
                    <a:p>
                      <a:r>
                        <a:rPr sz="1800">
                          <a:latin typeface="Arial"/>
                        </a:rPr>
                        <a:t>Knew it was two pages of pictures of text</a:t>
                      </a:r>
                    </a:p>
                  </a:txBody>
                  <a:tcPr/>
                </a:tc>
              </a:tr>
              <a:tr h="466344">
                <a:tc>
                  <a:txBody>
                    <a:bodyPr/>
                    <a:lstStyle/>
                    <a:p>
                      <a:r>
                        <a:rPr sz="1800">
                          <a:latin typeface="Arial"/>
                        </a:rPr>
                        <a:t>WCAG 2.1, no links</a:t>
                      </a:r>
                    </a:p>
                  </a:txBody>
                  <a:tcPr/>
                </a:tc>
                <a:tc>
                  <a:txBody>
                    <a:bodyPr/>
                    <a:lstStyle/>
                    <a:p>
                      <a:r>
                        <a:rPr sz="1800">
                          <a:latin typeface="Arial"/>
                        </a:rPr>
                        <a:t>WCAG 2.2, 1.4.5 Images of Text, linked</a:t>
                      </a:r>
                    </a:p>
                  </a:txBody>
                  <a:tcPr/>
                </a:tc>
              </a:tr>
              <a:tr h="466344">
                <a:tc>
                  <a:txBody>
                    <a:bodyPr/>
                    <a:lstStyle/>
                    <a:p>
                      <a:r>
                        <a:rPr sz="1800">
                          <a:latin typeface="Arial"/>
                        </a:rPr>
                        <a:t>"Compliant"</a:t>
                      </a:r>
                    </a:p>
                  </a:txBody>
                  <a:tcPr/>
                </a:tc>
                <a:tc>
                  <a:txBody>
                    <a:bodyPr/>
                    <a:lstStyle/>
                    <a:p>
                      <a:r>
                        <a:rPr sz="1800">
                          <a:latin typeface="Arial"/>
                        </a:rPr>
                        <a:t>What was checked, and what a person must check</a:t>
                      </a:r>
                    </a:p>
                  </a:txBody>
                  <a:tcPr/>
                </a:tc>
              </a:tr>
              <a:tr h="466344">
                <a:tc>
                  <a:txBody>
                    <a:bodyPr/>
                    <a:lstStyle/>
                    <a:p>
                      <a:r>
                        <a:rPr sz="1800">
                          <a:latin typeface="Arial"/>
                        </a:rPr>
                        <a:t>Fix the PDF</a:t>
                      </a:r>
                    </a:p>
                  </a:txBody>
                  <a:tcPr/>
                </a:tc>
                <a:tc>
                  <a:txBody>
                    <a:bodyPr/>
                    <a:lstStyle/>
                    <a:p>
                      <a:r>
                        <a:rPr sz="1800">
                          <a:latin typeface="Arial"/>
                        </a:rPr>
                        <a:t>Get a clean source, then large print and audio for everyone</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Any checker, and a person</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skill, not the tool</a:t>
            </a:r>
          </a:p>
          <a:p>
            <a:pPr marL="0" indent="0">
              <a:buNone/>
            </a:pPr>
            <a:r>
              <a:rPr sz="2000" b="0">
                <a:latin typeface="Arial"/>
              </a:rPr>
              <a:t>The same works with Word's and PowerPoint's own Accessibility Checker, Acrobat's checker, or Accessibility Insights. The skill is giving your agent evidence.</a:t>
            </a:r>
          </a:p>
          <a:p>
            <a:pPr marL="0" indent="0">
              <a:buNone/>
            </a:pPr>
            <a:r>
              <a:rPr sz="2000" b="0">
                <a:latin typeface="Arial"/>
              </a:rPr>
              <a:t>And some barriers no checker sees:</a:t>
            </a:r>
          </a:p>
          <a:p>
            <a:pPr lvl="1"/>
            <a:r>
              <a:rPr sz="2000" b="0">
                <a:latin typeface="Arial"/>
              </a:rPr>
              <a:t>The accommodations statement, last, in 8-point gray, contradicted two sections earlier by a no-makeup-exams rule in capitals.</a:t>
            </a:r>
          </a:p>
          <a:p>
            <a:pPr lvl="1"/>
            <a:r>
              <a:rPr sz="2000" b="0">
                <a:latin typeface="Arial"/>
              </a:rPr>
              <a:t>Alt text that says "image.png".</a:t>
            </a:r>
          </a:p>
          <a:p>
            <a:pPr lvl="1"/>
            <a:r>
              <a:rPr sz="2000" b="0">
                <a:latin typeface="Arial"/>
              </a:rPr>
              <a:t>A lab that only works if you can see color.</a:t>
            </a:r>
          </a:p>
          <a:p>
            <a:pPr lvl="1"/>
            <a:r>
              <a:rPr sz="2000" b="0">
                <a:latin typeface="Arial"/>
              </a:rPr>
              <a:t>Captions that turn Ebbinghaus into "ebb in house".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Back at 2:15</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Break - 10 minutes</a:t>
            </a:r>
          </a:p>
          <a:p>
            <a:pPr marL="0" indent="0">
              <a:buNone/>
            </a:pPr>
            <a:r>
              <a:rPr sz="2000" b="0">
                <a:latin typeface="Arial"/>
              </a:rPr>
              <a:t>Next, your agent joins a team. Then it goes public.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Build the office</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Block 5 of 7 - 2:15-3:05 - 50 minutes</a:t>
            </a:r>
          </a:p>
          <a:p>
            <a:pPr marL="0" indent="0">
              <a:buNone/>
            </a:pPr>
            <a:r>
              <a:rPr sz="2000" b="0">
                <a:latin typeface="Arial"/>
              </a:rPr>
              <a:t>By the end of this block: your agent working inside a team, across the whole course, and one team report.</a:t>
            </a:r>
          </a:p>
          <a:p>
            <a:pPr lvl="1">
              <a:buNone/>
            </a:pPr>
            <a:r>
              <a:rPr sz="2000" b="0">
                <a:latin typeface="Arial"/>
              </a:rPr>
              <a:t>1. In VS Code, type /run-the-office. In a browser, paste the block 5 text.</a:t>
            </a:r>
          </a:p>
          <a:p>
            <a:pPr lvl="1">
              <a:buNone/>
            </a:pPr>
            <a:r>
              <a:rPr sz="2000" b="0">
                <a:latin typeface="Arial"/>
              </a:rPr>
              <a:t>2. The coordinator sends each course file to its specialists, and yours where it fits.</a:t>
            </a:r>
          </a:p>
          <a:p>
            <a:pPr lvl="1">
              <a:buNone/>
            </a:pPr>
            <a:r>
              <a:rPr sz="2000" b="0">
                <a:latin typeface="Arial"/>
              </a:rPr>
              <a:t>3. The standards reviewer checks everyone's work.</a:t>
            </a:r>
          </a:p>
          <a:p>
            <a:pPr lvl="1">
              <a:buNone/>
            </a:pPr>
            <a:r>
              <a:rPr sz="2000" b="0">
                <a:latin typeface="Arial"/>
              </a:rPr>
              <a:t>4. You get the team report, with your agent's section in it.</a:t>
            </a:r>
          </a:p>
          <a:p>
            <a:pPr lvl="1">
              <a:buNone/>
            </a:pPr>
            <a:r>
              <a:rPr sz="2000" b="0">
                <a:latin typeface="Arial"/>
              </a:rPr>
              <a:t>5. Then /review-my-agent, or the review text: version 4, your best.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One course, one report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What scale looks like</a:t>
            </a:r>
          </a:p>
          <a:p>
            <a:pPr lvl="1"/>
            <a:r>
              <a:rPr sz="2000" b="0">
                <a:latin typeface="Arial"/>
              </a:rPr>
              <a:t>Seven files, eight specialists, plus yours.</a:t>
            </a:r>
          </a:p>
          <a:p>
            <a:pPr lvl="1"/>
            <a:r>
              <a:rPr sz="2000" b="0">
                <a:latin typeface="Arial"/>
              </a:rPr>
              <a:t>Every finding: evidence, a WCAG 2.2 criterion with its link, and a named reviewer.</a:t>
            </a:r>
          </a:p>
          <a:p>
            <a:pPr lvl="1"/>
            <a:r>
              <a:rPr sz="2000" b="0">
                <a:latin typeface="Arial"/>
              </a:rPr>
              <a:t>A list of what no checker could see, for a person.</a:t>
            </a:r>
          </a:p>
          <a:p>
            <a:pPr lvl="1"/>
            <a:r>
              <a:rPr sz="2000" b="0">
                <a:latin typeface="Arial"/>
              </a:rPr>
              <a:t>Three lines at the top that a director will actually read.</a:t>
            </a:r>
          </a:p>
          <a:p>
            <a:pPr marL="0" indent="0">
              <a:buNone/>
            </a:pPr>
            <a:r>
              <a:rPr sz="2800" b="1">
                <a:latin typeface="Arial"/>
              </a:rPr>
              <a:t>That is quality, accountability and transparency, at scale. It is also a Tuesday.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full Accessibility Agents team</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real thing</a:t>
            </a:r>
          </a:p>
          <a:p>
            <a:pPr marL="0" indent="0">
              <a:buNone/>
            </a:pPr>
            <a:r>
              <a:rPr sz="2000" b="0">
                <a:latin typeface="Arial"/>
              </a:rPr>
              <a:t>The office you just ran is a small version of a real open-source project: Accessibility Agents.</a:t>
            </a:r>
          </a:p>
          <a:p>
            <a:pPr lvl="1"/>
            <a:r>
              <a:rPr sz="2000" b="0">
                <a:latin typeface="Arial"/>
              </a:rPr>
              <a:t>Six entry points, and 107 specialist, helper and reference skills behind them.</a:t>
            </a:r>
          </a:p>
          <a:p>
            <a:pPr lvl="1"/>
            <a:r>
              <a:rPr sz="2000" b="0">
                <a:latin typeface="Arial"/>
              </a:rPr>
              <a:t>The same course, on the screen: web, Word, PowerPoint, Excel and PDF.</a:t>
            </a:r>
          </a:p>
          <a:p>
            <a:pPr lvl="1"/>
            <a:r>
              <a:rPr sz="2000" b="0">
                <a:latin typeface="Arial"/>
              </a:rPr>
              <a:t>It is already in your kit, in .github/skills. Ask for document-accessibility-wizard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Share it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Block 6 of 7 - 3:05-3:40 - 35 minutes</a:t>
            </a:r>
          </a:p>
          <a:p>
            <a:pPr marL="0" indent="0">
              <a:buNone/>
            </a:pPr>
            <a:r>
              <a:rPr sz="2000" b="0">
                <a:latin typeface="Arial"/>
              </a:rPr>
              <a:t>By the end of this block: your best version in the open-source AHG 2026 collection, committed in your name.</a:t>
            </a:r>
          </a:p>
          <a:p>
            <a:pPr lvl="1">
              <a:buNone/>
            </a:pPr>
            <a:r>
              <a:rPr sz="2000" b="0">
                <a:latin typeface="Arial"/>
              </a:rPr>
              <a:t>1. Open letitglow.app/ahg/share, and choose your newest SKILL.md, version 4, or paste it in.</a:t>
            </a:r>
          </a:p>
          <a:p>
            <a:pPr lvl="1">
              <a:buNone/>
            </a:pPr>
            <a:r>
              <a:rPr sz="2000" b="0">
                <a:latin typeface="Arial"/>
              </a:rPr>
              <a:t>2. Press Open the share form on GitHub. The form opens, already filled in.</a:t>
            </a:r>
          </a:p>
          <a:p>
            <a:pPr lvl="1">
              <a:buNone/>
            </a:pPr>
            <a:r>
              <a:rPr sz="2000" b="0">
                <a:latin typeface="Arial"/>
              </a:rPr>
              <a:t>3. Select the privacy check box, and press Submit new issue.</a:t>
            </a:r>
          </a:p>
          <a:p>
            <a:pPr lvl="1">
              <a:buNone/>
            </a:pPr>
            <a:r>
              <a:rPr sz="2000" b="0">
                <a:latin typeface="Arial"/>
              </a:rPr>
              <a:t>4. Within a minute, the reply: Your agent is in.</a:t>
            </a:r>
          </a:p>
          <a:p>
            <a:pPr marL="0" indent="0">
              <a:buNone/>
            </a:pPr>
            <a:r>
              <a:rPr sz="2000" b="0">
                <a:latin typeface="Arial"/>
              </a:rPr>
              <a:t>You did this once already, with your practice agent. Same again.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In the collection, with your name on it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Open source, live</a:t>
            </a:r>
          </a:p>
          <a:p>
            <a:pPr marL="0" indent="0">
              <a:buNone/>
            </a:pPr>
            <a:r>
              <a:rPr sz="2000" b="0">
                <a:latin typeface="Arial"/>
              </a:rPr>
              <a:t>As your agents arrive, the collection grows, here, on the screen.</a:t>
            </a:r>
          </a:p>
          <a:p>
            <a:pPr marL="0" indent="0">
              <a:buNone/>
            </a:pPr>
            <a:r>
              <a:rPr sz="2800" b="1">
                <a:latin typeface="Arial"/>
              </a:rPr>
              <a:t>Tonight every one of them goes into the Accessibility Agents project, with every author credited, for anyone in higher education to use and improve.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Everyone's agents, together</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Agents in action</a:t>
            </a:r>
          </a:p>
          <a:p>
            <a:pPr marL="0" indent="0">
              <a:buNone/>
            </a:pPr>
            <a:r>
              <a:rPr sz="2000" b="0">
                <a:latin typeface="Arial"/>
              </a:rPr>
              <a:t>One more run, on the screen: the office team with every agent this room shared.</a:t>
            </a:r>
          </a:p>
          <a:p>
            <a:pPr marL="0" indent="0">
              <a:buNone/>
            </a:pPr>
            <a:r>
              <a:rPr sz="2000" b="0">
                <a:latin typeface="Arial"/>
              </a:rPr>
              <a:t>Listen for yours.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Take it home</a:t>
            </a:r>
          </a:p>
        </p:txBody>
      </p:sp>
      <p:sp>
        <p:nvSpPr>
          <p:cNvPr id="3" name="TextBox 2"/>
          <p:cNvSpPr txBox="1"/>
          <p:nvPr/>
        </p:nvSpPr>
        <p:spPr>
          <a:xfrm>
            <a:off x="548640" y="1463040"/>
            <a:ext cx="11064240" cy="2057400"/>
          </a:xfrm>
          <a:prstGeom prst="rect">
            <a:avLst/>
          </a:prstGeom>
          <a:noFill/>
        </p:spPr>
        <p:txBody>
          <a:bodyPr wrap="square">
            <a:spAutoFit/>
          </a:bodyPr>
          <a:lstStyle/>
          <a:p>
            <a:r>
              <a:rPr sz="1800">
                <a:latin typeface="Arial"/>
              </a:rPr>
              <a:t>Block 7 of 7 - 3:40-4:15 - 35 minutes</a:t>
            </a:r>
          </a:p>
          <a:p>
            <a:r>
              <a:rPr sz="1800">
                <a:latin typeface="Arial"/>
              </a:rPr>
              <a:t>By the end of this block: a 30-day plan for your own campus.</a:t>
            </a:r>
          </a:p>
          <a:p>
            <a:r>
              <a:rPr sz="1800">
                <a:latin typeface="Arial"/>
              </a:rPr>
              <a:t>1. In VS Code, type /my-30-day-plan. In a browser, paste the block 7 text.</a:t>
            </a:r>
          </a:p>
          <a:p>
            <a:r>
              <a:rPr sz="1800">
                <a:latin typeface="Arial"/>
              </a:rPr>
              <a:t>2. Then add your one-sentence commitment at letitglow.app/w/ahg-2026/11 for the wall.</a:t>
            </a:r>
          </a:p>
          <a:p>
            <a:r>
              <a:rPr sz="1800">
                <a:latin typeface="Arial"/>
              </a:rPr>
              <a:t>What you can do on Monday, with tools you already have:</a:t>
            </a:r>
          </a:p>
        </p:txBody>
      </p:sp>
      <p:graphicFrame>
        <p:nvGraphicFramePr>
          <p:cNvPr id="4" name="Table 3" descr="What you can do on Monday, with tools you already have:"/>
          <p:cNvGraphicFramePr>
            <a:graphicFrameLocks noGrp="1"/>
          </p:cNvGraphicFramePr>
          <p:nvPr/>
        </p:nvGraphicFramePr>
        <p:xfrm>
          <a:off x="548640" y="3794760"/>
          <a:ext cx="11064240" cy="2331720"/>
        </p:xfrm>
        <a:graphic>
          <a:graphicData uri="http://schemas.openxmlformats.org/drawingml/2006/table">
            <a:tbl>
              <a:tblPr firstRow="1" bandRow="1">
                <a:tableStyleId>{5C22544A-7EE6-4342-B048-85BDC9FD1C3A}</a:tableStyleId>
              </a:tblPr>
              <a:tblGrid>
                <a:gridCol w="5532120"/>
                <a:gridCol w="5532120"/>
              </a:tblGrid>
              <a:tr h="466344">
                <a:tc>
                  <a:txBody>
                    <a:bodyPr/>
                    <a:lstStyle/>
                    <a:p>
                      <a:r>
                        <a:rPr sz="1800" b="1">
                          <a:latin typeface="Arial"/>
                        </a:rPr>
                        <a:t>You learned</a:t>
                      </a:r>
                    </a:p>
                  </a:txBody>
                  <a:tcPr/>
                </a:tc>
                <a:tc>
                  <a:txBody>
                    <a:bodyPr/>
                    <a:lstStyle/>
                    <a:p>
                      <a:r>
                        <a:rPr sz="1800" b="1">
                          <a:latin typeface="Arial"/>
                        </a:rPr>
                        <a:t>Monday, with</a:t>
                      </a:r>
                    </a:p>
                  </a:txBody>
                  <a:tcPr/>
                </a:tc>
              </a:tr>
              <a:tr h="466344">
                <a:tc>
                  <a:txBody>
                    <a:bodyPr/>
                    <a:lstStyle/>
                    <a:p>
                      <a:r>
                        <a:rPr sz="1800">
                          <a:latin typeface="Arial"/>
                        </a:rPr>
                        <a:t>Writing an agent</a:t>
                      </a:r>
                    </a:p>
                  </a:txBody>
                  <a:tcPr/>
                </a:tc>
                <a:tc>
                  <a:txBody>
                    <a:bodyPr/>
                    <a:lstStyle/>
                    <a:p>
                      <a:r>
                        <a:rPr sz="1800">
                          <a:latin typeface="Arial"/>
                        </a:rPr>
                        <a:t>Any AI assistant, including your campus Copilot</a:t>
                      </a:r>
                    </a:p>
                  </a:txBody>
                  <a:tcPr/>
                </a:tc>
              </a:tr>
              <a:tr h="466344">
                <a:tc>
                  <a:txBody>
                    <a:bodyPr/>
                    <a:lstStyle/>
                    <a:p>
                      <a:r>
                        <a:rPr sz="1800">
                          <a:latin typeface="Arial"/>
                        </a:rPr>
                        <a:t>Grounding it</a:t>
                      </a:r>
                    </a:p>
                  </a:txBody>
                  <a:tcPr/>
                </a:tc>
                <a:tc>
                  <a:txBody>
                    <a:bodyPr/>
                    <a:lstStyle/>
                    <a:p>
                      <a:r>
                        <a:rPr sz="1800">
                          <a:latin typeface="Arial"/>
                        </a:rPr>
                        <a:t>Word's, PowerPoint's and Acrobat's checkers, Accessibility Insights, axe</a:t>
                      </a:r>
                    </a:p>
                  </a:txBody>
                  <a:tcPr/>
                </a:tc>
              </a:tr>
              <a:tr h="466344">
                <a:tc>
                  <a:txBody>
                    <a:bodyPr/>
                    <a:lstStyle/>
                    <a:p>
                      <a:r>
                        <a:rPr sz="1800">
                          <a:latin typeface="Arial"/>
                        </a:rPr>
                        <a:t>Human review, in writing</a:t>
                      </a:r>
                    </a:p>
                  </a:txBody>
                  <a:tcPr/>
                </a:tc>
                <a:tc>
                  <a:txBody>
                    <a:bodyPr/>
                    <a:lstStyle/>
                    <a:p>
                      <a:r>
                        <a:rPr sz="1800">
                          <a:latin typeface="Arial"/>
                        </a:rPr>
                        <a:t>Your own office's process</a:t>
                      </a:r>
                    </a:p>
                  </a:txBody>
                  <a:tcPr/>
                </a:tc>
              </a:tr>
              <a:tr h="466344">
                <a:tc>
                  <a:txBody>
                    <a:bodyPr/>
                    <a:lstStyle/>
                    <a:p>
                      <a:r>
                        <a:rPr sz="1800">
                          <a:latin typeface="Arial"/>
                        </a:rPr>
                        <a:t>Agent teams</a:t>
                      </a:r>
                    </a:p>
                  </a:txBody>
                  <a:tcPr/>
                </a:tc>
                <a:tc>
                  <a:txBody>
                    <a:bodyPr/>
                    <a:lstStyle/>
                    <a:p>
                      <a:r>
                        <a:rPr sz="1800">
                          <a:latin typeface="Arial"/>
                        </a:rPr>
                        <a:t>One specialist at a time, or the Accessibility Agents project</a:t>
                      </a:r>
                    </a:p>
                  </a:txBody>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commitment wall</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4:15</a:t>
            </a:r>
          </a:p>
          <a:p>
            <a:pPr marL="0" indent="0">
              <a:buNone/>
            </a:pPr>
            <a:r>
              <a:rPr sz="2000" b="0">
                <a:latin typeface="Arial"/>
              </a:rPr>
              <a:t>Every commitment in this room, on one screen, with no names on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Go make one more champion</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4:25 - Thank you</a:t>
            </a:r>
          </a:p>
          <a:p>
            <a:pPr marL="0" indent="0">
              <a:buNone/>
            </a:pPr>
            <a:r>
              <a:rPr sz="2400" b="0">
                <a:latin typeface="Arial"/>
              </a:rPr>
              <a:t>You came in with a problem. You are leaving with an agent, a team and a plan.</a:t>
            </a:r>
          </a:p>
          <a:p>
            <a:pPr marL="0" indent="0">
              <a:buNone/>
            </a:pPr>
            <a:r>
              <a:rPr sz="2000" b="0">
                <a:latin typeface="Arial"/>
              </a:rPr>
              <a:t>Before you go: the session evaluation. It shapes next year's conference.</a:t>
            </a:r>
          </a:p>
          <a:p>
            <a:pPr marL="0" indent="0">
              <a:buNone/>
            </a:pPr>
            <a:r>
              <a:rPr sz="2000" b="0">
                <a:latin typeface="Arial"/>
              </a:rPr>
              <a:t>Help any time, before or after today: support@community-access.org.</a:t>
            </a:r>
          </a:p>
          <a:p>
            <a:pPr marL="0" indent="0">
              <a:buNone/>
            </a:pPr>
            <a:r>
              <a:rPr sz="2000" b="0">
                <a:latin typeface="Arial"/>
              </a:rPr>
              <a:t>GLOW is a community project of BITS, an affiliate of the American Council of the Blind.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Accessibility Agents</dc:title>
  <dc:subject>Building Human-Centered AI Workflows for Trusted Accessibility Automation at Scale</dc:subject>
  <dc:creator>Jeff Bishop - BITS, an affiliate of the American Council of the Blind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