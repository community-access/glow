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[Accessing Higher Ground 2026]</a:t>
            </a:r>
          </a:p>
          <a:p/>
          <a:p>
            <a:r>
              <a:t>Do not start with the tool. Start with the room. Ask nothing yet - let people sit down, find power, and settle.</a:t>
            </a:r>
          </a:p>
          <a:p/>
          <a:p>
            <a:r>
              <a:t>The proctor introduces the session. Put the microphone on before you say a word, and keep it on all day: when a volunteer speaks, pass them a mic or say what they said back into yours before you answer. Some people in this room hear you only through it.</a:t>
            </a:r>
          </a:p>
          <a:p/>
          <a:p>
            <a:r>
              <a:t>Say the key point once, before any logistics, in one sentence: the work is not fixing documents, it is making more people who can. Then the promise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promise]</a:t>
            </a:r>
          </a:p>
          <a:p/>
          <a:p>
            <a:r>
              <a:t>Say this in the first ten minutes, exactly once, and mean it. Everything later in the day depends on the room believing it.</a:t>
            </a:r>
          </a:p>
          <a:p/>
          <a:p>
            <a:r>
              <a:t>The upload rule matters: free accounts allow roughly two image uploads a day and do not publish the number. An instruction that fails at 1:40 is worse than one nobody followed.</a:t>
            </a:r>
          </a:p>
          <a:p/>
          <a:p>
            <a:r>
              <a:t>The privacy half matters more. Say what private means here: student records, health or disability information, anyone's name. A free assistant may keep what is pasted into it. Use the scenarios, or strip the details out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[Housekeeping]</a:t>
            </a:r>
          </a:p>
          <a:p/>
          <a:p>
            <a:r>
              <a:t>Name the exits and the bathrooms, physically pointing. Some people will not ask.</a:t>
            </a:r>
          </a:p>
          <a:p/>
          <a:p>
            <a:r>
              <a:t>If anyone arrived without the worksheet pack, the links are on the workshop home page and work on a phone. We do not hand out paper.</a:t>
            </a:r>
          </a:p>
          <a:p/>
          <a:p>
            <a:r>
              <a:t>Say the last bullet slowly, then add: that is not an interruption of this workshop - it is this workshop. It sets the tone for whether anyone asks for anything all day.</a:t>
            </a:r>
          </a:p>
          <a:p/>
          <a:p>
            <a:r>
              <a:t>The worksheet pack was published before today for anyone who wanted to print their own. Say so for the person who did.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[Join the room]</a:t>
            </a:r>
          </a:p>
          <a:p/>
          <a:p>
            <a:r>
              <a:t>Read the address out twice, letter by letter, then wait. Do not move on until people are in. The code on this slide is the live one for this session - there is nothing to replace.</a:t>
            </a:r>
          </a:p>
          <a:p/>
          <a:p>
            <a:r>
              <a:t>Say what is on the screen: the address and nothing else. The QR code is on the table cards, not here, so nobody hunts the slide for it.</a:t>
            </a:r>
          </a:p>
          <a:p/>
          <a:p>
            <a:r>
              <a:t>Signage is printed from the facilitator dashboard: session, then signage.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early]</a:t>
            </a:r>
          </a:p>
          <a:p/>
          <a:p>
            <a:r>
              <a:t>Give this twice: once now, once at the 10:10 break, when there is something worth keeping.</a:t>
            </a:r>
          </a:p>
          <a:p/>
          <a:p>
            <a:r>
              <a:t>If Postmark is not configured, the form is replaced by a download prompt. Check before the room fills - it is invisible until you look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are here]</a:t>
            </a:r>
          </a:p>
          <a:p/>
          <a:p>
            <a:r>
              <a:t>This is the pivot of the whole day. Let it sit. Some people in this room are exhausted by being the only one.</a:t>
            </a:r>
          </a:p>
          <a:p/>
          <a:p>
            <a:r>
              <a:t>Optional: ask for a show of hands on "who is the only accessibility person in your unit" - but only if the room is warm enough. It can land as exposure rather than solidarity.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words for the day]</a:t>
            </a:r>
          </a:p>
          <a:p/>
          <a:p>
            <a:r>
              <a:t>Map the day onto this once, here, and then stop talking about the acronym. It is scaffolding, not content.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boundary]</a:t>
            </a:r>
          </a:p>
          <a:p/>
          <a:p>
            <a:r>
              <a:t>This is the slide institutional leadership cares about. It is also the honest one.</a:t>
            </a:r>
          </a:p>
          <a:p/>
          <a:p>
            <a:r>
              <a:t>Set the AI context here, in under a minute. What this session covers: where AI can help in accessibility work, and the human review that has to follow it. What it does not: comparing vendors, building software, or requiring anyone to use AI at all.</a:t>
            </a:r>
          </a:p>
          <a:p/>
          <a:p>
            <a:r>
              <a:t>Say what makes it different from the other AI sessions this week: it is about people making more people who can, and AI stays optional throughout. Name the reasons people hesitate - privacy, accuracy, other people's jobs - without dwelling on them. The boundary on this slide is the answer to each.</a:t>
            </a:r>
          </a:p>
          <a:p/>
          <a:p>
            <a:r>
              <a:t>The generated prompts put the participant's own review step inside the prompt as an instruction, not as a closing remark. Mention that at activity 5, not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day]</a:t>
            </a:r>
          </a:p>
          <a:p/>
          <a:p>
            <a:r>
              <a:t>Thirty seconds. Read the three parts out loud - not everyone can read the screen. Then say "the last part is what you take home".</a:t>
            </a:r>
          </a:p>
          <a:p/>
          <a:p>
            <a:r>
              <a:t>The full timetable, every break included, is on the workshop home page on every device. These times come from the workshop agenda, so they cannot drift from what each activity page shows.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1 - 20 minutes - /w/ahg-2026/1]</a:t>
            </a:r>
          </a:p>
          <a:p/>
          <a:p>
            <a:r>
              <a:t>No sharing pressure. Writing, then a table conversation if the table wants one.</a:t>
            </a:r>
          </a:p>
          <a:p/>
          <a:p>
            <a:r>
              <a:t>When the first submissions land, point people at the return link. This is the moment they have something to lose.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2 - 30 minutes - /w/ahg-2026/2]</a:t>
            </a:r>
          </a:p>
          <a:p/>
          <a:p>
            <a:r>
              <a:t>Watch for tool-first answers - "we need a checker". Push back gently: a checker is an answer, not a problem.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3 - 30 minutes - /w/ahg-2026/3]</a:t>
            </a:r>
          </a:p>
          <a:p/>
          <a:p>
            <a:r>
              <a:t>The hard part is tone, not content. Nobody learns from a reply that makes them feel caught.</a:t>
            </a:r>
          </a:p>
          <a:p/>
          <a:p>
            <a:r>
              <a:t>Ask for one volunteer to read theirs aloud. One is enough.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- 15 minutes]</a:t>
            </a:r>
          </a:p>
          <a:p/>
          <a:p>
            <a:r>
              <a:t>Project the room pulse during the break. Counts only - it is safe on a screen.</a:t>
            </a:r>
          </a:p>
          <a:p/>
          <a:p>
            <a:r>
              <a:t>Walk the room. The person who has not typed anything is the one to sit with, quietly.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4 - 30 minutes - /w/ahg-2026/4]</a:t>
            </a:r>
          </a:p>
          <a:p/>
          <a:p>
            <a:r>
              <a:t>The examples are deliberately arguable. If a table disagrees about which pile something is in, that argument is the exercise.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5 - 35 minutes - /w/ahg-2026/5]</a:t>
            </a:r>
          </a:p>
          <a:p/>
          <a:p>
            <a:r>
              <a:t>This is the technical peak of the day and it is still five sentences on a page. Say so.</a:t>
            </a:r>
          </a:p>
          <a:p/>
          <a:p>
            <a:r>
              <a:t>Mention the optional "Run your agent" lab here, once. Lunch or after 4:30. A door, not a corridor.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1 - 45 minutes - /w/ahg-2026/6]</a:t>
            </a:r>
          </a:p>
          <a:p/>
          <a:p>
            <a:r>
              <a:t>Four scenarios from four sectors, plus "Surprise me", which is deterministic per person - two people at a table will rarely get the same brief, and you can walk anyone back through what they were given.</a:t>
            </a:r>
          </a:p>
          <a:p/>
          <a:p>
            <a:r>
              <a:t>A real document of their own always beats a scenario.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[Lunch - 12:15-1:15]</a:t>
            </a:r>
          </a:p>
          <a:p/>
          <a:p>
            <a:r>
              <a:t>Eat. Nothing in the afternoon depends on a model answering, so there is nothing to watch over lunch.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Re-entry]</a:t>
            </a:r>
          </a:p>
          <a:p/>
          <a:p>
            <a:r>
              <a:t>Project the facilitator dashboard. Counts only - it never carries anyone's work. Read the counts aloud; the screen is not the only way into the room.</a:t>
            </a:r>
          </a:p>
          <a:p/>
          <a:p>
            <a:r>
              <a:t>Nothing in the afternoon depends on a model answering, so there is no bad news to deliver here. Say that once if the room looks anxious about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2 - 45 minutes - /w/ahg-2026/7]</a:t>
            </a:r>
          </a:p>
          <a:p/>
          <a:p>
            <a:r>
              <a:t>Nobody uploads anything. Purpose lives in the words around an image, not in the pixels - a lab built on 'upload it and see' teaches the opposite.</a:t>
            </a:r>
          </a:p>
          <a:p/>
          <a:p>
            <a:r>
              <a:t>The descriptions are written to be argued with. One is fluent and confidently wrong; that is the one to spend time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 the method]</a:t>
            </a:r>
          </a:p>
          <a:p/>
          <a:p>
            <a:r>
              <a:t>If you have one, show a generated description that is fluent and factually wrong. It teaches more than any slide.</a:t>
            </a:r>
          </a:p>
          <a:p/>
          <a:p>
            <a:r>
              <a:t>Decorative images: an empty alt is a decision, and a correct one. Say it explicitly - many people have never been told.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3 - 45 minutes - /w/ahg-2026/8]</a:t>
            </a:r>
          </a:p>
          <a:p/>
          <a:p>
            <a:r>
              <a:t>Everyone sorts by effort first. The reorder, once someone says "but this one blocks a student on Monday",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 minutes]</a:t>
            </a:r>
          </a:p>
          <a:p/>
          <a:p>
            <a:r>
              <a:t>Short break on purpose. Protect the last 85 minutes; that is where the artifact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[Studio - 40 minutes - /w/ahg-2026/9]</a:t>
            </a:r>
          </a:p>
          <a:p/>
          <a:p>
            <a:r>
              <a:t>Workflows shared to the gallery carry a "Start from this workflow" link. It fills an empty form only; it never writes over someone's own answers. Anonymous submitters stay anonymous in the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 review - 10 minutes - gallery]</a:t>
            </a:r>
          </a:p>
          <a:p/>
          <a:p>
            <a:r>
              <a:t>The gallery announces new work as a count and waits for the reader to press "Show new submissions". Nothing appears underneath anyone mid-read. Say that out loud - it will be noticed in this room, and it should be.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[Capstone - 15 minutes - /w/ahg-2026/10]</a:t>
            </a:r>
          </a:p>
          <a:p/>
          <a:p>
            <a:r>
              <a:t>Take three or four out loud, from volunteers. Then send everyone to the artifact page - that is the next slide and it needs two full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it with you]</a:t>
            </a:r>
          </a:p>
          <a:p/>
          <a:p>
            <a:r>
              <a:t>Do not rush this. Two minutes each, and it is the highest-value two minutes of the day.</a:t>
            </a:r>
          </a:p>
          <a:p/>
          <a:p>
            <a:r>
              <a:t>The plain text of the artifact is in the email body too, because institutional mail gateways strip attachments.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11 - 10 minutes - /w/ahg-2026/11]</a:t>
            </a:r>
          </a:p>
          <a:p/>
          <a:p>
            <a:r>
              <a:t>Small is the point. "Rewrite one email template" beats "audit the LMS".</a:t>
            </a:r>
          </a:p>
          <a:p/>
          <a:p>
            <a:r>
              <a:t>The last two are the additions, and they are the difference between a good intention and something that survives an institution. A workflow nobody approved and nobody measured gets forgotten.</a:t>
            </a:r>
          </a:p>
          <a:p/>
          <a:p>
            <a:r>
              <a:t>Nobody is going to chase them about this. Say so, and say where help is: support@community-access.org.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a:t>
            </a:r>
          </a:p>
          <a:p/>
          <a:p>
            <a:r>
              <a:t>Project it. Read three aloud. Do not comment on them, do not rank them, do not add a moral.</a:t>
            </a:r>
          </a:p>
          <a:p/>
          <a:p>
            <a:r>
              <a:t>Then go straight to what happens next. The last five minutes belong to the session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today]</a:t>
            </a:r>
          </a:p>
          <a:p/>
          <a:p>
            <a:r>
              <a:t>Nobody is emailed twice, nobody who did not give an address is on the list, and the nudge is a command a person runs after looking at what is about to go out.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a:t>
            </a:r>
          </a:p>
          <a:p/>
          <a:p>
            <a:r>
              <a:t>Last slide. Say it, thank them, and hand over to the proctor for the session evaluation. Then stop talking while people fill it in - the five minutes are theirs.</a:t>
            </a:r>
          </a:p>
          <a:p/>
          <a:p>
            <a:r>
              <a:t>Do not add a Q and A block here - answer at the tables while people pack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Accessibility Agents in Action</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Accessing Higher Ground 2026</a:t>
            </a:r>
          </a:p>
          <a:p>
            <a:pPr marL="0" indent="0">
              <a:buNone/>
            </a:pPr>
            <a:r>
              <a:rPr sz="2400" b="0">
                <a:latin typeface="Arial"/>
              </a:rPr>
              <a:t>A hands-on GLOW workshop for human-centered accessibility workflows</a:t>
            </a:r>
          </a:p>
          <a:p>
            <a:pPr marL="0" indent="0">
              <a:buNone/>
            </a:pPr>
            <a:r>
              <a:rPr sz="2400" b="0">
                <a:latin typeface="Arial"/>
              </a:rPr>
              <a:t>Helping everyone become an accessibility champion.</a:t>
            </a:r>
          </a:p>
          <a:p>
            <a:pPr marL="0" indent="0">
              <a:buNone/>
            </a:pPr>
            <a:r>
              <a:rPr sz="2000" b="0">
                <a:latin typeface="Arial"/>
              </a:rPr>
              <a:t>Jeff Bishop - BITS, an affiliate of the American Council of the Blind - letitglow.app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Two ways, and the first one is enough</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promise</a:t>
            </a:r>
          </a:p>
          <a:p>
            <a:pPr lvl="1">
              <a:buNone/>
            </a:pPr>
            <a:r>
              <a:rPr sz="2000" b="0">
                <a:latin typeface="Arial"/>
              </a:rPr>
              <a:t>1. GLOW, in a browser. The whole day. No account, no sign-in, no AI.</a:t>
            </a:r>
          </a:p>
          <a:p>
            <a:pPr lvl="1">
              <a:buNone/>
            </a:pPr>
            <a:r>
              <a:rPr sz="2000" b="0">
                <a:latin typeface="Arial"/>
              </a:rPr>
              <a:t>2. Plus your own assistant, if you already have one. An upgrade on the same exercise, never a different one.</a:t>
            </a:r>
          </a:p>
          <a:p>
            <a:pPr marL="0" indent="0">
              <a:buNone/>
            </a:pPr>
            <a:r>
              <a:rPr sz="2800" b="1">
                <a:latin typeface="Arial"/>
              </a:rPr>
              <a:t>Nothing today needs an account with anyone.</a:t>
            </a:r>
          </a:p>
          <a:p>
            <a:pPr marL="0" indent="0">
              <a:buNone/>
            </a:pPr>
            <a:r>
              <a:rPr sz="2000" b="0">
                <a:latin typeface="Arial"/>
              </a:rPr>
              <a:t>One rule if you use an assistant: paste text, never upload files - and never paste anything private.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How today runs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Housekeeping</a:t>
            </a:r>
          </a:p>
          <a:p>
            <a:pPr lvl="1"/>
            <a:r>
              <a:rPr sz="2000" b="0">
                <a:latin typeface="Arial"/>
              </a:rPr>
              <a:t>8:30 to 4:30. Lunch at 12:15. Breaks at 10:10 and 2:55.</a:t>
            </a:r>
          </a:p>
          <a:p>
            <a:pPr lvl="1"/>
            <a:r>
              <a:rPr sz="2000" b="0">
                <a:latin typeface="Arial"/>
              </a:rPr>
              <a:t>Eleven activities. Nothing is graded, and nothing is collected without you choosing to share it.</a:t>
            </a:r>
          </a:p>
          <a:p>
            <a:pPr lvl="1"/>
            <a:r>
              <a:rPr sz="2000" b="0">
                <a:latin typeface="Arial"/>
              </a:rPr>
              <a:t>Any device, a phone included. Nothing to install, so a locked-down work laptop is fine.</a:t>
            </a:r>
          </a:p>
          <a:p>
            <a:pPr lvl="1"/>
            <a:r>
              <a:rPr sz="2000" b="0">
                <a:latin typeface="Arial"/>
              </a:rPr>
              <a:t>Everything you write is yours, and you leave with all of it.</a:t>
            </a:r>
          </a:p>
          <a:p>
            <a:pPr lvl="1"/>
            <a:r>
              <a:rPr sz="2000" b="0">
                <a:latin typeface="Arial"/>
              </a:rPr>
              <a:t>Ask for anything, any time - large print, a seat, a pause, a repeat.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One address, all day</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Join the room</a:t>
            </a:r>
          </a:p>
          <a:p>
            <a:pPr marL="0" indent="0">
              <a:buNone/>
            </a:pPr>
            <a:r>
              <a:rPr sz="3200" b="1">
                <a:latin typeface="Arial"/>
              </a:rPr>
              <a:t>letitglow.app/w/ahg-2026</a:t>
            </a:r>
          </a:p>
          <a:p>
            <a:pPr marL="0" indent="0">
              <a:buNone/>
            </a:pPr>
            <a:r>
              <a:rPr sz="2000" b="0">
                <a:latin typeface="Arial"/>
              </a:rPr>
              <a:t>The same address is on the card at every table, in large type, with a QR code beside it.</a:t>
            </a:r>
          </a:p>
          <a:p>
            <a:pPr marL="0" indent="0">
              <a:buNone/>
            </a:pPr>
            <a:r>
              <a:rPr sz="2000" b="0">
                <a:latin typeface="Arial"/>
              </a:rPr>
              <a:t>Each activity has its own short address: slash 1, slash 2, and so on, numbered the way I will say them out loud.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So you never lose your work</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Do this early</a:t>
            </a:r>
          </a:p>
          <a:p>
            <a:pPr marL="0" indent="0">
              <a:buNone/>
            </a:pPr>
            <a:r>
              <a:rPr sz="2000" b="0">
                <a:latin typeface="Arial"/>
              </a:rPr>
              <a:t>Your work is held against this browser on this device. Switch to a phone, or clear your cookies, and it is gone.</a:t>
            </a:r>
          </a:p>
          <a:p>
            <a:pPr marL="0" indent="0">
              <a:buNone/>
            </a:pPr>
            <a:r>
              <a:rPr sz="2000" b="0">
                <a:latin typeface="Arial"/>
              </a:rPr>
              <a:t>On My workshop content, under Work on another device, give an email address and you will be sent a link that restores everything, anywhere.</a:t>
            </a:r>
          </a:p>
          <a:p>
            <a:pPr lvl="1"/>
            <a:r>
              <a:rPr sz="2000" b="0">
                <a:latin typeface="Arial"/>
              </a:rPr>
              <a:t>Entirely optional. The day works without it.</a:t>
            </a:r>
          </a:p>
          <a:p>
            <a:pPr lvl="1"/>
            <a:r>
              <a:rPr sz="2000" b="0">
                <a:latin typeface="Arial"/>
              </a:rPr>
              <a:t>The address is used for that one message and never appears anywhere else.</a:t>
            </a:r>
          </a:p>
          <a:p>
            <a:pPr lvl="1"/>
            <a:r>
              <a:rPr sz="2000" b="0">
                <a:latin typeface="Arial"/>
              </a:rPr>
              <a:t>The link lasts 45 days, which outlives your 30-day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Accessibility does not scale by fixing</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Why we are here</a:t>
            </a:r>
          </a:p>
          <a:p>
            <a:pPr marL="0" indent="0">
              <a:buNone/>
            </a:pPr>
            <a:r>
              <a:rPr sz="2000" b="0">
                <a:latin typeface="Arial"/>
              </a:rPr>
              <a:t>If you are the person who fixes everything, then accessibility in your institution is exactly as large as your calendar.</a:t>
            </a:r>
          </a:p>
          <a:p>
            <a:pPr marL="0" indent="0">
              <a:buNone/>
            </a:pPr>
            <a:r>
              <a:rPr sz="2800" b="1">
                <a:latin typeface="Arial"/>
              </a:rPr>
              <a:t>The work is not fixing documents. The work is making more people who can.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GLOW framework</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Four words for the day</a:t>
            </a:r>
          </a:p>
          <a:p>
            <a:pPr lvl="1"/>
            <a:r>
              <a:rPr sz="2000" b="0">
                <a:latin typeface="Arial"/>
              </a:rPr>
              <a:t>G - Ground: Ground the work in a real accessibility problem, not a tool.</a:t>
            </a:r>
          </a:p>
          <a:p>
            <a:pPr lvl="1"/>
            <a:r>
              <a:rPr sz="2000" b="0">
                <a:latin typeface="Arial"/>
              </a:rPr>
              <a:t>L - Learn: Learn what the people around you actually need to understand.</a:t>
            </a:r>
          </a:p>
          <a:p>
            <a:pPr lvl="1"/>
            <a:r>
              <a:rPr sz="2000" b="0">
                <a:latin typeface="Arial"/>
              </a:rPr>
              <a:t>O - Organize: Organize it into a workflow that repeats without you.</a:t>
            </a:r>
          </a:p>
          <a:p>
            <a:pPr lvl="1"/>
            <a:r>
              <a:rPr sz="2000" b="0">
                <a:latin typeface="Arial"/>
              </a:rPr>
              <a:t>W - Walk: Walk forward as champions, plural.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AI drafts. People decide.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boundary</a:t>
            </a:r>
          </a:p>
          <a:p>
            <a:pPr marL="0" indent="0">
              <a:buNone/>
            </a:pPr>
            <a:r>
              <a:rPr sz="2000" b="0">
                <a:latin typeface="Arial"/>
              </a:rPr>
              <a:t>Every activity today has a human-review step that you write yourself, in your own words, for your own context.</a:t>
            </a:r>
          </a:p>
          <a:p>
            <a:pPr marL="0" indent="0">
              <a:buNone/>
            </a:pPr>
            <a:r>
              <a:rPr sz="2000" b="0">
                <a:latin typeface="Arial"/>
              </a:rPr>
              <a:t>Not because AI is dangerous in the abstract - because purpose, meaning, context and harm are judgments, and judgments have owners.</a:t>
            </a:r>
          </a:p>
          <a:p>
            <a:pPr marL="0" indent="0">
              <a:buNone/>
            </a:pPr>
            <a:r>
              <a:rPr sz="2800" b="1">
                <a:latin typeface="Arial"/>
              </a:rPr>
              <a:t>If nobody is named, nobody reviewed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Where we are going</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The shape of the day</a:t>
            </a:r>
          </a:p>
          <a:p>
            <a:pPr lvl="1"/>
            <a:r>
              <a:rPr sz="2000" b="0">
                <a:latin typeface="Arial"/>
              </a:rPr>
              <a:t>Morning, 8:30-12:15: Why this work matters, five short activities, and Lab 1. Break at 10:10.</a:t>
            </a:r>
          </a:p>
          <a:p>
            <a:pPr lvl="1"/>
            <a:r>
              <a:rPr sz="2000" b="0">
                <a:latin typeface="Arial"/>
              </a:rPr>
              <a:t>Afternoon, 1:15-3:05: Two labs: alt text, then remediation planning. Break at 2:55.</a:t>
            </a:r>
          </a:p>
          <a:p>
            <a:pPr lvl="1"/>
            <a:r>
              <a:rPr sz="2000" b="0">
                <a:latin typeface="Arial"/>
              </a:rPr>
              <a:t>Close, 3:05-4:30: Your workflow, your take-home artifact, your 30-day plan, and the session evaluation.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Accessibility Journey Check-In</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Activity 1 - 20 minutes - /w/ahg-2026/1</a:t>
            </a:r>
          </a:p>
          <a:p>
            <a:pPr marL="0" indent="0">
              <a:buNone/>
            </a:pPr>
            <a:r>
              <a:rPr sz="2000" b="0">
                <a:latin typeface="Arial"/>
              </a:rPr>
              <a:t>What accessibility work do you actually do? Where do your partners get stuck - the same place, over and over?</a:t>
            </a:r>
          </a:p>
          <a:p>
            <a:pPr marL="0" indent="0">
              <a:buNone/>
            </a:pPr>
            <a:r>
              <a:rPr sz="2000" b="0">
                <a:latin typeface="Arial"/>
              </a:rPr>
              <a:t>What would change if more of them became champions?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What problem are we solving?</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Activity 2 - 30 minutes - /w/ahg-2026/2</a:t>
            </a:r>
          </a:p>
          <a:p>
            <a:pPr marL="0" indent="0">
              <a:buNone/>
            </a:pPr>
            <a:r>
              <a:rPr sz="2000" b="0">
                <a:latin typeface="Arial"/>
              </a:rPr>
              <a:t>Start with the problem you can see today.</a:t>
            </a:r>
          </a:p>
          <a:p>
            <a:pPr marL="0" indent="0">
              <a:buNone/>
            </a:pPr>
            <a:r>
              <a:rPr sz="2000" b="0">
                <a:latin typeface="Arial"/>
              </a:rPr>
              <a:t>Then name the deeper one behind it. Who needs to learn this work, or own part of it?</a:t>
            </a:r>
          </a:p>
          <a:p>
            <a:pPr marL="0" indent="0">
              <a:buNone/>
            </a:pPr>
            <a:r>
              <a:rPr sz="2800" b="1">
                <a:latin typeface="Arial"/>
              </a:rPr>
              <a:t>What does success look like if it happens again and again, without 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Fix it for me, or teach me?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Activity 3 - 30 minutes - /w/ahg-2026/3</a:t>
            </a:r>
          </a:p>
          <a:p>
            <a:pPr marL="0" indent="0">
              <a:buNone/>
            </a:pPr>
            <a:r>
              <a:rPr sz="2000" b="0">
                <a:latin typeface="Arial"/>
              </a:rPr>
              <a:t>Take a real request that said "just fix it for me."</a:t>
            </a:r>
          </a:p>
          <a:p>
            <a:pPr marL="0" indent="0">
              <a:buNone/>
            </a:pPr>
            <a:r>
              <a:rPr sz="2000" b="0">
                <a:latin typeface="Arial"/>
              </a:rPr>
              <a:t>Write the reply that does both: solves it today, and teaches it for next time.</a:t>
            </a:r>
          </a:p>
          <a:p>
            <a:pPr lvl="1"/>
            <a:r>
              <a:rPr sz="2000" b="0">
                <a:latin typeface="Arial"/>
              </a:rPr>
              <a:t>The pattern: I have done X for you. Here is the one thing that caused it. Next time, do Y - it takes about a minute, and here is where it lives.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Back at 10:25</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Break - 15 minutes</a:t>
            </a:r>
          </a:p>
          <a:p>
            <a:pPr marL="0" indent="0">
              <a:buNone/>
            </a:pPr>
            <a:r>
              <a:rPr sz="2000" b="0">
                <a:latin typeface="Arial"/>
              </a:rPr>
              <a:t>If you have not sent yourself a return link yet, now is the moment. My workshop content, then Work on another device.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Helpful, risky, or human required?</a:t>
            </a:r>
          </a:p>
        </p:txBody>
      </p:sp>
      <p:sp>
        <p:nvSpPr>
          <p:cNvPr id="3" name="TextBox 2"/>
          <p:cNvSpPr txBox="1"/>
          <p:nvPr/>
        </p:nvSpPr>
        <p:spPr>
          <a:xfrm>
            <a:off x="548640" y="1463040"/>
            <a:ext cx="11064240" cy="1234440"/>
          </a:xfrm>
          <a:prstGeom prst="rect">
            <a:avLst/>
          </a:prstGeom>
          <a:noFill/>
        </p:spPr>
        <p:txBody>
          <a:bodyPr wrap="square">
            <a:spAutoFit/>
          </a:bodyPr>
          <a:lstStyle/>
          <a:p>
            <a:r>
              <a:rPr sz="1800">
                <a:latin typeface="Arial"/>
              </a:rPr>
              <a:t>Activity 4 - 30 minutes - /w/ahg-2026/4</a:t>
            </a:r>
          </a:p>
          <a:p>
            <a:r>
              <a:rPr sz="1800">
                <a:latin typeface="Arial"/>
              </a:rPr>
              <a:t>Sort your own tasks into three piles. Then write the safeguard that makes the middle pile safe.</a:t>
            </a:r>
          </a:p>
          <a:p>
            <a:r>
              <a:rPr sz="1800">
                <a:latin typeface="Arial"/>
              </a:rPr>
              <a:t>The three piles</a:t>
            </a:r>
          </a:p>
        </p:txBody>
      </p:sp>
      <p:graphicFrame>
        <p:nvGraphicFramePr>
          <p:cNvPr id="4" name="Table 3" descr="The three piles"/>
          <p:cNvGraphicFramePr>
            <a:graphicFrameLocks noGrp="1"/>
          </p:cNvGraphicFramePr>
          <p:nvPr/>
        </p:nvGraphicFramePr>
        <p:xfrm>
          <a:off x="548640" y="2971800"/>
          <a:ext cx="11064240" cy="1920240"/>
        </p:xfrm>
        <a:graphic>
          <a:graphicData uri="http://schemas.openxmlformats.org/drawingml/2006/table">
            <a:tbl>
              <a:tblPr firstRow="1" bandRow="1">
                <a:tableStyleId>{5C22544A-7EE6-4342-B048-85BDC9FD1C3A}</a:tableStyleId>
              </a:tblPr>
              <a:tblGrid>
                <a:gridCol w="5532120"/>
                <a:gridCol w="5532120"/>
              </a:tblGrid>
              <a:tr h="480060">
                <a:tc>
                  <a:txBody>
                    <a:bodyPr/>
                    <a:lstStyle/>
                    <a:p>
                      <a:r>
                        <a:rPr sz="1800" b="1">
                          <a:latin typeface="Arial"/>
                        </a:rPr>
                        <a:t>Pile</a:t>
                      </a:r>
                    </a:p>
                  </a:txBody>
                  <a:tcPr/>
                </a:tc>
                <a:tc>
                  <a:txBody>
                    <a:bodyPr/>
                    <a:lstStyle/>
                    <a:p>
                      <a:r>
                        <a:rPr sz="1800" b="1">
                          <a:latin typeface="Arial"/>
                        </a:rPr>
                        <a:t>Example</a:t>
                      </a:r>
                    </a:p>
                  </a:txBody>
                  <a:tcPr/>
                </a:tc>
              </a:tr>
              <a:tr h="480060">
                <a:tc>
                  <a:txBody>
                    <a:bodyPr/>
                    <a:lstStyle/>
                    <a:p>
                      <a:r>
                        <a:rPr sz="1800">
                          <a:latin typeface="Arial"/>
                        </a:rPr>
                        <a:t>Helpful for AI</a:t>
                      </a:r>
                    </a:p>
                  </a:txBody>
                  <a:tcPr/>
                </a:tc>
                <a:tc>
                  <a:txBody>
                    <a:bodyPr/>
                    <a:lstStyle/>
                    <a:p>
                      <a:r>
                        <a:rPr sz="1800">
                          <a:latin typeface="Arial"/>
                        </a:rPr>
                        <a:t>Drafting alt text for a chart you wrote</a:t>
                      </a:r>
                    </a:p>
                  </a:txBody>
                  <a:tcPr/>
                </a:tc>
              </a:tr>
              <a:tr h="480060">
                <a:tc>
                  <a:txBody>
                    <a:bodyPr/>
                    <a:lstStyle/>
                    <a:p>
                      <a:r>
                        <a:rPr sz="1800">
                          <a:latin typeface="Arial"/>
                        </a:rPr>
                        <a:t>Risky without review</a:t>
                      </a:r>
                    </a:p>
                  </a:txBody>
                  <a:tcPr/>
                </a:tc>
                <a:tc>
                  <a:txBody>
                    <a:bodyPr/>
                    <a:lstStyle/>
                    <a:p>
                      <a:r>
                        <a:rPr sz="1800">
                          <a:latin typeface="Arial"/>
                        </a:rPr>
                        <a:t>Summarising a policy document</a:t>
                      </a:r>
                    </a:p>
                  </a:txBody>
                  <a:tcPr/>
                </a:tc>
              </a:tr>
              <a:tr h="480060">
                <a:tc>
                  <a:txBody>
                    <a:bodyPr/>
                    <a:lstStyle/>
                    <a:p>
                      <a:r>
                        <a:rPr sz="1800">
                          <a:latin typeface="Arial"/>
                        </a:rPr>
                        <a:t>Human required</a:t>
                      </a:r>
                    </a:p>
                  </a:txBody>
                  <a:tcPr/>
                </a:tc>
                <a:tc>
                  <a:txBody>
                    <a:bodyPr/>
                    <a:lstStyle/>
                    <a:p>
                      <a:r>
                        <a:rPr sz="1800">
                          <a:latin typeface="Arial"/>
                        </a:rPr>
                        <a:t>Deciding what an image is for</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Accessibility Agent Formula</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Activity 5 - 35 minutes - /w/ahg-2026/5</a:t>
            </a:r>
          </a:p>
          <a:p>
            <a:pPr lvl="1"/>
            <a:r>
              <a:rPr sz="2000" b="0">
                <a:latin typeface="Arial"/>
              </a:rPr>
              <a:t>Role: Who is it being, and for whom?</a:t>
            </a:r>
          </a:p>
          <a:p>
            <a:pPr lvl="1"/>
            <a:r>
              <a:rPr sz="2000" b="0">
                <a:latin typeface="Arial"/>
              </a:rPr>
              <a:t>Task: One job, said plainly.</a:t>
            </a:r>
          </a:p>
          <a:p>
            <a:pPr lvl="1"/>
            <a:r>
              <a:rPr sz="2000" b="0">
                <a:latin typeface="Arial"/>
              </a:rPr>
              <a:t>Trusted guidance: Whose rules - WCAG, ACB large print, your own style guide?</a:t>
            </a:r>
          </a:p>
          <a:p>
            <a:pPr lvl="1"/>
            <a:r>
              <a:rPr sz="2000" b="0">
                <a:latin typeface="Arial"/>
              </a:rPr>
              <a:t>Output format: What comes back, in what shape, so a person can use it?</a:t>
            </a:r>
          </a:p>
          <a:p>
            <a:pPr lvl="1"/>
            <a:r>
              <a:rPr sz="2000" b="0">
                <a:latin typeface="Arial"/>
              </a:rPr>
              <a:t>Human review: Who checks what, before it goes out?</a:t>
            </a:r>
          </a:p>
          <a:p>
            <a:pPr marL="0" indent="0">
              <a:buNone/>
            </a:pPr>
            <a:r>
              <a:rPr sz="2000" b="0">
                <a:latin typeface="Arial"/>
              </a:rPr>
              <a:t>You are not writing code. You are writing instructions for a colleague who is fast, literal, and has never met your institution.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GLOW Lab 1: Accessible Communications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Lab 1 - 45 minutes - /w/ahg-2026/6</a:t>
            </a:r>
          </a:p>
          <a:p>
            <a:pPr marL="0" indent="0">
              <a:buNone/>
            </a:pPr>
            <a:r>
              <a:rPr sz="2000" b="0">
                <a:latin typeface="Arial"/>
              </a:rPr>
              <a:t>Rewrite a real message so more people can read it.</a:t>
            </a:r>
          </a:p>
          <a:p>
            <a:pPr lvl="1"/>
            <a:r>
              <a:rPr sz="2000" b="0">
                <a:latin typeface="Arial"/>
              </a:rPr>
              <a:t>Plain words, short sentences.</a:t>
            </a:r>
          </a:p>
          <a:p>
            <a:pPr lvl="1"/>
            <a:r>
              <a:rPr sz="2000" b="0">
                <a:latin typeface="Arial"/>
              </a:rPr>
              <a:t>Real headings, not bold text pretending to be headings.</a:t>
            </a:r>
          </a:p>
          <a:p>
            <a:pPr lvl="1"/>
            <a:r>
              <a:rPr sz="2000" b="0">
                <a:latin typeface="Arial"/>
              </a:rPr>
              <a:t>Links that say where they go.</a:t>
            </a:r>
          </a:p>
          <a:p>
            <a:pPr lvl="1"/>
            <a:r>
              <a:rPr sz="2000" b="0">
                <a:latin typeface="Arial"/>
              </a:rPr>
              <a:t>Words that welcome an access request instead of burying it.</a:t>
            </a:r>
          </a:p>
          <a:p>
            <a:pPr marL="0" indent="0">
              <a:buNone/>
            </a:pPr>
            <a:r>
              <a:rPr sz="2000" b="0">
                <a:latin typeface="Arial"/>
              </a:rPr>
              <a:t>Bring your own message if you have one. The scenarios are a net, not a rail.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Back at 1:15</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Lunch - 12:15-1:15</a:t>
            </a:r>
          </a:p>
          <a:p>
            <a:pPr marL="0" indent="0">
              <a:buNone/>
            </a:pPr>
            <a:r>
              <a:rPr sz="2000" b="0">
                <a:latin typeface="Arial"/>
              </a:rPr>
              <a:t>Nothing is due. Nothing is graded.</a:t>
            </a:r>
          </a:p>
          <a:p>
            <a:pPr marL="0" indent="0">
              <a:buNone/>
            </a:pPr>
            <a:r>
              <a:rPr sz="2000" b="0">
                <a:latin typeface="Arial"/>
              </a:rPr>
              <a:t>If you want more: the optional Run Your Agent lab is open, and it is genuinely optional.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Where the room is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1:15 - Re-entry</a:t>
            </a:r>
          </a:p>
          <a:p>
            <a:pPr marL="0" indent="0">
              <a:buNone/>
            </a:pPr>
            <a:r>
              <a:rPr sz="2000" b="0">
                <a:latin typeface="Arial"/>
              </a:rPr>
              <a:t>Here is what the room has finished so far. No names, just counts.</a:t>
            </a:r>
          </a:p>
          <a:p>
            <a:pPr marL="0" indent="0">
              <a:buNone/>
            </a:pPr>
            <a:r>
              <a:rPr sz="2800" b="1">
                <a:latin typeface="Arial"/>
              </a:rPr>
              <a:t>Nobody is behind. There is no behind.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GLOW Lab 2: Alt Text and Human Judgment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Lab 2 - 45 minutes - /w/ahg-2026/7</a:t>
            </a:r>
          </a:p>
          <a:p>
            <a:pPr marL="0" indent="0">
              <a:buNone/>
            </a:pPr>
            <a:r>
              <a:rPr sz="2000" b="0">
                <a:latin typeface="Arial"/>
              </a:rPr>
              <a:t>A machine can tell you what is in the picture.</a:t>
            </a:r>
          </a:p>
          <a:p>
            <a:pPr marL="0" indent="0">
              <a:buNone/>
            </a:pPr>
            <a:r>
              <a:rPr sz="2800" b="1">
                <a:latin typeface="Arial"/>
              </a:rPr>
              <a:t>Only you can say what the picture is for.</a:t>
            </a:r>
          </a:p>
          <a:p>
            <a:pPr marL="0" indent="0">
              <a:buNone/>
            </a:pPr>
            <a:r>
              <a:rPr sz="2000" b="0">
                <a:latin typeface="Arial"/>
              </a:rPr>
              <a:t>So this lab gives you the context in words, and descriptions somebody already wrote. Your job is to judge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Four questions, in this order</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Lab 2 - the method</a:t>
            </a:r>
          </a:p>
          <a:p>
            <a:pPr lvl="1">
              <a:buNone/>
            </a:pPr>
            <a:r>
              <a:rPr sz="2000" b="0">
                <a:latin typeface="Arial"/>
              </a:rPr>
              <a:t>1. Why is this image here? If you cannot answer, it may not need to be.</a:t>
            </a:r>
          </a:p>
          <a:p>
            <a:pPr lvl="1">
              <a:buNone/>
            </a:pPr>
            <a:r>
              <a:rPr sz="2000" b="0">
                <a:latin typeface="Arial"/>
              </a:rPr>
              <a:t>2. What must a reader know about it to follow the page?</a:t>
            </a:r>
          </a:p>
          <a:p>
            <a:pPr lvl="1">
              <a:buNone/>
            </a:pPr>
            <a:r>
              <a:rPr sz="2000" b="0">
                <a:latin typeface="Arial"/>
              </a:rPr>
              <a:t>3. What can you leave out? Alt text is not an inventory.</a:t>
            </a:r>
          </a:p>
          <a:p>
            <a:pPr lvl="1">
              <a:buNone/>
            </a:pPr>
            <a:r>
              <a:rPr sz="2000" b="0">
                <a:latin typeface="Arial"/>
              </a:rPr>
              <a:t>4. What must a person verify before this goes live?</a:t>
            </a:r>
          </a:p>
          <a:p>
            <a:pPr marL="0" indent="0">
              <a:buNone/>
            </a:pPr>
            <a:r>
              <a:rPr sz="2000" b="0">
                <a:latin typeface="Arial"/>
              </a:rPr>
              <a:t>Generated descriptions are confident and sometimes wrong. Question four is the whole job.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GLOW Lab 3: Remediation Planning</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Lab 3 - 45 minutes - /w/ahg-2026/8</a:t>
            </a:r>
          </a:p>
          <a:p>
            <a:pPr marL="0" indent="0">
              <a:buNone/>
            </a:pPr>
            <a:r>
              <a:rPr sz="2000" b="0">
                <a:latin typeface="Arial"/>
              </a:rPr>
              <a:t>Take a real document, slide deck, or course page. List what is broken. Then put the fixes in order.</a:t>
            </a:r>
          </a:p>
          <a:p>
            <a:pPr marL="0" indent="0">
              <a:buNone/>
            </a:pPr>
            <a:r>
              <a:rPr sz="2800" b="1">
                <a:latin typeface="Arial"/>
              </a:rPr>
              <a:t>Order by who is blocked, not by what is easy.</a:t>
            </a:r>
          </a:p>
          <a:p>
            <a:pPr marL="0" indent="0">
              <a:buNone/>
            </a:pPr>
            <a:r>
              <a:rPr sz="2000" b="0">
                <a:latin typeface="Arial"/>
              </a:rPr>
              <a:t>Then write how you would coach the owner, so the next version starts better.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Back at 3:05</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Break - 10 minutes</a:t>
            </a:r>
          </a:p>
          <a:p>
            <a:pPr marL="0" indent="0">
              <a:buNone/>
            </a:pPr>
            <a:r>
              <a:rPr sz="2000" b="0">
                <a:latin typeface="Arial"/>
              </a:rPr>
              <a:t>The last stretch is the one you take home.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Accessibility Champion Studio</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Studio - 40 minutes - /w/ahg-2026/9</a:t>
            </a:r>
          </a:p>
          <a:p>
            <a:pPr marL="0" indent="0">
              <a:buNone/>
            </a:pPr>
            <a:r>
              <a:rPr sz="2000" b="0">
                <a:latin typeface="Arial"/>
              </a:rPr>
              <a:t>Design one workflow you can hand to someone else.</a:t>
            </a:r>
          </a:p>
          <a:p>
            <a:pPr lvl="1"/>
            <a:r>
              <a:rPr sz="2000" b="0">
                <a:latin typeface="Arial"/>
              </a:rPr>
              <a:t>Who does each step?</a:t>
            </a:r>
          </a:p>
          <a:p>
            <a:pPr lvl="1"/>
            <a:r>
              <a:rPr sz="2000" b="0">
                <a:latin typeface="Arial"/>
              </a:rPr>
              <a:t>Where is the point a person must review before anything goes out?</a:t>
            </a:r>
          </a:p>
          <a:p>
            <a:pPr lvl="1"/>
            <a:r>
              <a:rPr sz="2000" b="0">
                <a:latin typeface="Arial"/>
              </a:rPr>
              <a:t>What does the partner learn by doing it, that they did not know before?</a:t>
            </a:r>
          </a:p>
          <a:p>
            <a:pPr marL="0" indent="0">
              <a:buNone/>
            </a:pPr>
            <a:r>
              <a:rPr sz="2800" b="1">
                <a:latin typeface="Arial"/>
              </a:rPr>
              <a:t>Build the workflow that still works when you are on holiday.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Three sentences for someone else</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Peer review - 10 minutes - gallery</a:t>
            </a:r>
          </a:p>
          <a:p>
            <a:pPr lvl="1">
              <a:buNone/>
            </a:pPr>
            <a:r>
              <a:rPr sz="2000" b="0">
                <a:latin typeface="Arial"/>
              </a:rPr>
              <a:t>1. One thing that is strong.</a:t>
            </a:r>
          </a:p>
          <a:p>
            <a:pPr lvl="1">
              <a:buNone/>
            </a:pPr>
            <a:r>
              <a:rPr sz="2000" b="0">
                <a:latin typeface="Arial"/>
              </a:rPr>
              <a:t>2. One risk or missing safeguard.</a:t>
            </a:r>
          </a:p>
          <a:p>
            <a:pPr lvl="1">
              <a:buNone/>
            </a:pPr>
            <a:r>
              <a:rPr sz="2000" b="0">
                <a:latin typeface="Arial"/>
              </a:rPr>
              <a:t>3. One way it could be reused somewhere else.</a:t>
            </a:r>
          </a:p>
          <a:p>
            <a:pPr marL="0" indent="0">
              <a:buNone/>
            </a:pPr>
            <a:r>
              <a:rPr sz="2000" b="0">
                <a:latin typeface="Arial"/>
              </a:rPr>
              <a:t>Supportive, specific, and short. You are reviewing a workflow, not a 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Say it in four sentences</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Capstone - 15 minutes - /w/ahg-2026/10</a:t>
            </a:r>
          </a:p>
          <a:p>
            <a:pPr marL="0" indent="0">
              <a:buNone/>
            </a:pPr>
            <a:r>
              <a:rPr sz="2000" b="0">
                <a:latin typeface="Arial"/>
              </a:rPr>
              <a:t>What is your workflow? Who does it help? What do they learn?</a:t>
            </a:r>
          </a:p>
          <a:p>
            <a:pPr marL="0" indent="0">
              <a:buNone/>
            </a:pPr>
            <a:r>
              <a:rPr sz="2000" b="0">
                <a:latin typeface="Arial"/>
              </a:rPr>
              <a:t>And how does it keep going after today?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My take-home artifact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Take it with you</a:t>
            </a:r>
          </a:p>
          <a:p>
            <a:pPr marL="0" indent="0">
              <a:buNone/>
            </a:pPr>
            <a:r>
              <a:rPr sz="2000" b="0">
                <a:latin typeface="Arial"/>
              </a:rPr>
              <a:t>One page, assembled from what you wrote today: your workflow, who it helps, the human-review gate in your own words, and your 30-day commitment.</a:t>
            </a:r>
          </a:p>
          <a:p>
            <a:pPr lvl="1"/>
            <a:r>
              <a:rPr sz="2000" b="0">
                <a:latin typeface="Arial"/>
              </a:rPr>
              <a:t>Print it, or download it as a single file that still opens years from now.</a:t>
            </a:r>
          </a:p>
          <a:p>
            <a:pPr lvl="1"/>
            <a:r>
              <a:rPr sz="2000" b="0">
                <a:latin typeface="Arial"/>
              </a:rPr>
              <a:t>Email it to yourself with your agent package and a link back to everything else.</a:t>
            </a:r>
          </a:p>
          <a:p>
            <a:pPr marL="0" indent="0">
              <a:buNone/>
            </a:pPr>
            <a:r>
              <a:rPr sz="2800" b="1">
                <a:latin typeface="Arial"/>
              </a:rPr>
              <a:t>This is the thing you forward to a director on Monday.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How this gets used where you work</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Activity 11 - 10 minutes - /w/ahg-2026/11</a:t>
            </a:r>
          </a:p>
          <a:p>
            <a:pPr lvl="1"/>
            <a:r>
              <a:rPr sz="2000" b="0">
                <a:latin typeface="Arial"/>
              </a:rPr>
              <a:t>One workflow: that you will actually try.</a:t>
            </a:r>
          </a:p>
          <a:p>
            <a:pPr lvl="1"/>
            <a:r>
              <a:rPr sz="2000" b="0">
                <a:latin typeface="Arial"/>
              </a:rPr>
              <a:t>One partner: or team you will try it with.</a:t>
            </a:r>
          </a:p>
          <a:p>
            <a:pPr lvl="1"/>
            <a:r>
              <a:rPr sz="2000" b="0">
                <a:latin typeface="Arial"/>
              </a:rPr>
              <a:t>One safeguard: you will use every single time.</a:t>
            </a:r>
          </a:p>
          <a:p>
            <a:pPr lvl="1"/>
            <a:r>
              <a:rPr sz="2000" b="0">
                <a:latin typeface="Arial"/>
              </a:rPr>
              <a:t>One first step: small enough to do this week.</a:t>
            </a:r>
          </a:p>
          <a:p>
            <a:pPr lvl="1"/>
            <a:r>
              <a:rPr sz="2000" b="0">
                <a:latin typeface="Arial"/>
              </a:rPr>
              <a:t>Who needs to know: or approve it - a manager, a comms lead, an IT policy.</a:t>
            </a:r>
          </a:p>
          <a:p>
            <a:pPr lvl="1"/>
            <a:r>
              <a:rPr sz="2000" b="0">
                <a:latin typeface="Arial"/>
              </a:rPr>
              <a:t>What it looks like if it worked: in one sentence you could say to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The commitment wall</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4:20</a:t>
            </a:r>
          </a:p>
          <a:p>
            <a:pPr marL="0" indent="0">
              <a:buNone/>
            </a:pPr>
            <a:r>
              <a:rPr sz="2000" b="0">
                <a:latin typeface="Arial"/>
              </a:rPr>
              <a:t>Every commitment in this room, on one screen, with no names on it.</a:t>
            </a:r>
          </a:p>
          <a:p>
            <a:pPr marL="0" indent="0">
              <a:buNone/>
            </a:pPr>
            <a:r>
              <a:rPr sz="2000" b="0">
                <a:latin typeface="Arial"/>
              </a:rPr>
              <a:t>A promise made in front of strangers should not carry a name unless the person who made it decides to say it out 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What happens next</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After today</a:t>
            </a:r>
          </a:p>
          <a:p>
            <a:pPr lvl="1"/>
            <a:r>
              <a:rPr sz="2000" b="0">
                <a:latin typeface="Arial"/>
              </a:rPr>
              <a:t>Within 48 hours: a resource packet, and your exports in Markdown, JSON, HTML and Word.</a:t>
            </a:r>
          </a:p>
          <a:p>
            <a:pPr lvl="1"/>
            <a:r>
              <a:rPr sz="2000" b="0">
                <a:latin typeface="Arial"/>
              </a:rPr>
              <a:t>In 30 days: one message quoting your own commitment back to you, with a link to your follow-through log.</a:t>
            </a:r>
          </a:p>
          <a:p>
            <a:pPr lvl="1"/>
            <a:r>
              <a:rPr sz="2000" b="0">
                <a:latin typeface="Arial"/>
              </a:rPr>
              <a:t>Whenever you need it: support@community-access.org. Nobody will chase you, and anybody who writes gets help.</a:t>
            </a:r>
          </a:p>
          <a:p>
            <a:pPr lvl="1"/>
            <a:r>
              <a:rPr sz="2000" b="0">
                <a:latin typeface="Arial"/>
              </a:rPr>
              <a:t>Always: GLOW is free, open source, and built by the community it serves.</a:t>
            </a:r>
          </a:p>
          <a:p>
            <a:pPr marL="0" indent="0">
              <a:buNone/>
            </a:pPr>
            <a:r>
              <a:rPr sz="3200" b="1">
                <a:latin typeface="Arial"/>
              </a:rPr>
              <a:t>letitglow.app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a:lstStyle/>
          <a:p>
            <a:r>
              <a:rPr sz="3600" b="1">
                <a:latin typeface="Arial"/>
              </a:rPr>
              <a:t>Go make one more champion</a:t>
            </a:r>
          </a:p>
        </p:txBody>
      </p:sp>
      <p:sp>
        <p:nvSpPr>
          <p:cNvPr id="3" name="Content Placeholder 2"/>
          <p:cNvSpPr>
            <a:spLocks noGrp="1"/>
          </p:cNvSpPr>
          <p:nvPr>
            <p:ph idx="1"/>
          </p:nvPr>
        </p:nvSpPr>
        <p:spPr>
          <a:xfrm>
            <a:off x="548640" y="1554480"/>
            <a:ext cx="11064240" cy="4937760"/>
          </a:xfrm>
        </p:spPr>
        <p:txBody>
          <a:bodyPr wrap="square"/>
          <a:lstStyle/>
          <a:p>
            <a:pPr marL="0" indent="0">
              <a:buNone/>
            </a:pPr>
            <a:r>
              <a:rPr sz="1800" b="0">
                <a:latin typeface="Arial"/>
              </a:rPr>
              <a:t>Thank you</a:t>
            </a:r>
          </a:p>
          <a:p>
            <a:pPr marL="0" indent="0">
              <a:buNone/>
            </a:pPr>
            <a:r>
              <a:rPr sz="2400" b="0">
                <a:latin typeface="Arial"/>
              </a:rPr>
              <a:t>You came in as the person who fixes things.</a:t>
            </a:r>
          </a:p>
          <a:p>
            <a:pPr marL="0" indent="0">
              <a:buNone/>
            </a:pPr>
            <a:r>
              <a:rPr sz="2800" b="1">
                <a:latin typeface="Arial"/>
              </a:rPr>
              <a:t>You are leaving as the person who makes more people who can.</a:t>
            </a:r>
          </a:p>
          <a:p>
            <a:pPr marL="0" indent="0">
              <a:buNone/>
            </a:pPr>
            <a:r>
              <a:rPr sz="2000" b="0">
                <a:latin typeface="Arial"/>
              </a:rPr>
              <a:t>Before you go: the session evaluation. It shapes next year's conference.</a:t>
            </a:r>
          </a:p>
          <a:p>
            <a:pPr marL="0" indent="0">
              <a:buNone/>
            </a:pPr>
            <a:r>
              <a:rPr sz="2000" b="0">
                <a:latin typeface="Arial"/>
              </a:rPr>
              <a:t>GLOW is a community project of BITS, an affiliate of the American Council of the Blind.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Accessibility Agents in Action</dc:title>
  <dc:subject>A hands-on GLOW workshop for human-centered accessibility workflows</dc:subject>
  <dc:creator>Jeff Bishop - BITS, an affiliate of the American Council of the Blind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