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[Accessing Higher Ground 2026]</a:t>
            </a:r>
          </a:p>
          <a:p/>
          <a:p>
            <a:r>
              <a:t>Do not start with the tool. Start with the room. Ask nothing yet - let people sit down, find power, and settle.</a:t>
            </a:r>
          </a:p>
          <a:p/>
          <a:p>
            <a:r>
              <a:t>Open with the promise on the next slide before anything else. It is the sentence that lets the person with no laptop stay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promise]</a:t>
            </a:r>
          </a:p>
          <a:p/>
          <a:p>
            <a:r>
              <a:t>Say this in the first ten minutes, exactly once, and mean it. Everything later in the day depends on the room believing it.</a:t>
            </a:r>
          </a:p>
          <a:p/>
          <a:p>
            <a:r>
              <a:t>The upload rule matters: free accounts allow roughly two image uploads a day and do not publish the number. An instruction that fails at 1:40 is worse than one nobody followed.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[Housekeeping]</a:t>
            </a:r>
          </a:p>
          <a:p/>
          <a:p>
            <a:r>
              <a:t>Name the exits and the bathrooms, physically pointing. Some people will not ask.</a:t>
            </a:r>
          </a:p>
          <a:p/>
          <a:p>
            <a:r>
              <a:t>If anyone arrived without the worksheet pack, the links are on the workshop home page and work on a phone. We do not hand out paper.</a:t>
            </a:r>
          </a:p>
          <a:p/>
          <a:p>
            <a:r>
              <a:t>Say the last bullet slowly. It sets the tone for whether anyone asks for anything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[Join the room]</a:t>
            </a:r>
          </a:p>
          <a:p/>
          <a:p>
            <a:r>
              <a:t>Read the address out twice, letter by letter, then wait. Do not move on until people are in. The code on this slide is the live one for this session - there is nothing to replace.</a:t>
            </a:r>
          </a:p>
          <a:p/>
          <a:p>
            <a:r>
              <a:t>Signage is printed from the facilitator dashboard: session, then signage.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 this early]</a:t>
            </a:r>
          </a:p>
          <a:p/>
          <a:p>
            <a:r>
              <a:t>Give this twice: once now, once at the 10:10 break, when there is something worth keeping.</a:t>
            </a:r>
          </a:p>
          <a:p/>
          <a:p>
            <a:r>
              <a:t>If Postmark is not configured, the form is replaced by a download prompt. Check before the room fills - it is invisible until you look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[Why we are here]</a:t>
            </a:r>
          </a:p>
          <a:p/>
          <a:p>
            <a:r>
              <a:t>This is the pivot of the whole day. Let it sit. Some people in this room are exhausted by being the only one.</a:t>
            </a:r>
          </a:p>
          <a:p/>
          <a:p>
            <a:r>
              <a:t>Optional: ask for a show of hands on "who is the only accessibility person in your unit" - but only if the room is warm enough. It can land as exposure rather than solidarity.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framework]</a:t>
            </a:r>
          </a:p>
          <a:p/>
          <a:p>
            <a:r>
              <a:t>Map the day onto this once, here, and then stop talking about the acronym. It is scaffolding, not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boundary]</a:t>
            </a:r>
          </a:p>
          <a:p/>
          <a:p>
            <a:r>
              <a:t>This is the slide institutional leadership cares about. It is also the honest one.</a:t>
            </a:r>
          </a:p>
          <a:p/>
          <a:p>
            <a:r>
              <a:t>The generated prompts put the participant's own review step inside the prompt as an instruction, not as a closing remark. Mention that at activity 5,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shape of the day]</a:t>
            </a:r>
          </a:p>
          <a:p/>
          <a:p>
            <a:r>
              <a:t>Thirty seconds. Do not narrate the table; people can read it. Point at the last two rows and say "that is what you take home".</a:t>
            </a:r>
          </a:p>
          <a:p/>
          <a:p>
            <a:r>
              <a:t>This table is generated from the workshop agenda, so it cannot drift from the time each activity page shows a participant.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1 - 20 minutes - /w/ahg-2026/1]</a:t>
            </a:r>
          </a:p>
          <a:p/>
          <a:p>
            <a:r>
              <a:t>No sharing pressure. Writing, then a table conversation if the table wants one.</a:t>
            </a:r>
          </a:p>
          <a:p/>
          <a:p>
            <a:r>
              <a:t>When the first submissions land, point people at the return link. This is the moment they have something to 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2 - 30 minutes - /w/ahg-2026/2]</a:t>
            </a:r>
          </a:p>
          <a:p/>
          <a:p>
            <a:r>
              <a:t>Watch for tool-first answers - "we need a checker". Push back gently: a checker is an answer, not a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3 - 30 minutes - /w/ahg-2026/3]</a:t>
            </a:r>
          </a:p>
          <a:p/>
          <a:p>
            <a:r>
              <a:t>The hard part is tone, not content. Nobody learns from a reply that makes them feel caught.</a:t>
            </a:r>
          </a:p>
          <a:p/>
          <a:p>
            <a:r>
              <a:t>Ask for one volunteer to read theirs aloud. One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[Break - 15 minutes]</a:t>
            </a:r>
          </a:p>
          <a:p/>
          <a:p>
            <a:r>
              <a:t>Project the room pulse during the break. Counts only - it is safe on a screen.</a:t>
            </a:r>
          </a:p>
          <a:p/>
          <a:p>
            <a:r>
              <a:t>Walk the room. The person who has not typed anything is the one to sit with,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4 - 30 minutes - /w/ahg-2026/4]</a:t>
            </a:r>
          </a:p>
          <a:p/>
          <a:p>
            <a:r>
              <a:t>The examples are deliberately arguable. If a table disagrees about which pile something is in, that argument is the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5 - 35 minutes - /w/ahg-2026/5]</a:t>
            </a:r>
          </a:p>
          <a:p/>
          <a:p>
            <a:r>
              <a:t>This is the technical peak of the day and it is still five sentences on a page. Say so.</a:t>
            </a:r>
          </a:p>
          <a:p/>
          <a:p>
            <a:r>
              <a:t>Mention the optional "Run your agent" lab here, once. Lunch or after 4:30. A door, not a corridor.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[Lab 1 - 45 minutes - /w/ahg-2026/6]</a:t>
            </a:r>
          </a:p>
          <a:p/>
          <a:p>
            <a:r>
              <a:t>Four scenarios from four sectors, plus "Surprise me", which is deterministic per person - two people at a table will rarely get the same brief, and you can walk anyone back through what they were given.</a:t>
            </a:r>
          </a:p>
          <a:p/>
          <a:p>
            <a:r>
              <a:t>A real document of their own always beats a scenario. Say it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[Lunch - 12:15-1:15]</a:t>
            </a:r>
          </a:p>
          <a:p/>
          <a:p>
            <a:r>
              <a:t>Check the AI usage panel before you eat. If the room is burning through the budget, you want to know at lunch and not at three o'clock.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[1:15 - Re-entry]</a:t>
            </a:r>
          </a:p>
          <a:p/>
          <a:p>
            <a:r>
              <a:t>Project the facilitator dashboard. Counts only - it never carries anyone's work.</a:t>
            </a:r>
          </a:p>
          <a:p/>
          <a:p>
            <a:r>
              <a:t>Nothing in the afternoon depends on a model answering, so there is no bad news to deliver here. Say that once if the room looks anxious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[Lab 2 - 45 minutes - /w/ahg-2026/7]</a:t>
            </a:r>
          </a:p>
          <a:p/>
          <a:p>
            <a:r>
              <a:t>Nobody uploads anything. Purpose lives in the words around an image, not in the pixels - a lab built on 'upload it and see' teaches the opposite.</a:t>
            </a:r>
          </a:p>
          <a:p/>
          <a:p>
            <a:r>
              <a:t>The descriptions are written to be argued with. One is fluent and confidently wrong; that is the one to spend time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[Lab 2 - the method]</a:t>
            </a:r>
          </a:p>
          <a:p/>
          <a:p>
            <a:r>
              <a:t>If you have one, show a generated description that is fluent and factually wrong. It teaches more than any slide.</a:t>
            </a:r>
          </a:p>
          <a:p/>
          <a:p>
            <a:r>
              <a:t>Decorative images: an empty alt is a decision, and a correct one. Say it explicitly - many people have never been told.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[Lab 3 - 45 minutes - /w/ahg-2026/8]</a:t>
            </a:r>
          </a:p>
          <a:p/>
          <a:p>
            <a:r>
              <a:t>Everyone sorts by effort first. The reorder, once someone says "but this one blocks a student on Monday",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[Break - 10 minutes]</a:t>
            </a:r>
          </a:p>
          <a:p/>
          <a:p>
            <a:r>
              <a:t>Short break on purpose. Protect the last 85 minutes; that is where the artifact comes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[Studio - 40 minutes - /w/ahg-2026/9]</a:t>
            </a:r>
          </a:p>
          <a:p/>
          <a:p>
            <a:r>
              <a:t>Workflows shared to the gallery carry a "Start from this workflow" link. It fills an empty form only; it never writes over someone's own answers. Anonymous submitters stay anonymous in the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[Peer review - 15 minutes - gallery]</a:t>
            </a:r>
          </a:p>
          <a:p/>
          <a:p>
            <a:r>
              <a:t>The gallery announces new work as a count and waits for the reader to press "Show new submissions". Nothing appears underneath anyone mid-read. Say that out loud - it will be noticed in this room, and it should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[Capstone - 15 minutes - /w/ahg-2026/10]</a:t>
            </a:r>
          </a:p>
          <a:p/>
          <a:p>
            <a:r>
              <a:t>Take three or four out loud, from volunteers. Then send everyone to the artifact page - that is the next slide and it needs two full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[Take it with you]</a:t>
            </a:r>
          </a:p>
          <a:p/>
          <a:p>
            <a:r>
              <a:t>Do not rush this. Two minutes each, and it is the highest-value two minutes of the day.</a:t>
            </a:r>
          </a:p>
          <a:p/>
          <a:p>
            <a:r>
              <a:t>The plain text of the artifact is in the email body too, because institutional mail gateways strip attachments.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[Activity 11 - 10 minutes - /w/ahg-2026/11]</a:t>
            </a:r>
          </a:p>
          <a:p/>
          <a:p>
            <a:r>
              <a:t>Small is the point. "Rewrite one email template" beats "audit the LMS".</a:t>
            </a:r>
          </a:p>
          <a:p/>
          <a:p>
            <a:r>
              <a:t>The last two are the additions, and they are the difference between a good intention and something that survives an institution. A workflow nobody approved and nobody measured gets forgotten.</a:t>
            </a:r>
          </a:p>
          <a:p/>
          <a:p>
            <a:r>
              <a:t>Nobody is going to chase them about this. Say so, and say where help is: support@community-access.org.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[4:25]</a:t>
            </a:r>
          </a:p>
          <a:p/>
          <a:p>
            <a:r>
              <a:t>Project it. Read three aloud. Do not comment on them, do not rank them, do not add a moral.</a:t>
            </a:r>
          </a:p>
          <a:p/>
          <a:p>
            <a:r>
              <a:t>Then say thank you and stop. Ending early is a gift.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[After today]</a:t>
            </a:r>
          </a:p>
          <a:p/>
          <a:p>
            <a:r>
              <a:t>Nobody is emailed twice, nobody who did not give an address is on the list, and the nudge is a command a person runs after looking at what is about to go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[Thank you]</a:t>
            </a:r>
          </a:p>
          <a:p/>
          <a:p>
            <a:r>
              <a:t>Last slide. Say it, thank them, and let them go. Do not add a Q and A block here - answer at the tables while people pack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Accessibility Agents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Accessing Higher Ground 2026</a:t>
            </a:r>
          </a:p>
          <a:p>
            <a:pPr/>
            <a:r>
              <a:rPr sz="2400" b="0">
                <a:latin typeface="Arial"/>
              </a:rPr>
              <a:t>A hands-on GLOW workshop for human-centered accessibility workflows</a:t>
            </a:r>
          </a:p>
          <a:p>
            <a:pPr/>
            <a:r>
              <a:rPr sz="2400" b="0">
                <a:latin typeface="Arial"/>
              </a:rPr>
              <a:t>Helping everyone become an accessibility champion.</a:t>
            </a:r>
          </a:p>
          <a:p>
            <a:pPr/>
            <a:r>
              <a:rPr sz="1600" b="0">
                <a:latin typeface="Arial"/>
              </a:rPr>
              <a:t>Jeff Bishop - BITS, an affiliate of the American Council of the Blind - letitglow.app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Two ways, and the first one is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The promise</a:t>
            </a:r>
          </a:p>
          <a:p>
            <a:pPr lvl="1"/>
            <a:r>
              <a:rPr sz="2000" b="0">
                <a:latin typeface="Arial"/>
              </a:rPr>
              <a:t>1. GLOW, in a browser. The whole day. No account, no sign-in, no AI.</a:t>
            </a:r>
          </a:p>
          <a:p>
            <a:pPr lvl="1"/>
            <a:r>
              <a:rPr sz="2000" b="0">
                <a:latin typeface="Arial"/>
              </a:rPr>
              <a:t>2. Plus your own assistant, if you already have one. An upgrade on the same exercise, never a different one.</a:t>
            </a:r>
          </a:p>
          <a:p>
            <a:pPr/>
            <a:r>
              <a:rPr sz="2800" b="1">
                <a:latin typeface="Arial"/>
              </a:rPr>
              <a:t>Nothing today needs an account with anyone.</a:t>
            </a:r>
          </a:p>
          <a:p>
            <a:pPr/>
            <a:r>
              <a:rPr sz="2000" b="0">
                <a:latin typeface="Arial"/>
              </a:rPr>
              <a:t>One rule if you use an assistant: paste the text. Do not upload files - free accounts limit uploads and do not limit 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How today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Housekeeping</a:t>
            </a:r>
          </a:p>
          <a:p>
            <a:pPr lvl="1"/>
            <a:r>
              <a:rPr sz="2000" b="0">
                <a:latin typeface="Arial"/>
              </a:rPr>
              <a:t>8:30 to 4:30. Lunch at 12:15. Breaks at 10:10 and 2:55.</a:t>
            </a:r>
          </a:p>
          <a:p>
            <a:pPr lvl="1"/>
            <a:r>
              <a:rPr sz="2000" b="0">
                <a:latin typeface="Arial"/>
              </a:rPr>
              <a:t>Eleven activities. Nothing is graded, and nothing is collected without you choosing to share it.</a:t>
            </a:r>
          </a:p>
          <a:p>
            <a:pPr lvl="1"/>
            <a:r>
              <a:rPr sz="2000" b="0">
                <a:latin typeface="Arial"/>
              </a:rPr>
              <a:t>You need a device - a phone is fine. The worksheet pack was published before today if you would rather work from your own printout.</a:t>
            </a:r>
          </a:p>
          <a:p>
            <a:pPr lvl="1"/>
            <a:r>
              <a:rPr sz="2000" b="0">
                <a:latin typeface="Arial"/>
              </a:rPr>
              <a:t>Everything you write is yours, and you leave with all of it.</a:t>
            </a:r>
          </a:p>
          <a:p>
            <a:pPr lvl="1"/>
            <a:r>
              <a:rPr sz="2000" b="0">
                <a:latin typeface="Arial"/>
              </a:rPr>
              <a:t>Ask for anything you need at any time - large print, a different seat, a pause, a repeat. That is not an interruption of this workshop. It is this workshop.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One address, all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Join the room</a:t>
            </a:r>
          </a:p>
          <a:p>
            <a:pPr/>
            <a:r>
              <a:rPr sz="3200" b="1">
                <a:latin typeface="Arial"/>
              </a:rPr>
              <a:t>letitglow.app/w/ahg-2026</a:t>
            </a:r>
          </a:p>
          <a:p>
            <a:pPr/>
            <a:r>
              <a:rPr sz="2000" b="0">
                <a:latin typeface="Arial"/>
              </a:rPr>
              <a:t>The same address is on the card at every table, in large type, with a QR code beside it.</a:t>
            </a:r>
          </a:p>
          <a:p>
            <a:pPr/>
            <a:r>
              <a:rPr sz="2000" b="0">
                <a:latin typeface="Arial"/>
              </a:rPr>
              <a:t>Each activity has its own short address: slash 1, slash 2, and so on, numbered the way I will say them out loud.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So you never lose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Do this early</a:t>
            </a:r>
          </a:p>
          <a:p>
            <a:pPr/>
            <a:r>
              <a:rPr sz="2000" b="0">
                <a:latin typeface="Arial"/>
              </a:rPr>
              <a:t>Your work is held against this browser on this device. Switch to a phone, or clear your cookies, and it is gone.</a:t>
            </a:r>
          </a:p>
          <a:p>
            <a:pPr/>
            <a:r>
              <a:rPr sz="2000" b="0">
                <a:latin typeface="Arial"/>
              </a:rPr>
              <a:t>On My workshop content, under Work on another device, give an email address and you will be sent a link that restores everything, anywhere.</a:t>
            </a:r>
          </a:p>
          <a:p>
            <a:pPr lvl="1"/>
            <a:r>
              <a:rPr sz="2000" b="0">
                <a:latin typeface="Arial"/>
              </a:rPr>
              <a:t>Entirely optional. The day works without it.</a:t>
            </a:r>
          </a:p>
          <a:p>
            <a:pPr lvl="1"/>
            <a:r>
              <a:rPr sz="2000" b="0">
                <a:latin typeface="Arial"/>
              </a:rPr>
              <a:t>The address is used for that one message and never appears anywhere else.</a:t>
            </a:r>
          </a:p>
          <a:p>
            <a:pPr lvl="1"/>
            <a:r>
              <a:rPr sz="2000" b="0">
                <a:latin typeface="Arial"/>
              </a:rPr>
              <a:t>The link lasts 45 days, which outlives your 30-day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Accessibility does not scale by fixing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Why we are here</a:t>
            </a:r>
          </a:p>
          <a:p>
            <a:pPr/>
            <a:r>
              <a:rPr sz="2000" b="0">
                <a:latin typeface="Arial"/>
              </a:rPr>
              <a:t>If you are the person who fixes everything, then accessibility in your institution is exactly as large as your calendar.</a:t>
            </a:r>
          </a:p>
          <a:p>
            <a:pPr/>
            <a:r>
              <a:rPr sz="2800" b="1">
                <a:latin typeface="Arial"/>
              </a:rPr>
              <a:t>The work is not fixing documents. The work is making more people who 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G L O 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The framework</a:t>
            </a:r>
          </a:p>
          <a:p>
            <a:pPr lvl="1"/>
            <a:r>
              <a:rPr sz="2000" b="0">
                <a:latin typeface="Arial"/>
              </a:rPr>
              <a:t>G - Ground: Ground the work in a real accessibility problem, not a tool.</a:t>
            </a:r>
          </a:p>
          <a:p>
            <a:pPr lvl="1"/>
            <a:r>
              <a:rPr sz="2000" b="0">
                <a:latin typeface="Arial"/>
              </a:rPr>
              <a:t>L - Learn: Learn what the people around you actually need to understand.</a:t>
            </a:r>
          </a:p>
          <a:p>
            <a:pPr lvl="1"/>
            <a:r>
              <a:rPr sz="2000" b="0">
                <a:latin typeface="Arial"/>
              </a:rPr>
              <a:t>O - Organize: Organize it into a workflow that repeats without you.</a:t>
            </a:r>
          </a:p>
          <a:p>
            <a:pPr lvl="1"/>
            <a:r>
              <a:rPr sz="2000" b="0">
                <a:latin typeface="Arial"/>
              </a:rPr>
              <a:t>W - Walk: Walk forward as champions, plural.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AI drafts. People decide.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The boundary</a:t>
            </a:r>
          </a:p>
          <a:p>
            <a:pPr/>
            <a:r>
              <a:rPr sz="2000" b="0">
                <a:latin typeface="Arial"/>
              </a:rPr>
              <a:t>Every activity today has a human-review step that you write yourself, in your own words, for your own context.</a:t>
            </a:r>
          </a:p>
          <a:p>
            <a:pPr/>
            <a:r>
              <a:rPr sz="2000" b="0">
                <a:latin typeface="Arial"/>
              </a:rPr>
              <a:t>Not because AI is dangerous in the abstract - because purpose, meaning, context and harm are judgments, and judgments have owners.</a:t>
            </a:r>
          </a:p>
          <a:p>
            <a:pPr/>
            <a:r>
              <a:rPr sz="2800" b="1">
                <a:latin typeface="Arial"/>
              </a:rPr>
              <a:t>If nobody is named, nobody reviewed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Arial"/>
              </a:rPr>
              <a:t>The shape of the day Today, by the clock. Breaks and lunch included, so nobody has to ask.</a:t>
            </a:r>
          </a:p>
        </p:txBody>
      </p:sp>
      <p:graphicFrame>
        <p:nvGraphicFramePr>
          <p:cNvPr id="4" name="Table 3" descr="Today, by the clock. Breaks and lunch included, so nobody has to ask."/>
          <p:cNvGraphicFramePr>
            <a:graphicFrameLocks noGrp="1"/>
          </p:cNvGraphicFramePr>
          <p:nvPr/>
        </p:nvGraphicFramePr>
        <p:xfrm>
          <a:off x="548640" y="22860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221381">
                <a:tc>
                  <a:txBody>
                    <a:bodyPr/>
                    <a:lstStyle/>
                    <a:p>
                      <a:r>
                        <a:rPr sz="1400" b="1">
                          <a:latin typeface="Arial"/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Arial"/>
                        </a:rPr>
                        <a:t>What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8:30-8:50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Welcome and how the day works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8:50-9:10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Accessibility Journey Check-In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9:10-9:40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What Problem Are We Solving?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9:40-10:10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Fix It for Me vs Teach Me to Improve It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10:10-10:25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Break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10:25-10:55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Helpful, Risky, or Human Required?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10:55-11:30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Accessibility Agent Formula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11:30-12:15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GLOW Lab 1: Accessible Communications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12:15-1:15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Lunch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1:15-1:25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Re-entry and room pulse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1:25-2:10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GLOW Lab 2: Alt Text and Human Judgment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2:10-2:55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GLOW Lab 3: Remediation Planning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2:55-3:05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Break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3:05-3:45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Accessibility Champion Studio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3:45-4:00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Peer review round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4:00-4:15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Capstone Share-Out</a:t>
                      </a:r>
                    </a:p>
                  </a:txBody>
                  <a:tcPr/>
                </a:tc>
              </a:tr>
              <a:tr h="221381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4:15-4:25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30-Day Action Plan</a:t>
                      </a:r>
                    </a:p>
                  </a:txBody>
                  <a:tcPr/>
                </a:tc>
              </a:tr>
              <a:tr h="221382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4:25-4:30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The commitment wall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Accessibility Journey Check-In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Activity 1 - 20 minutes - /w/ahg-2026/1</a:t>
            </a:r>
          </a:p>
          <a:p>
            <a:pPr/>
            <a:r>
              <a:rPr sz="2000" b="0">
                <a:latin typeface="Arial"/>
              </a:rPr>
              <a:t>What accessibility work do you actually do? Where do your partners get stuck - the same place, over and over?</a:t>
            </a:r>
          </a:p>
          <a:p>
            <a:pPr/>
            <a:r>
              <a:rPr sz="2000" b="0">
                <a:latin typeface="Arial"/>
              </a:rPr>
              <a:t>What would change if more of them became champions?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What problem are we solving?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Activity 2 - 30 minutes - /w/ahg-2026/2</a:t>
            </a:r>
          </a:p>
          <a:p>
            <a:pPr/>
            <a:r>
              <a:rPr sz="2000" b="0">
                <a:latin typeface="Arial"/>
              </a:rPr>
              <a:t>Start with the problem you can see today.</a:t>
            </a:r>
          </a:p>
          <a:p>
            <a:pPr/>
            <a:r>
              <a:rPr sz="2000" b="0">
                <a:latin typeface="Arial"/>
              </a:rPr>
              <a:t>Then name the deeper one behind it. Who needs to learn this work, or own part of it?</a:t>
            </a:r>
          </a:p>
          <a:p>
            <a:pPr/>
            <a:r>
              <a:rPr sz="2800" b="1">
                <a:latin typeface="Arial"/>
              </a:rPr>
              <a:t>What does success look like if it happens again and again, without you?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Fix it for me, or teach 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Activity 3 - 30 minutes - /w/ahg-2026/3</a:t>
            </a:r>
          </a:p>
          <a:p>
            <a:pPr/>
            <a:r>
              <a:rPr sz="2000" b="0">
                <a:latin typeface="Arial"/>
              </a:rPr>
              <a:t>Take a real request that said "just fix it for me."</a:t>
            </a:r>
          </a:p>
          <a:p>
            <a:pPr/>
            <a:r>
              <a:rPr sz="2000" b="0">
                <a:latin typeface="Arial"/>
              </a:rPr>
              <a:t>Write the reply that does both: solves it today, and teaches it for next time.</a:t>
            </a:r>
          </a:p>
          <a:p>
            <a:pPr lvl="1"/>
            <a:r>
              <a:rPr sz="2000" b="0">
                <a:latin typeface="Arial"/>
              </a:rPr>
              <a:t>The pattern: I have done X for you. Here is the one thing that caused it. Next time, do Y - it takes about a minute, and here is where it lives.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Back at 10:25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Break - 15 minutes</a:t>
            </a:r>
          </a:p>
          <a:p>
            <a:pPr/>
            <a:r>
              <a:rPr sz="2000" b="0">
                <a:latin typeface="Arial"/>
              </a:rPr>
              <a:t>If you have not sent yourself a return link yet, now is the moment. My workshop content, then Work on another device.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Helpful, risky, or human required?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Arial"/>
              </a:rPr>
              <a:t>Activity 4 - 30 minutes - /w/ahg-2026/4 Sort your own tasks into three piles. Then write the safeguard that makes the middle pile safe. The three piles</a:t>
            </a:r>
          </a:p>
        </p:txBody>
      </p:sp>
      <p:graphicFrame>
        <p:nvGraphicFramePr>
          <p:cNvPr id="4" name="Table 3" descr="The three piles"/>
          <p:cNvGraphicFramePr>
            <a:graphicFrameLocks noGrp="1"/>
          </p:cNvGraphicFramePr>
          <p:nvPr/>
        </p:nvGraphicFramePr>
        <p:xfrm>
          <a:off x="548640" y="2286000"/>
          <a:ext cx="11064240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1188">
                <a:tc>
                  <a:txBody>
                    <a:bodyPr/>
                    <a:lstStyle/>
                    <a:p>
                      <a:r>
                        <a:rPr sz="1400" b="1">
                          <a:latin typeface="Arial"/>
                        </a:rPr>
                        <a:t>Pile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Arial"/>
                        </a:rPr>
                        <a:t>Example</a:t>
                      </a:r>
                    </a:p>
                  </a:txBody>
                  <a:tcPr/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Helpful for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Drafting alt text for a chart you wrote</a:t>
                      </a:r>
                    </a:p>
                  </a:txBody>
                  <a:tcPr/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Risky without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Summarising a policy document</a:t>
                      </a:r>
                    </a:p>
                  </a:txBody>
                  <a:tcPr/>
                </a:tc>
              </a:tr>
              <a:tr h="361188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Human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Deciding what an image is for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The Accessibility Agent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Activity 5 - 35 minutes - /w/ahg-2026/5</a:t>
            </a:r>
          </a:p>
          <a:p>
            <a:pPr lvl="1"/>
            <a:r>
              <a:rPr sz="2000" b="0">
                <a:latin typeface="Arial"/>
              </a:rPr>
              <a:t>Role: Who is it being, and for whom?</a:t>
            </a:r>
          </a:p>
          <a:p>
            <a:pPr lvl="1"/>
            <a:r>
              <a:rPr sz="2000" b="0">
                <a:latin typeface="Arial"/>
              </a:rPr>
              <a:t>Task: One job, said plainly.</a:t>
            </a:r>
          </a:p>
          <a:p>
            <a:pPr lvl="1"/>
            <a:r>
              <a:rPr sz="2000" b="0">
                <a:latin typeface="Arial"/>
              </a:rPr>
              <a:t>Trusted guidance: Whose rules - WCAG, ACB large print, your own style guide?</a:t>
            </a:r>
          </a:p>
          <a:p>
            <a:pPr lvl="1"/>
            <a:r>
              <a:rPr sz="2000" b="0">
                <a:latin typeface="Arial"/>
              </a:rPr>
              <a:t>Output format: What comes back, in what shape, so a person can use it?</a:t>
            </a:r>
          </a:p>
          <a:p>
            <a:pPr lvl="1"/>
            <a:r>
              <a:rPr sz="2000" b="0">
                <a:latin typeface="Arial"/>
              </a:rPr>
              <a:t>Human review: Who checks what, before it goes out?</a:t>
            </a:r>
          </a:p>
          <a:p>
            <a:pPr/>
            <a:r>
              <a:rPr sz="2000" b="0">
                <a:latin typeface="Arial"/>
              </a:rPr>
              <a:t>You are not writing code. You are writing instructions for a colleague who is fast, literal, and has never met your institution.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GLOW Lab 1: Accessible 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Lab 1 - 45 minutes - /w/ahg-2026/6</a:t>
            </a:r>
          </a:p>
          <a:p>
            <a:pPr/>
            <a:r>
              <a:rPr sz="2000" b="0">
                <a:latin typeface="Arial"/>
              </a:rPr>
              <a:t>Rewrite a real message so more people can read it.</a:t>
            </a:r>
          </a:p>
          <a:p>
            <a:pPr lvl="1"/>
            <a:r>
              <a:rPr sz="2000" b="0">
                <a:latin typeface="Arial"/>
              </a:rPr>
              <a:t>Plain words, short sentences.</a:t>
            </a:r>
          </a:p>
          <a:p>
            <a:pPr lvl="1"/>
            <a:r>
              <a:rPr sz="2000" b="0">
                <a:latin typeface="Arial"/>
              </a:rPr>
              <a:t>Real headings, not bold text pretending to be headings.</a:t>
            </a:r>
          </a:p>
          <a:p>
            <a:pPr lvl="1"/>
            <a:r>
              <a:rPr sz="2000" b="0">
                <a:latin typeface="Arial"/>
              </a:rPr>
              <a:t>Links that say where they go.</a:t>
            </a:r>
          </a:p>
          <a:p>
            <a:pPr lvl="1"/>
            <a:r>
              <a:rPr sz="2000" b="0">
                <a:latin typeface="Arial"/>
              </a:rPr>
              <a:t>Words that welcome an access request instead of burying it.</a:t>
            </a:r>
          </a:p>
          <a:p>
            <a:pPr/>
            <a:r>
              <a:rPr sz="2000" b="0">
                <a:latin typeface="Arial"/>
              </a:rPr>
              <a:t>Bring your own message if you have one. The scenarios are a net, not a rail.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Back at 1:15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Lunch - 12:15-1:15</a:t>
            </a:r>
          </a:p>
          <a:p>
            <a:pPr/>
            <a:r>
              <a:rPr sz="2000" b="0">
                <a:latin typeface="Arial"/>
              </a:rPr>
              <a:t>Nothing is due. Nothing is graded.</a:t>
            </a:r>
          </a:p>
          <a:p>
            <a:pPr/>
            <a:r>
              <a:rPr sz="2000" b="0">
                <a:latin typeface="Arial"/>
              </a:rPr>
              <a:t>If you want more: the optional Run Your Agent lab is open, and it is genuinely optional.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Where the room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1:15 - Re-entry</a:t>
            </a:r>
          </a:p>
          <a:p>
            <a:pPr/>
            <a:r>
              <a:rPr sz="2000" b="0">
                <a:latin typeface="Arial"/>
              </a:rPr>
              <a:t>Here is what the room has finished so far. No names, just counts.</a:t>
            </a:r>
          </a:p>
          <a:p>
            <a:pPr/>
            <a:r>
              <a:rPr sz="2800" b="1">
                <a:latin typeface="Arial"/>
              </a:rPr>
              <a:t>Nobody is behind. There is no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GLOW Lab 2: Alt Text and Human Judgment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Lab 2 - 45 minutes - /w/ahg-2026/7</a:t>
            </a:r>
          </a:p>
          <a:p>
            <a:pPr/>
            <a:r>
              <a:rPr sz="2000" b="0">
                <a:latin typeface="Arial"/>
              </a:rPr>
              <a:t>A machine can tell you what is in the picture.</a:t>
            </a:r>
          </a:p>
          <a:p>
            <a:pPr/>
            <a:r>
              <a:rPr sz="2800" b="1">
                <a:latin typeface="Arial"/>
              </a:rPr>
              <a:t>Only you can say what the picture is for.</a:t>
            </a:r>
          </a:p>
          <a:p>
            <a:pPr/>
            <a:r>
              <a:rPr sz="2000" b="0">
                <a:latin typeface="Arial"/>
              </a:rPr>
              <a:t>So this lab gives you the context in words, and descriptions somebody already wrote. Your job is to judge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Four questions, in this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Lab 2 - the method</a:t>
            </a:r>
          </a:p>
          <a:p>
            <a:pPr lvl="1"/>
            <a:r>
              <a:rPr sz="2000" b="0">
                <a:latin typeface="Arial"/>
              </a:rPr>
              <a:t>1. Why is this image here? If you cannot answer, it may not need to be.</a:t>
            </a:r>
          </a:p>
          <a:p>
            <a:pPr lvl="1"/>
            <a:r>
              <a:rPr sz="2000" b="0">
                <a:latin typeface="Arial"/>
              </a:rPr>
              <a:t>2. What must a reader know about it to follow the page?</a:t>
            </a:r>
          </a:p>
          <a:p>
            <a:pPr lvl="1"/>
            <a:r>
              <a:rPr sz="2000" b="0">
                <a:latin typeface="Arial"/>
              </a:rPr>
              <a:t>3. What can you leave out? Alt text is not an inventory.</a:t>
            </a:r>
          </a:p>
          <a:p>
            <a:pPr lvl="1"/>
            <a:r>
              <a:rPr sz="2000" b="0">
                <a:latin typeface="Arial"/>
              </a:rPr>
              <a:t>4. What must a person verify before this goes live?</a:t>
            </a:r>
          </a:p>
          <a:p>
            <a:pPr/>
            <a:r>
              <a:rPr sz="2000" b="0">
                <a:latin typeface="Arial"/>
              </a:rPr>
              <a:t>Generated descriptions are confident and sometimes wrong. Question four is the whole job.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GLOW Lab 3: Remediation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Lab 3 - 45 minutes - /w/ahg-2026/8</a:t>
            </a:r>
          </a:p>
          <a:p>
            <a:pPr/>
            <a:r>
              <a:rPr sz="2000" b="0">
                <a:latin typeface="Arial"/>
              </a:rPr>
              <a:t>Take a real document, slide deck, or course page. List what is broken. Then put the fixes in order.</a:t>
            </a:r>
          </a:p>
          <a:p>
            <a:pPr/>
            <a:r>
              <a:rPr sz="2800" b="1">
                <a:latin typeface="Arial"/>
              </a:rPr>
              <a:t>Order by who is blocked, not by what is easy.</a:t>
            </a:r>
          </a:p>
          <a:p>
            <a:pPr/>
            <a:r>
              <a:rPr sz="2000" b="0">
                <a:latin typeface="Arial"/>
              </a:rPr>
              <a:t>Then write how you would coach the owner, so the next version starts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Back at 3:05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Break - 10 minutes</a:t>
            </a:r>
          </a:p>
          <a:p>
            <a:pPr/>
            <a:r>
              <a:rPr sz="2000" b="0">
                <a:latin typeface="Arial"/>
              </a:rPr>
              <a:t>The last stretch is the one you take home.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Accessibility Champion 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Studio - 40 minutes - /w/ahg-2026/9</a:t>
            </a:r>
          </a:p>
          <a:p>
            <a:pPr/>
            <a:r>
              <a:rPr sz="2000" b="0">
                <a:latin typeface="Arial"/>
              </a:rPr>
              <a:t>Design one workflow you can hand to someone else.</a:t>
            </a:r>
          </a:p>
          <a:p>
            <a:pPr lvl="1"/>
            <a:r>
              <a:rPr sz="2000" b="0">
                <a:latin typeface="Arial"/>
              </a:rPr>
              <a:t>Who does each step?</a:t>
            </a:r>
          </a:p>
          <a:p>
            <a:pPr lvl="1"/>
            <a:r>
              <a:rPr sz="2000" b="0">
                <a:latin typeface="Arial"/>
              </a:rPr>
              <a:t>Where is the point a person must review before anything goes out?</a:t>
            </a:r>
          </a:p>
          <a:p>
            <a:pPr lvl="1"/>
            <a:r>
              <a:rPr sz="2000" b="0">
                <a:latin typeface="Arial"/>
              </a:rPr>
              <a:t>What does the partner learn by doing it, that they did not know before?</a:t>
            </a:r>
          </a:p>
          <a:p>
            <a:pPr/>
            <a:r>
              <a:rPr sz="2800" b="1">
                <a:latin typeface="Arial"/>
              </a:rPr>
              <a:t>Build the workflow that still works when you are on holiday.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Three sentences for someone 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Peer review - 15 minutes - gallery</a:t>
            </a:r>
          </a:p>
          <a:p>
            <a:pPr lvl="1"/>
            <a:r>
              <a:rPr sz="2000" b="0">
                <a:latin typeface="Arial"/>
              </a:rPr>
              <a:t>1. One thing that is strong.</a:t>
            </a:r>
          </a:p>
          <a:p>
            <a:pPr lvl="1"/>
            <a:r>
              <a:rPr sz="2000" b="0">
                <a:latin typeface="Arial"/>
              </a:rPr>
              <a:t>2. One risk or missing safeguard.</a:t>
            </a:r>
          </a:p>
          <a:p>
            <a:pPr lvl="1"/>
            <a:r>
              <a:rPr sz="2000" b="0">
                <a:latin typeface="Arial"/>
              </a:rPr>
              <a:t>3. One way it could be reused somewhere else.</a:t>
            </a:r>
          </a:p>
          <a:p>
            <a:pPr/>
            <a:r>
              <a:rPr sz="2000" b="0">
                <a:latin typeface="Arial"/>
              </a:rPr>
              <a:t>Supportive, specific, and short. You are reviewing a workflow, not a person.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Say it in four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Capstone - 15 minutes - /w/ahg-2026/10</a:t>
            </a:r>
          </a:p>
          <a:p>
            <a:pPr/>
            <a:r>
              <a:rPr sz="2000" b="0">
                <a:latin typeface="Arial"/>
              </a:rPr>
              <a:t>What is your workflow? Who does it help? What do they learn?</a:t>
            </a:r>
          </a:p>
          <a:p>
            <a:pPr/>
            <a:r>
              <a:rPr sz="2000" b="0">
                <a:latin typeface="Arial"/>
              </a:rPr>
              <a:t>And how does it keep going after today?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My take-home artifact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Take it with you</a:t>
            </a:r>
          </a:p>
          <a:p>
            <a:pPr/>
            <a:r>
              <a:rPr sz="2000" b="0">
                <a:latin typeface="Arial"/>
              </a:rPr>
              <a:t>One page, assembled from what you wrote today: your workflow, who it helps, the human-review gate in your own words, and your 30-day commitment.</a:t>
            </a:r>
          </a:p>
          <a:p>
            <a:pPr lvl="1"/>
            <a:r>
              <a:rPr sz="2000" b="0">
                <a:latin typeface="Arial"/>
              </a:rPr>
              <a:t>Print it, or download it as a single file that still opens years from now.</a:t>
            </a:r>
          </a:p>
          <a:p>
            <a:pPr lvl="1"/>
            <a:r>
              <a:rPr sz="2000" b="0">
                <a:latin typeface="Arial"/>
              </a:rPr>
              <a:t>Email it to yourself with your agent package and a link back to everything else.</a:t>
            </a:r>
          </a:p>
          <a:p>
            <a:pPr/>
            <a:r>
              <a:rPr sz="2800" b="1">
                <a:latin typeface="Arial"/>
              </a:rPr>
              <a:t>This is the thing you forward to a director on Monday.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How this gets used where you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Activity 11 - 10 minutes - /w/ahg-2026/11</a:t>
            </a:r>
          </a:p>
          <a:p>
            <a:pPr lvl="1"/>
            <a:r>
              <a:rPr sz="2000" b="0">
                <a:latin typeface="Arial"/>
              </a:rPr>
              <a:t>One workflow: that you will actually try.</a:t>
            </a:r>
          </a:p>
          <a:p>
            <a:pPr lvl="1"/>
            <a:r>
              <a:rPr sz="2000" b="0">
                <a:latin typeface="Arial"/>
              </a:rPr>
              <a:t>One partner: or team you will try it with.</a:t>
            </a:r>
          </a:p>
          <a:p>
            <a:pPr lvl="1"/>
            <a:r>
              <a:rPr sz="2000" b="0">
                <a:latin typeface="Arial"/>
              </a:rPr>
              <a:t>One safeguard: you will use every single time.</a:t>
            </a:r>
          </a:p>
          <a:p>
            <a:pPr lvl="1"/>
            <a:r>
              <a:rPr sz="2000" b="0">
                <a:latin typeface="Arial"/>
              </a:rPr>
              <a:t>One first step: small enough to do this week.</a:t>
            </a:r>
          </a:p>
          <a:p>
            <a:pPr lvl="1"/>
            <a:r>
              <a:rPr sz="2000" b="0">
                <a:latin typeface="Arial"/>
              </a:rPr>
              <a:t>Who needs to know: or approve it - a manager, a comms lead, an IT policy.</a:t>
            </a:r>
          </a:p>
          <a:p>
            <a:pPr lvl="1"/>
            <a:r>
              <a:rPr sz="2000" b="0">
                <a:latin typeface="Arial"/>
              </a:rPr>
              <a:t>What it looks like if it worked: in one sentence you could say to them.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The commitment wall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4:25</a:t>
            </a:r>
          </a:p>
          <a:p>
            <a:pPr/>
            <a:r>
              <a:rPr sz="2000" b="0">
                <a:latin typeface="Arial"/>
              </a:rPr>
              <a:t>Every commitment in this room, on one screen, with no names on it.</a:t>
            </a:r>
          </a:p>
          <a:p>
            <a:pPr/>
            <a:r>
              <a:rPr sz="2000" b="0">
                <a:latin typeface="Arial"/>
              </a:rPr>
              <a:t>A promise made in front of strangers should not carry a name unless the person who made it decides to say it out loud.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What happens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After today</a:t>
            </a:r>
          </a:p>
          <a:p>
            <a:pPr lvl="1"/>
            <a:r>
              <a:rPr sz="2000" b="0">
                <a:latin typeface="Arial"/>
              </a:rPr>
              <a:t>Within 48 hours: a resource packet, and your exports in Markdown, JSON, HTML and Word.</a:t>
            </a:r>
          </a:p>
          <a:p>
            <a:pPr lvl="1"/>
            <a:r>
              <a:rPr sz="2000" b="0">
                <a:latin typeface="Arial"/>
              </a:rPr>
              <a:t>In 30 days: one message quoting your own commitment back to you, with a link to your follow-through log.</a:t>
            </a:r>
          </a:p>
          <a:p>
            <a:pPr lvl="1"/>
            <a:r>
              <a:rPr sz="2000" b="0">
                <a:latin typeface="Arial"/>
              </a:rPr>
              <a:t>Whenever you need it: support@community-access.org. Nobody will chase you, and anybody who writes gets help.</a:t>
            </a:r>
          </a:p>
          <a:p>
            <a:pPr lvl="1"/>
            <a:r>
              <a:rPr sz="2000" b="0">
                <a:latin typeface="Arial"/>
              </a:rPr>
              <a:t>Always: GLOW is free, open source, and built by the community it serves.</a:t>
            </a:r>
          </a:p>
          <a:p>
            <a:pPr/>
            <a:r>
              <a:rPr sz="3200" b="1">
                <a:latin typeface="Arial"/>
              </a:rPr>
              <a:t>letitglow.app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Arial"/>
              </a:rPr>
              <a:t>Go make one more champion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 b="0">
                <a:latin typeface="Arial"/>
              </a:rPr>
              <a:t>Thank you</a:t>
            </a:r>
          </a:p>
          <a:p>
            <a:pPr/>
            <a:r>
              <a:rPr sz="2400" b="0">
                <a:latin typeface="Arial"/>
              </a:rPr>
              <a:t>You came in as the person who fixes things.</a:t>
            </a:r>
          </a:p>
          <a:p>
            <a:pPr/>
            <a:r>
              <a:rPr sz="2800" b="1">
                <a:latin typeface="Arial"/>
              </a:rPr>
              <a:t>You are leaving as the person who makes more people who can.</a:t>
            </a:r>
          </a:p>
          <a:p>
            <a:pPr/>
            <a:r>
              <a:rPr sz="1600" b="0">
                <a:latin typeface="Arial"/>
              </a:rPr>
              <a:t>GLOW is a community project of BITS, an affiliate of the American Council of the Blind.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Accessibility Agents in Action</dc:title>
  <dc:subject>A hands-on GLOW workshop for human-centered accessibility workflows</dc:subject>
  <dc:creator>Jeff Bishop - BITS, an affiliate of the American Council of the Blind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